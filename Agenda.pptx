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141B47"/>
          </a:solidFill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149840" y="4937760"/>
            <a:ext cx="2377440" cy="2377440"/>
          </a:xfrm>
          <a:prstGeom prst="ellipse">
            <a:avLst/>
          </a:prstGeom>
          <a:solidFill>
            <a:srgbClr val="F2A93B">
              <a:alpha val="15000"/>
            </a:srgbClr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40080" y="19659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 spc="3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Modern Enterprise Software Engineering</a:t>
            </a:r>
            <a:endParaRPr sz="1500" b="1" kern="0" spc="3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Agenda</a:t>
            </a:r>
            <a:endParaRPr sz="4400" b="1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this course is (or not) about</a:t>
            </a:r>
            <a:endParaRPr sz="220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>
                <a:solidFill>
                  <a:srgbClr val="AAB2D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Modern Enterprise Software Engineering  |  ÉSTIAM  |  Day 1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Syllabus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we'll se</a:t>
            </a:r>
            <a:r>
              <a:rPr sz="32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 </a:t>
            </a:r>
            <a:endParaRPr sz="32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94360" y="1810512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594360" y="18105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143000" y="1764792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/>
              <a:t>Develop Azure computing solutions</a:t>
            </a:r>
            <a:r>
              <a:rPr sz="1600"/>
              <a:t> (Containerized solutions, App Services, Azure Functions)</a:t>
            </a:r>
            <a:endParaRPr sz="16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594360" y="2468880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594360" y="24688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143000" y="242316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/>
              <a:t>Develop for Azure Storage</a:t>
            </a:r>
            <a:r>
              <a:rPr sz="1600"/>
              <a:t>  (Azure Cosmos DB, Azure Blob Storage)</a:t>
            </a:r>
            <a:endParaRPr sz="16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594360" y="3127248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594360" y="31272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143000" y="3081528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/>
              <a:t>Implement Azure Security</a:t>
            </a:r>
            <a:r>
              <a:rPr sz="1600"/>
              <a:t> (User AuthN and User AuthZ, Secure Azure Solutions)</a:t>
            </a:r>
            <a:endParaRPr sz="16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594360" y="3785616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594360" y="3785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1143000" y="3739896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/>
              <a:t>Monitor, troubleshoot and optimize Azure solutions</a:t>
            </a:r>
            <a:r>
              <a:rPr sz="1600"/>
              <a:t> (Caching and Application Insights)</a:t>
            </a:r>
            <a:endParaRPr sz="16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94360" y="4443984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594360" y="44439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143000" y="4398264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/>
              <a:t>Connect and consume Azure services and third-party services</a:t>
            </a:r>
            <a:r>
              <a:rPr sz="1600"/>
              <a:t> (API Management, Events, Message)</a:t>
            </a:r>
            <a:endParaRPr sz="160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594360" y="5102352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594360" y="51023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140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143000" y="5056632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/>
              <a:t>ChatGPT Prompt Engineering</a:t>
            </a:r>
            <a:r>
              <a:rPr sz="1600"/>
              <a:t> (LLM, Prompting, Chatbot)</a:t>
            </a:r>
            <a:endParaRPr sz="16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>
                <a:solidFill>
                  <a:srgbClr val="6B7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Modern Enterprise Software Engineering  |  ÉSTIAM  |  Day 1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Syllabus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we</a:t>
            </a:r>
            <a:r>
              <a:rPr sz="32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won’t</a:t>
            </a:r>
            <a:r>
              <a:rPr sz="32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se</a:t>
            </a:r>
            <a:r>
              <a:rPr sz="32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 </a:t>
            </a:r>
            <a:endParaRPr sz="32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94360" y="1810512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594360" y="18105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143000" y="1764792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/>
              <a:t>Programming Techniques</a:t>
            </a:r>
            <a:endParaRPr sz="16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594360" y="2468880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594360" y="24688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143000" y="242316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/>
              <a:t>Docker / Kubernets in-depth</a:t>
            </a:r>
            <a:endParaRPr sz="16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594360" y="3127248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594360" y="31272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143000" y="3081528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/>
              <a:t>End User AuthN / AuthZ</a:t>
            </a:r>
            <a:endParaRPr sz="16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594360" y="3785616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594360" y="3785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1143000" y="3739896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/>
              <a:t>C#, ASP.net, dotnet, in-depth</a:t>
            </a:r>
            <a:endParaRPr sz="16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94360" y="4443984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594360" y="44439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143000" y="4398264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/>
              <a:t>Other topics out of the scope</a:t>
            </a:r>
            <a:endParaRPr sz="16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>
                <a:solidFill>
                  <a:srgbClr val="6B7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Modern Enterprise Software Engineering  |  ÉSTIAM  |  Day 1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Time table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How the next 3 days will be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691640"/>
            <a:ext cx="2541905" cy="1779905"/>
          </a:xfrm>
          <a:prstGeom prst="roundRect">
            <a:avLst>
              <a:gd name="adj" fmla="val 3237"/>
            </a:avLst>
          </a:prstGeom>
          <a:solidFill>
            <a:srgbClr val="CADCFC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548640" y="1691640"/>
            <a:ext cx="2541905" cy="457835"/>
          </a:xfrm>
          <a:prstGeom prst="roundRect">
            <a:avLst>
              <a:gd name="adj" fmla="val 12000"/>
            </a:avLst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685800" y="1691640"/>
            <a:ext cx="2267585" cy="4425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Day 1</a:t>
            </a:r>
            <a:endParaRPr sz="135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13105" y="2316480"/>
            <a:ext cx="2212975" cy="11550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1:</a:t>
            </a: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Containers</a:t>
            </a:r>
            <a:b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App Services</a:t>
            </a:r>
            <a:b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Azure Functions</a:t>
            </a:r>
            <a:endParaRPr sz="125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ACI is not deprecated — it's now a low-level building block, not the default</a:t>
            </a:r>
            <a:endParaRPr sz="100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  <p:sp>
        <p:nvSpPr>
          <p:cNvPr id="27" name="Shape 2"/>
          <p:cNvSpPr>
            <a:spLocks noGrp="1"/>
          </p:cNvSpPr>
          <p:nvPr/>
        </p:nvSpPr>
        <p:spPr>
          <a:xfrm>
            <a:off x="548640" y="3700780"/>
            <a:ext cx="2541905" cy="2165985"/>
          </a:xfrm>
          <a:prstGeom prst="roundRect">
            <a:avLst>
              <a:gd name="adj" fmla="val 3237"/>
            </a:avLst>
          </a:prstGeom>
          <a:solidFill>
            <a:srgbClr val="CADCFC"/>
          </a:solidFill>
        </p:spPr>
      </p:sp>
      <p:sp>
        <p:nvSpPr>
          <p:cNvPr id="28" name="Text 5"/>
          <p:cNvSpPr>
            <a:spLocks noGrp="1"/>
          </p:cNvSpPr>
          <p:nvPr/>
        </p:nvSpPr>
        <p:spPr>
          <a:xfrm>
            <a:off x="685800" y="3898900"/>
            <a:ext cx="2212975" cy="1696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2:</a:t>
            </a: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Cosmos DB</a:t>
            </a:r>
            <a:b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Blo Storage</a:t>
            </a:r>
            <a:b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b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3:</a:t>
            </a: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Securing Applications</a:t>
            </a:r>
            <a:endParaRPr sz="125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sz="125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" name="Shape 2"/>
          <p:cNvSpPr>
            <a:spLocks noGrp="1"/>
          </p:cNvSpPr>
          <p:nvPr/>
        </p:nvSpPr>
        <p:spPr>
          <a:xfrm>
            <a:off x="3651885" y="1691640"/>
            <a:ext cx="2541905" cy="2630170"/>
          </a:xfrm>
          <a:prstGeom prst="roundRect">
            <a:avLst>
              <a:gd name="adj" fmla="val 3237"/>
            </a:avLst>
          </a:prstGeom>
          <a:solidFill>
            <a:srgbClr val="CADCFC"/>
          </a:solidFill>
        </p:spPr>
      </p:sp>
      <p:sp>
        <p:nvSpPr>
          <p:cNvPr id="32" name="Shape 3"/>
          <p:cNvSpPr>
            <a:spLocks noGrp="1"/>
          </p:cNvSpPr>
          <p:nvPr/>
        </p:nvSpPr>
        <p:spPr>
          <a:xfrm>
            <a:off x="3651885" y="1691640"/>
            <a:ext cx="2541905" cy="457835"/>
          </a:xfrm>
          <a:prstGeom prst="roundRect">
            <a:avLst>
              <a:gd name="adj" fmla="val 12000"/>
            </a:avLst>
          </a:prstGeom>
          <a:solidFill>
            <a:srgbClr val="1E2761"/>
          </a:solidFill>
        </p:spPr>
      </p:sp>
      <p:sp>
        <p:nvSpPr>
          <p:cNvPr id="33" name="Text 4"/>
          <p:cNvSpPr>
            <a:spLocks noGrp="1"/>
          </p:cNvSpPr>
          <p:nvPr/>
        </p:nvSpPr>
        <p:spPr>
          <a:xfrm>
            <a:off x="3789045" y="1691640"/>
            <a:ext cx="2267585" cy="4425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Day 2</a:t>
            </a:r>
            <a:endParaRPr sz="135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" name="Text 5"/>
          <p:cNvSpPr>
            <a:spLocks noGrp="1"/>
          </p:cNvSpPr>
          <p:nvPr/>
        </p:nvSpPr>
        <p:spPr>
          <a:xfrm>
            <a:off x="3816350" y="2316480"/>
            <a:ext cx="2212975" cy="1984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4:</a:t>
            </a: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Caching</a:t>
            </a:r>
            <a:b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App Insights</a:t>
            </a:r>
            <a:b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b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5:</a:t>
            </a: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API Management</a:t>
            </a:r>
            <a:b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Events / Messages</a:t>
            </a:r>
            <a:endParaRPr sz="125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sz="125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" name="Shape 2"/>
          <p:cNvSpPr>
            <a:spLocks noGrp="1"/>
          </p:cNvSpPr>
          <p:nvPr/>
        </p:nvSpPr>
        <p:spPr>
          <a:xfrm>
            <a:off x="3651885" y="4550410"/>
            <a:ext cx="2541905" cy="1320165"/>
          </a:xfrm>
          <a:prstGeom prst="roundRect">
            <a:avLst>
              <a:gd name="adj" fmla="val 3237"/>
            </a:avLst>
          </a:prstGeom>
          <a:solidFill>
            <a:srgbClr val="CADCFC"/>
          </a:solidFill>
        </p:spPr>
      </p:sp>
      <p:sp>
        <p:nvSpPr>
          <p:cNvPr id="38" name="Text 5"/>
          <p:cNvSpPr>
            <a:spLocks noGrp="1"/>
          </p:cNvSpPr>
          <p:nvPr/>
        </p:nvSpPr>
        <p:spPr>
          <a:xfrm>
            <a:off x="3817620" y="4739640"/>
            <a:ext cx="2212975" cy="9417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6:</a:t>
            </a: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LLM fundamentals</a:t>
            </a:r>
            <a:b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Prompting</a:t>
            </a:r>
            <a:b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 Custom Chat Bot</a:t>
            </a:r>
            <a:endParaRPr sz="125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9" name="Shape 2"/>
          <p:cNvSpPr>
            <a:spLocks noGrp="1"/>
          </p:cNvSpPr>
          <p:nvPr/>
        </p:nvSpPr>
        <p:spPr>
          <a:xfrm>
            <a:off x="6919595" y="1691640"/>
            <a:ext cx="2541905" cy="2230755"/>
          </a:xfrm>
          <a:prstGeom prst="roundRect">
            <a:avLst>
              <a:gd name="adj" fmla="val 3237"/>
            </a:avLst>
          </a:prstGeom>
          <a:solidFill>
            <a:srgbClr val="CADCFC"/>
          </a:solidFill>
        </p:spPr>
      </p:sp>
      <p:sp>
        <p:nvSpPr>
          <p:cNvPr id="40" name="Shape 3"/>
          <p:cNvSpPr>
            <a:spLocks noGrp="1"/>
          </p:cNvSpPr>
          <p:nvPr/>
        </p:nvSpPr>
        <p:spPr>
          <a:xfrm>
            <a:off x="6919595" y="1691640"/>
            <a:ext cx="2541905" cy="457835"/>
          </a:xfrm>
          <a:prstGeom prst="roundRect">
            <a:avLst>
              <a:gd name="adj" fmla="val 12000"/>
            </a:avLst>
          </a:prstGeom>
          <a:solidFill>
            <a:srgbClr val="1E2761"/>
          </a:solidFill>
        </p:spPr>
      </p:sp>
      <p:sp>
        <p:nvSpPr>
          <p:cNvPr id="41" name="Text 4"/>
          <p:cNvSpPr>
            <a:spLocks noGrp="1"/>
          </p:cNvSpPr>
          <p:nvPr/>
        </p:nvSpPr>
        <p:spPr>
          <a:xfrm>
            <a:off x="7056755" y="1691640"/>
            <a:ext cx="2267585" cy="4425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Day 3</a:t>
            </a:r>
            <a:endParaRPr sz="135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"/>
          <p:cNvSpPr>
            <a:spLocks noGrp="1"/>
          </p:cNvSpPr>
          <p:nvPr/>
        </p:nvSpPr>
        <p:spPr>
          <a:xfrm>
            <a:off x="7111365" y="2415540"/>
            <a:ext cx="2212975" cy="792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Main Project</a:t>
            </a:r>
            <a:endParaRPr sz="125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3" name="Shape 2"/>
          <p:cNvSpPr>
            <a:spLocks noGrp="1"/>
          </p:cNvSpPr>
          <p:nvPr/>
        </p:nvSpPr>
        <p:spPr>
          <a:xfrm>
            <a:off x="6919595" y="4114165"/>
            <a:ext cx="2541905" cy="1755140"/>
          </a:xfrm>
          <a:prstGeom prst="roundRect">
            <a:avLst>
              <a:gd name="adj" fmla="val 3237"/>
            </a:avLst>
          </a:prstGeom>
          <a:solidFill>
            <a:srgbClr val="CADCFC"/>
          </a:solidFill>
        </p:spPr>
      </p:sp>
      <p:sp>
        <p:nvSpPr>
          <p:cNvPr id="44" name="Text 5"/>
          <p:cNvSpPr>
            <a:spLocks noGrp="1"/>
          </p:cNvSpPr>
          <p:nvPr/>
        </p:nvSpPr>
        <p:spPr>
          <a:xfrm>
            <a:off x="7056755" y="4311650"/>
            <a:ext cx="2212975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Assessment</a:t>
            </a:r>
            <a:br>
              <a:rPr sz="12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endParaRPr sz="125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457200"/>
            <a:ext cx="100584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6A72B"/>
                </a:solidFill>
              </a:defRPr>
            </a:pPr>
            <a:r>
              <a:rPr sz="1200" b="1" spc="200">
                <a:solidFill>
                  <a:srgbClr val="F6A7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CATALOG</a:t>
            </a:r>
            <a:endParaRPr sz="1300" b="1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>
                <a:solidFill>
                  <a:srgbClr val="6B7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Modern Enterprise Software Engineering  |  ÉSTIAM  |  Day 1</a:t>
            </a:r>
            <a:endParaRPr sz="1000"/>
          </a:p>
        </p:txBody>
      </p:sp>
      <p:sp>
        <p:nvSpPr>
          <p:cNvPr id="23" name="architecture-title"/>
          <p:cNvSpPr>
            <a:spLocks noGrp="1"/>
          </p:cNvSpPr>
          <p:nvPr/>
        </p:nvSpPr>
        <p:spPr>
          <a:xfrm>
            <a:off x="548640" y="72390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222D68"/>
                </a:solidFill>
              </a:defRPr>
            </a:pPr>
            <a:r>
              <a:rPr sz="3000" b="1">
                <a:solidFill>
                  <a:srgbClr val="222D68"/>
                </a:solidFill>
              </a:rPr>
              <a:t>One application, the full Azure journey</a:t>
            </a:r>
            <a:endParaRPr sz="3000" b="1">
              <a:solidFill>
                <a:srgbClr val="222D68"/>
              </a:solidFill>
            </a:endParaRPr>
          </a:p>
        </p:txBody>
      </p:sp>
      <p:sp>
        <p:nvSpPr>
          <p:cNvPr id="24" name="architecture-subtitle"/>
          <p:cNvSpPr>
            <a:spLocks noGrp="1"/>
          </p:cNvSpPr>
          <p:nvPr/>
        </p:nvSpPr>
        <p:spPr>
          <a:xfrm>
            <a:off x="548640" y="1257300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Every module extends the same system — compute, data, security, observability, integration and AI.</a:t>
            </a:r>
            <a:endParaRPr sz="1350" b="0">
              <a:solidFill>
                <a:srgbClr val="5C6688"/>
              </a:solidFill>
            </a:endParaRPr>
          </a:p>
        </p:txBody>
      </p:sp>
      <p:sp>
        <p:nvSpPr>
          <p:cNvPr id="25" name="browser-surface"/>
          <p:cNvSpPr>
            <a:spLocks noGrp="1"/>
          </p:cNvSpPr>
          <p:nvPr/>
        </p:nvSpPr>
        <p:spPr>
          <a:xfrm>
            <a:off x="523875" y="2143125"/>
            <a:ext cx="1190625" cy="800100"/>
          </a:xfrm>
          <a:prstGeom prst="roundRect">
            <a:avLst>
              <a:gd name="adj" fmla="val 14286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26" name="browser-title"/>
          <p:cNvSpPr>
            <a:spLocks noGrp="1"/>
          </p:cNvSpPr>
          <p:nvPr/>
        </p:nvSpPr>
        <p:spPr>
          <a:xfrm>
            <a:off x="638175" y="2219325"/>
            <a:ext cx="962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22D68"/>
                </a:solidFill>
              </a:defRPr>
            </a:pPr>
            <a:r>
              <a:rPr sz="1350" b="1">
                <a:solidFill>
                  <a:srgbClr val="222D68"/>
                </a:solidFill>
              </a:rPr>
              <a:t>Browser</a:t>
            </a:r>
            <a:endParaRPr sz="1350" b="1">
              <a:solidFill>
                <a:srgbClr val="222D68"/>
              </a:solidFill>
            </a:endParaRPr>
          </a:p>
        </p:txBody>
      </p:sp>
      <p:sp>
        <p:nvSpPr>
          <p:cNvPr id="27" name="browser-body"/>
          <p:cNvSpPr>
            <a:spLocks noGrp="1"/>
          </p:cNvSpPr>
          <p:nvPr/>
        </p:nvSpPr>
        <p:spPr>
          <a:xfrm>
            <a:off x="619125" y="2486025"/>
            <a:ext cx="10001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C6688"/>
                </a:solidFill>
              </a:defRPr>
            </a:pPr>
            <a:r>
              <a:rPr sz="1050" b="0">
                <a:solidFill>
                  <a:srgbClr val="5C6688"/>
                </a:solidFill>
              </a:rPr>
              <a:t>students and users</a:t>
            </a:r>
            <a:endParaRPr sz="1050" b="0">
              <a:solidFill>
                <a:srgbClr val="5C6688"/>
              </a:solidFill>
            </a:endParaRPr>
          </a:p>
        </p:txBody>
      </p:sp>
      <p:sp>
        <p:nvSpPr>
          <p:cNvPr id="28" name="ui-surface"/>
          <p:cNvSpPr>
            <a:spLocks noGrp="1"/>
          </p:cNvSpPr>
          <p:nvPr/>
        </p:nvSpPr>
        <p:spPr>
          <a:xfrm>
            <a:off x="2143125" y="2047875"/>
            <a:ext cx="1571625" cy="990600"/>
          </a:xfrm>
          <a:prstGeom prst="roundRect">
            <a:avLst>
              <a:gd name="adj" fmla="val 11538"/>
            </a:avLst>
          </a:prstGeom>
          <a:solidFill>
            <a:srgbClr val="222D68"/>
          </a:solidFill>
          <a:ln w="14288">
            <a:solidFill>
              <a:srgbClr val="222D68"/>
            </a:solidFill>
            <a:prstDash val="solid"/>
          </a:ln>
        </p:spPr>
      </p:sp>
      <p:sp>
        <p:nvSpPr>
          <p:cNvPr id="29" name="ui-title"/>
          <p:cNvSpPr>
            <a:spLocks noGrp="1"/>
          </p:cNvSpPr>
          <p:nvPr/>
        </p:nvSpPr>
        <p:spPr>
          <a:xfrm>
            <a:off x="2257425" y="2124075"/>
            <a:ext cx="1343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Catalog UI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0" name="ui-body"/>
          <p:cNvSpPr>
            <a:spLocks noGrp="1"/>
          </p:cNvSpPr>
          <p:nvPr/>
        </p:nvSpPr>
        <p:spPr>
          <a:xfrm>
            <a:off x="2238375" y="2390775"/>
            <a:ext cx="13811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DDE5FF"/>
                </a:solidFill>
              </a:defRPr>
            </a:pPr>
            <a:r>
              <a:rPr sz="1050" b="0">
                <a:solidFill>
                  <a:srgbClr val="DDE5FF"/>
                </a:solidFill>
              </a:rPr>
              <a:t>App Service</a:t>
            </a:r>
            <a:endParaRPr sz="1050" b="0">
              <a:solidFill>
                <a:srgbClr val="DDE5FF"/>
              </a:solidFill>
            </a:endParaRPr>
          </a:p>
          <a:p>
            <a:pPr algn="ctr">
              <a:defRPr sz="1050" b="0">
                <a:solidFill>
                  <a:srgbClr val="DDE5FF"/>
                </a:solidFill>
              </a:defRPr>
            </a:pPr>
            <a:r>
              <a:rPr sz="1050" b="0">
                <a:solidFill>
                  <a:srgbClr val="DDE5FF"/>
                </a:solidFill>
              </a:rPr>
              <a:t>.NET web app</a:t>
            </a:r>
            <a:endParaRPr sz="1050" b="0">
              <a:solidFill>
                <a:srgbClr val="DDE5FF"/>
              </a:solidFill>
            </a:endParaRPr>
          </a:p>
        </p:txBody>
      </p:sp>
      <p:sp>
        <p:nvSpPr>
          <p:cNvPr id="31" name="apim-surface"/>
          <p:cNvSpPr>
            <a:spLocks noGrp="1"/>
          </p:cNvSpPr>
          <p:nvPr/>
        </p:nvSpPr>
        <p:spPr>
          <a:xfrm>
            <a:off x="4191000" y="2143125"/>
            <a:ext cx="1476375" cy="800100"/>
          </a:xfrm>
          <a:prstGeom prst="roundRect">
            <a:avLst>
              <a:gd name="adj" fmla="val 14286"/>
            </a:avLst>
          </a:prstGeom>
          <a:solidFill>
            <a:srgbClr val="C9DAF8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32" name="apim-title"/>
          <p:cNvSpPr>
            <a:spLocks noGrp="1"/>
          </p:cNvSpPr>
          <p:nvPr/>
        </p:nvSpPr>
        <p:spPr>
          <a:xfrm>
            <a:off x="4305300" y="2219325"/>
            <a:ext cx="12477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D68"/>
                </a:solidFill>
              </a:defRPr>
            </a:pPr>
            <a:r>
              <a:rPr sz="1200" b="1">
                <a:solidFill>
                  <a:srgbClr val="222D68"/>
                </a:solidFill>
              </a:rPr>
              <a:t>API Management</a:t>
            </a:r>
            <a:endParaRPr sz="1200" b="1">
              <a:solidFill>
                <a:srgbClr val="222D68"/>
              </a:solidFill>
            </a:endParaRPr>
          </a:p>
        </p:txBody>
      </p:sp>
      <p:sp>
        <p:nvSpPr>
          <p:cNvPr id="33" name="apim-body"/>
          <p:cNvSpPr>
            <a:spLocks noGrp="1"/>
          </p:cNvSpPr>
          <p:nvPr/>
        </p:nvSpPr>
        <p:spPr>
          <a:xfrm>
            <a:off x="4286250" y="2657475"/>
            <a:ext cx="1285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C6688"/>
                </a:solidFill>
              </a:defRPr>
            </a:pPr>
            <a:r>
              <a:rPr sz="900" b="0">
                <a:solidFill>
                  <a:srgbClr val="5C6688"/>
                </a:solidFill>
              </a:rPr>
              <a:t>gateway · policies</a:t>
            </a:r>
            <a:endParaRPr sz="900" b="0">
              <a:solidFill>
                <a:srgbClr val="5C6688"/>
              </a:solidFill>
            </a:endParaRPr>
          </a:p>
        </p:txBody>
      </p:sp>
      <p:sp>
        <p:nvSpPr>
          <p:cNvPr id="34" name="api-surface"/>
          <p:cNvSpPr>
            <a:spLocks noGrp="1"/>
          </p:cNvSpPr>
          <p:nvPr/>
        </p:nvSpPr>
        <p:spPr>
          <a:xfrm>
            <a:off x="6143625" y="2047875"/>
            <a:ext cx="1666875" cy="990600"/>
          </a:xfrm>
          <a:prstGeom prst="roundRect">
            <a:avLst>
              <a:gd name="adj" fmla="val 11538"/>
            </a:avLst>
          </a:prstGeom>
          <a:solidFill>
            <a:srgbClr val="222D68"/>
          </a:solidFill>
          <a:ln w="14288">
            <a:solidFill>
              <a:srgbClr val="222D68"/>
            </a:solidFill>
            <a:prstDash val="solid"/>
          </a:ln>
        </p:spPr>
      </p:sp>
      <p:sp>
        <p:nvSpPr>
          <p:cNvPr id="35" name="api-title"/>
          <p:cNvSpPr>
            <a:spLocks noGrp="1"/>
          </p:cNvSpPr>
          <p:nvPr/>
        </p:nvSpPr>
        <p:spPr>
          <a:xfrm>
            <a:off x="6257925" y="2124075"/>
            <a:ext cx="1438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Catalog API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6" name="api-body"/>
          <p:cNvSpPr>
            <a:spLocks noGrp="1"/>
          </p:cNvSpPr>
          <p:nvPr/>
        </p:nvSpPr>
        <p:spPr>
          <a:xfrm>
            <a:off x="6238875" y="2390775"/>
            <a:ext cx="147637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DDE5FF"/>
                </a:solidFill>
              </a:defRPr>
            </a:pPr>
            <a:r>
              <a:rPr sz="1050" b="0">
                <a:solidFill>
                  <a:srgbClr val="DDE5FF"/>
                </a:solidFill>
              </a:rPr>
              <a:t>Container Apps</a:t>
            </a:r>
            <a:endParaRPr sz="1050" b="0">
              <a:solidFill>
                <a:srgbClr val="DDE5FF"/>
              </a:solidFill>
            </a:endParaRPr>
          </a:p>
          <a:p>
            <a:pPr algn="ctr">
              <a:defRPr sz="1050" b="0">
                <a:solidFill>
                  <a:srgbClr val="DDE5FF"/>
                </a:solidFill>
              </a:defRPr>
            </a:pPr>
            <a:r>
              <a:rPr sz="1050" b="0">
                <a:solidFill>
                  <a:srgbClr val="DDE5FF"/>
                </a:solidFill>
              </a:rPr>
              <a:t>revisions + scale</a:t>
            </a:r>
            <a:endParaRPr sz="1050" b="0">
              <a:solidFill>
                <a:srgbClr val="DDE5FF"/>
              </a:solidFill>
            </a:endParaRPr>
          </a:p>
        </p:txBody>
      </p:sp>
      <p:sp>
        <p:nvSpPr>
          <p:cNvPr id="37" name="openai-surface"/>
          <p:cNvSpPr>
            <a:spLocks noGrp="1"/>
          </p:cNvSpPr>
          <p:nvPr/>
        </p:nvSpPr>
        <p:spPr>
          <a:xfrm>
            <a:off x="9810750" y="1924050"/>
            <a:ext cx="1666875" cy="781050"/>
          </a:xfrm>
          <a:prstGeom prst="roundRect">
            <a:avLst>
              <a:gd name="adj" fmla="val 14634"/>
            </a:avLst>
          </a:prstGeom>
          <a:solidFill>
            <a:srgbClr val="FFF3DD"/>
          </a:solidFill>
          <a:ln w="14288">
            <a:solidFill>
              <a:srgbClr val="F6A72B"/>
            </a:solidFill>
            <a:prstDash val="solid"/>
          </a:ln>
        </p:spPr>
      </p:sp>
      <p:sp>
        <p:nvSpPr>
          <p:cNvPr id="38" name="openai-title"/>
          <p:cNvSpPr>
            <a:spLocks noGrp="1"/>
          </p:cNvSpPr>
          <p:nvPr/>
        </p:nvSpPr>
        <p:spPr>
          <a:xfrm>
            <a:off x="9925050" y="2000250"/>
            <a:ext cx="1438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22D68"/>
                </a:solidFill>
              </a:defRPr>
            </a:pPr>
            <a:r>
              <a:rPr sz="1350" b="1">
                <a:solidFill>
                  <a:srgbClr val="222D68"/>
                </a:solidFill>
              </a:rPr>
              <a:t>Azure OpenAI</a:t>
            </a:r>
            <a:endParaRPr sz="1350" b="1">
              <a:solidFill>
                <a:srgbClr val="222D68"/>
              </a:solidFill>
            </a:endParaRPr>
          </a:p>
        </p:txBody>
      </p:sp>
      <p:sp>
        <p:nvSpPr>
          <p:cNvPr id="39" name="openai-body"/>
          <p:cNvSpPr>
            <a:spLocks noGrp="1"/>
          </p:cNvSpPr>
          <p:nvPr/>
        </p:nvSpPr>
        <p:spPr>
          <a:xfrm>
            <a:off x="9906000" y="2266950"/>
            <a:ext cx="14763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C6688"/>
                </a:solidFill>
              </a:defRPr>
            </a:pPr>
            <a:r>
              <a:rPr sz="1050" b="0">
                <a:solidFill>
                  <a:srgbClr val="5C6688"/>
                </a:solidFill>
              </a:rPr>
              <a:t>catalog assistant</a:t>
            </a:r>
            <a:endParaRPr sz="1050" b="0">
              <a:solidFill>
                <a:srgbClr val="5C6688"/>
              </a:solidFill>
            </a:endParaRPr>
          </a:p>
        </p:txBody>
      </p:sp>
      <p:cxnSp>
        <p:nvCxnSpPr>
          <p:cNvPr id="104" name="Straight Arrow Connector 103"/>
          <p:cNvCxnSpPr>
            <a:stCxn id="28" idx="1"/>
            <a:endCxn id="25" idx="3"/>
          </p:cNvCxnSpPr>
          <p:nvPr/>
        </p:nvCxnSpPr>
        <p:spPr>
          <a:xfrm flipH="1">
            <a:off x="1714500" y="2543175"/>
            <a:ext cx="428625" cy="0"/>
          </a:xfrm>
          <a:prstGeom prst="straightConnector1">
            <a:avLst/>
          </a:prstGeom>
          <a:ln w="19050">
            <a:solidFill>
              <a:srgbClr val="222D68"/>
            </a:solidFill>
            <a:prstDash val="solid"/>
            <a:headEnd type="triangle" w="sm" len="sm"/>
          </a:ln>
        </p:spPr>
      </p:cxnSp>
      <p:cxnSp>
        <p:nvCxnSpPr>
          <p:cNvPr id="105" name="Straight Arrow Connector 104"/>
          <p:cNvCxnSpPr>
            <a:stCxn id="31" idx="1"/>
            <a:endCxn id="28" idx="3"/>
          </p:cNvCxnSpPr>
          <p:nvPr/>
        </p:nvCxnSpPr>
        <p:spPr>
          <a:xfrm flipH="1">
            <a:off x="3714750" y="2543175"/>
            <a:ext cx="476250" cy="0"/>
          </a:xfrm>
          <a:prstGeom prst="straightConnector1">
            <a:avLst/>
          </a:prstGeom>
          <a:ln w="19050">
            <a:solidFill>
              <a:srgbClr val="222D68"/>
            </a:solidFill>
            <a:prstDash val="solid"/>
            <a:headEnd type="triangle" w="sm" len="sm"/>
          </a:ln>
        </p:spPr>
      </p:cxnSp>
      <p:cxnSp>
        <p:nvCxnSpPr>
          <p:cNvPr id="106" name="Straight Arrow Connector 105"/>
          <p:cNvCxnSpPr>
            <a:stCxn id="34" idx="1"/>
            <a:endCxn id="31" idx="3"/>
          </p:cNvCxnSpPr>
          <p:nvPr/>
        </p:nvCxnSpPr>
        <p:spPr>
          <a:xfrm flipH="1">
            <a:off x="5667375" y="2543175"/>
            <a:ext cx="476250" cy="0"/>
          </a:xfrm>
          <a:prstGeom prst="straightConnector1">
            <a:avLst/>
          </a:prstGeom>
          <a:ln w="19050">
            <a:solidFill>
              <a:srgbClr val="222D68"/>
            </a:solidFill>
            <a:prstDash val="solid"/>
            <a:headEnd type="triangle" w="sm" len="sm"/>
          </a:ln>
        </p:spPr>
      </p:cxnSp>
      <p:cxnSp>
        <p:nvCxnSpPr>
          <p:cNvPr id="107" name="Elbow Connector 106"/>
          <p:cNvCxnSpPr>
            <a:stCxn id="37" idx="1"/>
            <a:endCxn id="34" idx="3"/>
          </p:cNvCxnSpPr>
          <p:nvPr/>
        </p:nvCxnSpPr>
        <p:spPr>
          <a:xfrm flipH="1">
            <a:off x="7810500" y="2314575"/>
            <a:ext cx="2000250" cy="228600"/>
          </a:xfrm>
          <a:prstGeom prst="bentConnector3">
            <a:avLst>
              <a:gd name="adj1" fmla="val 50000"/>
            </a:avLst>
          </a:prstGeom>
          <a:ln w="19050">
            <a:solidFill>
              <a:srgbClr val="222D68"/>
            </a:solidFill>
            <a:prstDash val="solid"/>
            <a:headEnd type="triangle" w="sm" len="sm"/>
          </a:ln>
        </p:spPr>
      </p:cxnSp>
      <p:sp>
        <p:nvSpPr>
          <p:cNvPr id="44" name="acr-surface"/>
          <p:cNvSpPr>
            <a:spLocks noGrp="1"/>
          </p:cNvSpPr>
          <p:nvPr/>
        </p:nvSpPr>
        <p:spPr>
          <a:xfrm>
            <a:off x="2190750" y="3333750"/>
            <a:ext cx="1476375" cy="68580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45" name="acr-title"/>
          <p:cNvSpPr>
            <a:spLocks noGrp="1"/>
          </p:cNvSpPr>
          <p:nvPr/>
        </p:nvSpPr>
        <p:spPr>
          <a:xfrm>
            <a:off x="2305050" y="3409950"/>
            <a:ext cx="12477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2D68"/>
                </a:solidFill>
              </a:defRPr>
            </a:pPr>
            <a:r>
              <a:rPr sz="1125" b="1">
                <a:solidFill>
                  <a:srgbClr val="222D68"/>
                </a:solidFill>
              </a:rPr>
              <a:t>Container Registry</a:t>
            </a:r>
            <a:endParaRPr sz="1125" b="1">
              <a:solidFill>
                <a:srgbClr val="222D68"/>
              </a:solidFill>
            </a:endParaRPr>
          </a:p>
        </p:txBody>
      </p:sp>
      <p:sp>
        <p:nvSpPr>
          <p:cNvPr id="46" name="acr-body"/>
          <p:cNvSpPr>
            <a:spLocks noGrp="1"/>
          </p:cNvSpPr>
          <p:nvPr/>
        </p:nvSpPr>
        <p:spPr>
          <a:xfrm>
            <a:off x="2286000" y="3771900"/>
            <a:ext cx="12858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C6688"/>
                </a:solidFill>
              </a:defRPr>
            </a:pPr>
            <a:r>
              <a:rPr sz="825" b="0">
                <a:solidFill>
                  <a:srgbClr val="5C6688"/>
                </a:solidFill>
              </a:rPr>
              <a:t>UI + API images</a:t>
            </a:r>
            <a:endParaRPr sz="825" b="0">
              <a:solidFill>
                <a:srgbClr val="5C6688"/>
              </a:solidFill>
            </a:endParaRPr>
          </a:p>
        </p:txBody>
      </p:sp>
      <p:sp>
        <p:nvSpPr>
          <p:cNvPr id="47" name="cosmos-surface"/>
          <p:cNvSpPr>
            <a:spLocks noGrp="1"/>
          </p:cNvSpPr>
          <p:nvPr/>
        </p:nvSpPr>
        <p:spPr>
          <a:xfrm>
            <a:off x="4429125" y="3333750"/>
            <a:ext cx="1428750" cy="68580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48" name="cosmos-title"/>
          <p:cNvSpPr>
            <a:spLocks noGrp="1"/>
          </p:cNvSpPr>
          <p:nvPr/>
        </p:nvSpPr>
        <p:spPr>
          <a:xfrm>
            <a:off x="4543425" y="340995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22D68"/>
                </a:solidFill>
              </a:defRPr>
            </a:pPr>
            <a:r>
              <a:rPr sz="1275" b="1">
                <a:solidFill>
                  <a:srgbClr val="222D68"/>
                </a:solidFill>
              </a:rPr>
              <a:t>Cosmos DB</a:t>
            </a:r>
            <a:endParaRPr sz="1275" b="1">
              <a:solidFill>
                <a:srgbClr val="222D68"/>
              </a:solidFill>
            </a:endParaRPr>
          </a:p>
        </p:txBody>
      </p:sp>
      <p:sp>
        <p:nvSpPr>
          <p:cNvPr id="49" name="cosmos-body"/>
          <p:cNvSpPr>
            <a:spLocks noGrp="1"/>
          </p:cNvSpPr>
          <p:nvPr/>
        </p:nvSpPr>
        <p:spPr>
          <a:xfrm>
            <a:off x="4524375" y="3676650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C6688"/>
                </a:solidFill>
              </a:defRPr>
            </a:pPr>
            <a:r>
              <a:rPr sz="975" b="0">
                <a:solidFill>
                  <a:srgbClr val="5C6688"/>
                </a:solidFill>
              </a:rPr>
              <a:t>titles + metadata</a:t>
            </a:r>
            <a:endParaRPr sz="975" b="0">
              <a:solidFill>
                <a:srgbClr val="5C6688"/>
              </a:solidFill>
            </a:endParaRPr>
          </a:p>
        </p:txBody>
      </p:sp>
      <p:sp>
        <p:nvSpPr>
          <p:cNvPr id="50" name="blob-surface"/>
          <p:cNvSpPr>
            <a:spLocks noGrp="1"/>
          </p:cNvSpPr>
          <p:nvPr/>
        </p:nvSpPr>
        <p:spPr>
          <a:xfrm>
            <a:off x="6143625" y="3333750"/>
            <a:ext cx="1428750" cy="68580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51" name="blob-title"/>
          <p:cNvSpPr>
            <a:spLocks noGrp="1"/>
          </p:cNvSpPr>
          <p:nvPr/>
        </p:nvSpPr>
        <p:spPr>
          <a:xfrm>
            <a:off x="6257925" y="340995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22D68"/>
                </a:solidFill>
              </a:defRPr>
            </a:pPr>
            <a:r>
              <a:rPr sz="1275" b="1">
                <a:solidFill>
                  <a:srgbClr val="222D68"/>
                </a:solidFill>
              </a:rPr>
              <a:t>Blob Storage</a:t>
            </a:r>
            <a:endParaRPr sz="1275" b="1">
              <a:solidFill>
                <a:srgbClr val="222D68"/>
              </a:solidFill>
            </a:endParaRPr>
          </a:p>
        </p:txBody>
      </p:sp>
      <p:sp>
        <p:nvSpPr>
          <p:cNvPr id="52" name="blob-body"/>
          <p:cNvSpPr>
            <a:spLocks noGrp="1"/>
          </p:cNvSpPr>
          <p:nvPr/>
        </p:nvSpPr>
        <p:spPr>
          <a:xfrm>
            <a:off x="6238875" y="3676650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C6688"/>
                </a:solidFill>
              </a:defRPr>
            </a:pPr>
            <a:r>
              <a:rPr sz="975" b="0">
                <a:solidFill>
                  <a:srgbClr val="5C6688"/>
                </a:solidFill>
              </a:rPr>
              <a:t>poster files</a:t>
            </a:r>
            <a:endParaRPr sz="975" b="0">
              <a:solidFill>
                <a:srgbClr val="5C6688"/>
              </a:solidFill>
            </a:endParaRPr>
          </a:p>
        </p:txBody>
      </p:sp>
      <p:sp>
        <p:nvSpPr>
          <p:cNvPr id="53" name="keyvault-surface"/>
          <p:cNvSpPr>
            <a:spLocks noGrp="1"/>
          </p:cNvSpPr>
          <p:nvPr/>
        </p:nvSpPr>
        <p:spPr>
          <a:xfrm>
            <a:off x="7858125" y="3333750"/>
            <a:ext cx="1428750" cy="68580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54" name="keyvault-title"/>
          <p:cNvSpPr>
            <a:spLocks noGrp="1"/>
          </p:cNvSpPr>
          <p:nvPr/>
        </p:nvSpPr>
        <p:spPr>
          <a:xfrm>
            <a:off x="7972425" y="340995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22D68"/>
                </a:solidFill>
              </a:defRPr>
            </a:pPr>
            <a:r>
              <a:rPr sz="1275" b="1">
                <a:solidFill>
                  <a:srgbClr val="222D68"/>
                </a:solidFill>
              </a:rPr>
              <a:t>Key Vault</a:t>
            </a:r>
            <a:endParaRPr sz="1275" b="1">
              <a:solidFill>
                <a:srgbClr val="222D68"/>
              </a:solidFill>
            </a:endParaRPr>
          </a:p>
        </p:txBody>
      </p:sp>
      <p:sp>
        <p:nvSpPr>
          <p:cNvPr id="55" name="keyvault-body"/>
          <p:cNvSpPr>
            <a:spLocks noGrp="1"/>
          </p:cNvSpPr>
          <p:nvPr/>
        </p:nvSpPr>
        <p:spPr>
          <a:xfrm>
            <a:off x="7953375" y="3676650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C6688"/>
                </a:solidFill>
              </a:defRPr>
            </a:pPr>
            <a:r>
              <a:rPr sz="975" b="0">
                <a:solidFill>
                  <a:srgbClr val="5C6688"/>
                </a:solidFill>
              </a:rPr>
              <a:t>secrets + references</a:t>
            </a:r>
            <a:endParaRPr sz="975" b="0">
              <a:solidFill>
                <a:srgbClr val="5C6688"/>
              </a:solidFill>
            </a:endParaRPr>
          </a:p>
        </p:txBody>
      </p:sp>
      <p:sp>
        <p:nvSpPr>
          <p:cNvPr id="56" name="insights-surface"/>
          <p:cNvSpPr>
            <a:spLocks noGrp="1"/>
          </p:cNvSpPr>
          <p:nvPr/>
        </p:nvSpPr>
        <p:spPr>
          <a:xfrm>
            <a:off x="9810750" y="3333750"/>
            <a:ext cx="1666875" cy="68580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57" name="insights-title"/>
          <p:cNvSpPr>
            <a:spLocks noGrp="1"/>
          </p:cNvSpPr>
          <p:nvPr/>
        </p:nvSpPr>
        <p:spPr>
          <a:xfrm>
            <a:off x="9925050" y="3409950"/>
            <a:ext cx="1438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2D68"/>
                </a:solidFill>
              </a:defRPr>
            </a:pPr>
            <a:r>
              <a:rPr sz="1125" b="1">
                <a:solidFill>
                  <a:srgbClr val="222D68"/>
                </a:solidFill>
              </a:rPr>
              <a:t>Application Insights</a:t>
            </a:r>
            <a:endParaRPr sz="1125" b="1">
              <a:solidFill>
                <a:srgbClr val="222D68"/>
              </a:solidFill>
            </a:endParaRPr>
          </a:p>
        </p:txBody>
      </p:sp>
      <p:sp>
        <p:nvSpPr>
          <p:cNvPr id="58" name="insights-body"/>
          <p:cNvSpPr>
            <a:spLocks noGrp="1"/>
          </p:cNvSpPr>
          <p:nvPr/>
        </p:nvSpPr>
        <p:spPr>
          <a:xfrm>
            <a:off x="9906000" y="3771900"/>
            <a:ext cx="1476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C6688"/>
                </a:solidFill>
              </a:defRPr>
            </a:pPr>
            <a:r>
              <a:rPr sz="825" b="0">
                <a:solidFill>
                  <a:srgbClr val="5C6688"/>
                </a:solidFill>
              </a:rPr>
              <a:t>traces · logs · failures</a:t>
            </a:r>
            <a:endParaRPr sz="825" b="0">
              <a:solidFill>
                <a:srgbClr val="5C6688"/>
              </a:solidFill>
            </a:endParaRPr>
          </a:p>
        </p:txBody>
      </p:sp>
      <p:cxnSp>
        <p:nvCxnSpPr>
          <p:cNvPr id="123" name="Straight Arrow Connector 122"/>
          <p:cNvCxnSpPr>
            <a:stCxn id="28" idx="2"/>
            <a:endCxn id="44" idx="0"/>
          </p:cNvCxnSpPr>
          <p:nvPr/>
        </p:nvCxnSpPr>
        <p:spPr>
          <a:xfrm>
            <a:off x="2928938" y="3038475"/>
            <a:ext cx="0" cy="295275"/>
          </a:xfrm>
          <a:prstGeom prst="straightConnector1">
            <a:avLst/>
          </a:prstGeom>
          <a:ln w="19050">
            <a:solidFill>
              <a:srgbClr val="5C6688"/>
            </a:solidFill>
            <a:prstDash val="dash"/>
            <a:headEnd type="triangle" w="sm" len="sm"/>
          </a:ln>
        </p:spPr>
      </p:cxnSp>
      <p:cxnSp>
        <p:nvCxnSpPr>
          <p:cNvPr id="124" name="Elbow Connector 123"/>
          <p:cNvCxnSpPr>
            <a:stCxn id="34" idx="2"/>
            <a:endCxn id="44" idx="3"/>
          </p:cNvCxnSpPr>
          <p:nvPr/>
        </p:nvCxnSpPr>
        <p:spPr>
          <a:xfrm flipH="1">
            <a:off x="3667125" y="3038475"/>
            <a:ext cx="3309938" cy="638175"/>
          </a:xfrm>
          <a:prstGeom prst="bentConnector3">
            <a:avLst>
              <a:gd name="adj1" fmla="val 0"/>
            </a:avLst>
          </a:prstGeom>
          <a:ln w="19050">
            <a:solidFill>
              <a:srgbClr val="5C6688"/>
            </a:solidFill>
            <a:prstDash val="dash"/>
            <a:headEnd type="triangle" w="sm" len="sm"/>
          </a:ln>
        </p:spPr>
      </p:cxnSp>
      <p:cxnSp>
        <p:nvCxnSpPr>
          <p:cNvPr id="125" name="Elbow Connector 124"/>
          <p:cNvCxnSpPr>
            <a:stCxn id="47" idx="0"/>
            <a:endCxn id="34" idx="2"/>
          </p:cNvCxnSpPr>
          <p:nvPr/>
        </p:nvCxnSpPr>
        <p:spPr>
          <a:xfrm flipV="1">
            <a:off x="5143500" y="3038475"/>
            <a:ext cx="1833563" cy="2952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22D68"/>
            </a:solidFill>
            <a:prstDash val="solid"/>
            <a:headEnd type="triangle" w="sm" len="sm"/>
          </a:ln>
        </p:spPr>
      </p:cxnSp>
      <p:cxnSp>
        <p:nvCxnSpPr>
          <p:cNvPr id="126" name="Elbow Connector 125"/>
          <p:cNvCxnSpPr>
            <a:stCxn id="50" idx="0"/>
            <a:endCxn id="34" idx="2"/>
          </p:cNvCxnSpPr>
          <p:nvPr/>
        </p:nvCxnSpPr>
        <p:spPr>
          <a:xfrm flipV="1">
            <a:off x="6858000" y="3038475"/>
            <a:ext cx="119063" cy="2952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22D68"/>
            </a:solidFill>
            <a:prstDash val="solid"/>
            <a:headEnd type="triangle" w="sm" len="sm"/>
          </a:ln>
        </p:spPr>
      </p:cxnSp>
      <p:cxnSp>
        <p:nvCxnSpPr>
          <p:cNvPr id="127" name="Elbow Connector 126"/>
          <p:cNvCxnSpPr>
            <a:stCxn id="53" idx="0"/>
            <a:endCxn id="34" idx="2"/>
          </p:cNvCxnSpPr>
          <p:nvPr/>
        </p:nvCxnSpPr>
        <p:spPr>
          <a:xfrm flipH="1" flipV="1">
            <a:off x="6977063" y="3038475"/>
            <a:ext cx="1595438" cy="2952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6A72B"/>
            </a:solidFill>
            <a:prstDash val="dash"/>
            <a:headEnd type="triangle" w="sm" len="sm"/>
          </a:ln>
        </p:spPr>
      </p:cxnSp>
      <p:cxnSp>
        <p:nvCxnSpPr>
          <p:cNvPr id="128" name="Elbow Connector 127"/>
          <p:cNvCxnSpPr>
            <a:stCxn id="56" idx="0"/>
            <a:endCxn id="28" idx="2"/>
          </p:cNvCxnSpPr>
          <p:nvPr/>
        </p:nvCxnSpPr>
        <p:spPr>
          <a:xfrm flipH="1" flipV="1">
            <a:off x="2928938" y="3038475"/>
            <a:ext cx="7715250" cy="295275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5C6688"/>
            </a:solidFill>
            <a:prstDash val="dash"/>
            <a:headEnd type="triangle" w="sm" len="sm"/>
          </a:ln>
        </p:spPr>
      </p:cxnSp>
      <p:cxnSp>
        <p:nvCxnSpPr>
          <p:cNvPr id="129" name="Elbow Connector 128"/>
          <p:cNvCxnSpPr>
            <a:stCxn id="56" idx="0"/>
            <a:endCxn id="34" idx="3"/>
          </p:cNvCxnSpPr>
          <p:nvPr/>
        </p:nvCxnSpPr>
        <p:spPr>
          <a:xfrm flipH="1" flipV="1">
            <a:off x="7810500" y="2543175"/>
            <a:ext cx="2833688" cy="790575"/>
          </a:xfrm>
          <a:prstGeom prst="bentConnector5">
            <a:avLst>
              <a:gd name="adj1" fmla="val 0"/>
              <a:gd name="adj2" fmla="val 28916"/>
              <a:gd name="adj3" fmla="val 91933"/>
            </a:avLst>
          </a:prstGeom>
          <a:ln w="14288">
            <a:solidFill>
              <a:srgbClr val="5C6688"/>
            </a:solidFill>
            <a:prstDash val="dash"/>
            <a:headEnd type="triangle" w="sm" len="sm"/>
          </a:ln>
        </p:spPr>
      </p:cxnSp>
      <p:sp>
        <p:nvSpPr>
          <p:cNvPr id="66" name="event-label"/>
          <p:cNvSpPr>
            <a:spLocks noGrp="1"/>
          </p:cNvSpPr>
          <p:nvPr/>
        </p:nvSpPr>
        <p:spPr>
          <a:xfrm>
            <a:off x="548640" y="44196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6A72B"/>
                </a:solidFill>
              </a:defRPr>
            </a:pPr>
            <a:r>
              <a:rPr sz="1050" b="1">
                <a:solidFill>
                  <a:srgbClr val="F6A72B"/>
                </a:solidFill>
              </a:rPr>
              <a:t>EVENT-DRIVEN POSTER PIPELINE</a:t>
            </a:r>
            <a:endParaRPr sz="1050" b="1">
              <a:solidFill>
                <a:srgbClr val="F6A72B"/>
              </a:solidFill>
            </a:endParaRPr>
          </a:p>
        </p:txBody>
      </p:sp>
      <p:sp>
        <p:nvSpPr>
          <p:cNvPr id="67" name="eventgrid-surface"/>
          <p:cNvSpPr>
            <a:spLocks noGrp="1"/>
          </p:cNvSpPr>
          <p:nvPr/>
        </p:nvSpPr>
        <p:spPr>
          <a:xfrm>
            <a:off x="2428875" y="4762500"/>
            <a:ext cx="1381125" cy="609600"/>
          </a:xfrm>
          <a:prstGeom prst="roundRect">
            <a:avLst>
              <a:gd name="adj" fmla="val 18750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68" name="eventgrid-title"/>
          <p:cNvSpPr>
            <a:spLocks noGrp="1"/>
          </p:cNvSpPr>
          <p:nvPr/>
        </p:nvSpPr>
        <p:spPr>
          <a:xfrm>
            <a:off x="2543175" y="4838700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D68"/>
                </a:solidFill>
              </a:defRPr>
            </a:pPr>
            <a:r>
              <a:rPr sz="1200" b="1">
                <a:solidFill>
                  <a:srgbClr val="222D68"/>
                </a:solidFill>
              </a:rPr>
              <a:t>Event Grid</a:t>
            </a:r>
            <a:endParaRPr sz="1200" b="1">
              <a:solidFill>
                <a:srgbClr val="222D68"/>
              </a:solidFill>
            </a:endParaRPr>
          </a:p>
        </p:txBody>
      </p:sp>
      <p:sp>
        <p:nvSpPr>
          <p:cNvPr id="69" name="eventgrid-body"/>
          <p:cNvSpPr>
            <a:spLocks noGrp="1"/>
          </p:cNvSpPr>
          <p:nvPr/>
        </p:nvSpPr>
        <p:spPr>
          <a:xfrm>
            <a:off x="2524125" y="5105400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C6688"/>
                </a:solidFill>
              </a:defRPr>
            </a:pPr>
            <a:r>
              <a:rPr sz="900" b="0">
                <a:solidFill>
                  <a:srgbClr val="5C6688"/>
                </a:solidFill>
              </a:rPr>
              <a:t>BlobCreated</a:t>
            </a:r>
            <a:endParaRPr sz="900" b="0">
              <a:solidFill>
                <a:srgbClr val="5C6688"/>
              </a:solidFill>
            </a:endParaRPr>
          </a:p>
        </p:txBody>
      </p:sp>
      <p:sp>
        <p:nvSpPr>
          <p:cNvPr id="70" name="queue-surface"/>
          <p:cNvSpPr>
            <a:spLocks noGrp="1"/>
          </p:cNvSpPr>
          <p:nvPr/>
        </p:nvSpPr>
        <p:spPr>
          <a:xfrm>
            <a:off x="4333875" y="4762500"/>
            <a:ext cx="1381125" cy="609600"/>
          </a:xfrm>
          <a:prstGeom prst="roundRect">
            <a:avLst>
              <a:gd name="adj" fmla="val 18750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71" name="queue-title"/>
          <p:cNvSpPr>
            <a:spLocks noGrp="1"/>
          </p:cNvSpPr>
          <p:nvPr/>
        </p:nvSpPr>
        <p:spPr>
          <a:xfrm>
            <a:off x="4448175" y="4838700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D68"/>
                </a:solidFill>
              </a:defRPr>
            </a:pPr>
            <a:r>
              <a:rPr sz="1200" b="1">
                <a:solidFill>
                  <a:srgbClr val="222D68"/>
                </a:solidFill>
              </a:rPr>
              <a:t>Storage Queue</a:t>
            </a:r>
            <a:endParaRPr sz="1200" b="1">
              <a:solidFill>
                <a:srgbClr val="222D68"/>
              </a:solidFill>
            </a:endParaRPr>
          </a:p>
        </p:txBody>
      </p:sp>
      <p:sp>
        <p:nvSpPr>
          <p:cNvPr id="72" name="queue-body"/>
          <p:cNvSpPr>
            <a:spLocks noGrp="1"/>
          </p:cNvSpPr>
          <p:nvPr/>
        </p:nvSpPr>
        <p:spPr>
          <a:xfrm>
            <a:off x="4429125" y="5105400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C6688"/>
                </a:solidFill>
              </a:defRPr>
            </a:pPr>
            <a:r>
              <a:rPr sz="900" b="0">
                <a:solidFill>
                  <a:srgbClr val="5C6688"/>
                </a:solidFill>
              </a:rPr>
              <a:t>poster-jobs</a:t>
            </a:r>
            <a:endParaRPr sz="900" b="0">
              <a:solidFill>
                <a:srgbClr val="5C6688"/>
              </a:solidFill>
            </a:endParaRPr>
          </a:p>
        </p:txBody>
      </p:sp>
      <p:sp>
        <p:nvSpPr>
          <p:cNvPr id="73" name="function-surface"/>
          <p:cNvSpPr>
            <a:spLocks noGrp="1"/>
          </p:cNvSpPr>
          <p:nvPr/>
        </p:nvSpPr>
        <p:spPr>
          <a:xfrm>
            <a:off x="6238875" y="4762500"/>
            <a:ext cx="1476375" cy="609600"/>
          </a:xfrm>
          <a:prstGeom prst="roundRect">
            <a:avLst>
              <a:gd name="adj" fmla="val 18750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74" name="function-title"/>
          <p:cNvSpPr>
            <a:spLocks noGrp="1"/>
          </p:cNvSpPr>
          <p:nvPr/>
        </p:nvSpPr>
        <p:spPr>
          <a:xfrm>
            <a:off x="6353175" y="4838700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D68"/>
                </a:solidFill>
              </a:defRPr>
            </a:pPr>
            <a:r>
              <a:rPr sz="1200" b="1">
                <a:solidFill>
                  <a:srgbClr val="222D68"/>
                </a:solidFill>
              </a:rPr>
              <a:t>Azure Function</a:t>
            </a:r>
            <a:endParaRPr sz="1200" b="1">
              <a:solidFill>
                <a:srgbClr val="222D68"/>
              </a:solidFill>
            </a:endParaRPr>
          </a:p>
        </p:txBody>
      </p:sp>
      <p:sp>
        <p:nvSpPr>
          <p:cNvPr id="75" name="function-body"/>
          <p:cNvSpPr>
            <a:spLocks noGrp="1"/>
          </p:cNvSpPr>
          <p:nvPr/>
        </p:nvSpPr>
        <p:spPr>
          <a:xfrm>
            <a:off x="6334125" y="5105400"/>
            <a:ext cx="12858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C6688"/>
                </a:solidFill>
              </a:defRPr>
            </a:pPr>
            <a:r>
              <a:rPr sz="900" b="0">
                <a:solidFill>
                  <a:srgbClr val="5C6688"/>
                </a:solidFill>
              </a:rPr>
              <a:t>normalize poster</a:t>
            </a:r>
            <a:endParaRPr sz="900" b="0">
              <a:solidFill>
                <a:srgbClr val="5C6688"/>
              </a:solidFill>
            </a:endParaRPr>
          </a:p>
        </p:txBody>
      </p:sp>
      <p:sp>
        <p:nvSpPr>
          <p:cNvPr id="76" name="normalized-surface"/>
          <p:cNvSpPr>
            <a:spLocks noGrp="1"/>
          </p:cNvSpPr>
          <p:nvPr/>
        </p:nvSpPr>
        <p:spPr>
          <a:xfrm>
            <a:off x="8239125" y="4762500"/>
            <a:ext cx="1476375" cy="609600"/>
          </a:xfrm>
          <a:prstGeom prst="roundRect">
            <a:avLst>
              <a:gd name="adj" fmla="val 18750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77" name="normalized-title"/>
          <p:cNvSpPr>
            <a:spLocks noGrp="1"/>
          </p:cNvSpPr>
          <p:nvPr/>
        </p:nvSpPr>
        <p:spPr>
          <a:xfrm>
            <a:off x="8353425" y="4838700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D68"/>
                </a:solidFill>
              </a:defRPr>
            </a:pPr>
            <a:r>
              <a:rPr sz="1200" b="1">
                <a:solidFill>
                  <a:srgbClr val="222D68"/>
                </a:solidFill>
              </a:rPr>
              <a:t>Blob Storage</a:t>
            </a:r>
            <a:endParaRPr sz="1200" b="1">
              <a:solidFill>
                <a:srgbClr val="222D68"/>
              </a:solidFill>
            </a:endParaRPr>
          </a:p>
        </p:txBody>
      </p:sp>
      <p:sp>
        <p:nvSpPr>
          <p:cNvPr id="78" name="normalized-body"/>
          <p:cNvSpPr>
            <a:spLocks noGrp="1"/>
          </p:cNvSpPr>
          <p:nvPr/>
        </p:nvSpPr>
        <p:spPr>
          <a:xfrm>
            <a:off x="8334375" y="5105400"/>
            <a:ext cx="12858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C6688"/>
                </a:solidFill>
              </a:defRPr>
            </a:pPr>
            <a:r>
              <a:rPr sz="900" b="0">
                <a:solidFill>
                  <a:srgbClr val="5C6688"/>
                </a:solidFill>
              </a:rPr>
              <a:t>normalized poster</a:t>
            </a:r>
            <a:endParaRPr sz="900" b="0">
              <a:solidFill>
                <a:srgbClr val="5C6688"/>
              </a:solidFill>
            </a:endParaRPr>
          </a:p>
        </p:txBody>
      </p:sp>
      <p:cxnSp>
        <p:nvCxnSpPr>
          <p:cNvPr id="143" name="Elbow Connector 142"/>
          <p:cNvCxnSpPr>
            <a:stCxn id="67" idx="0"/>
            <a:endCxn id="50" idx="2"/>
          </p:cNvCxnSpPr>
          <p:nvPr/>
        </p:nvCxnSpPr>
        <p:spPr>
          <a:xfrm flipV="1">
            <a:off x="3119438" y="4019550"/>
            <a:ext cx="3738563" cy="7429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6A72B"/>
            </a:solidFill>
            <a:prstDash val="solid"/>
            <a:headEnd type="triangle" w="sm" len="sm"/>
          </a:ln>
        </p:spPr>
      </p:cxnSp>
      <p:cxnSp>
        <p:nvCxnSpPr>
          <p:cNvPr id="144" name="Straight Arrow Connector 143"/>
          <p:cNvCxnSpPr>
            <a:stCxn id="70" idx="1"/>
            <a:endCxn id="67" idx="3"/>
          </p:cNvCxnSpPr>
          <p:nvPr/>
        </p:nvCxnSpPr>
        <p:spPr>
          <a:xfrm flipH="1">
            <a:off x="3810000" y="5067300"/>
            <a:ext cx="523875" cy="0"/>
          </a:xfrm>
          <a:prstGeom prst="straightConnector1">
            <a:avLst/>
          </a:prstGeom>
          <a:ln w="19050">
            <a:solidFill>
              <a:srgbClr val="F6A72B"/>
            </a:solidFill>
            <a:prstDash val="solid"/>
            <a:headEnd type="triangle" w="sm" len="sm"/>
          </a:ln>
        </p:spPr>
      </p:cxnSp>
      <p:cxnSp>
        <p:nvCxnSpPr>
          <p:cNvPr id="145" name="Straight Arrow Connector 144"/>
          <p:cNvCxnSpPr>
            <a:stCxn id="73" idx="1"/>
            <a:endCxn id="70" idx="3"/>
          </p:cNvCxnSpPr>
          <p:nvPr/>
        </p:nvCxnSpPr>
        <p:spPr>
          <a:xfrm flipH="1">
            <a:off x="5715000" y="5067300"/>
            <a:ext cx="523875" cy="0"/>
          </a:xfrm>
          <a:prstGeom prst="straightConnector1">
            <a:avLst/>
          </a:prstGeom>
          <a:ln w="19050">
            <a:solidFill>
              <a:srgbClr val="F6A72B"/>
            </a:solidFill>
            <a:prstDash val="solid"/>
            <a:headEnd type="triangle" w="sm" len="sm"/>
          </a:ln>
        </p:spPr>
      </p:cxnSp>
      <p:cxnSp>
        <p:nvCxnSpPr>
          <p:cNvPr id="146" name="Straight Arrow Connector 145"/>
          <p:cNvCxnSpPr>
            <a:stCxn id="76" idx="1"/>
            <a:endCxn id="73" idx="3"/>
          </p:cNvCxnSpPr>
          <p:nvPr/>
        </p:nvCxnSpPr>
        <p:spPr>
          <a:xfrm flipH="1">
            <a:off x="7715250" y="5067300"/>
            <a:ext cx="523875" cy="0"/>
          </a:xfrm>
          <a:prstGeom prst="straightConnector1">
            <a:avLst/>
          </a:prstGeom>
          <a:ln w="19050">
            <a:solidFill>
              <a:srgbClr val="F6A72B"/>
            </a:solidFill>
            <a:prstDash val="solid"/>
            <a:headEnd type="triangle" w="sm" len="sm"/>
          </a:ln>
        </p:spPr>
      </p:cxnSp>
      <p:sp>
        <p:nvSpPr>
          <p:cNvPr id="83" name="cross-cutting-rail"/>
          <p:cNvSpPr>
            <a:spLocks noGrp="1"/>
          </p:cNvSpPr>
          <p:nvPr/>
        </p:nvSpPr>
        <p:spPr>
          <a:xfrm>
            <a:off x="548640" y="5695950"/>
            <a:ext cx="11049000" cy="457200"/>
          </a:xfrm>
          <a:prstGeom prst="roundRect">
            <a:avLst>
              <a:gd name="adj" fmla="val 25000"/>
            </a:avLst>
          </a:prstGeom>
          <a:solidFill>
            <a:srgbClr val="151D4B"/>
          </a:solidFill>
          <a:ln w="0">
            <a:solidFill>
              <a:srgbClr val="151D4B"/>
            </a:solidFill>
            <a:prstDash val="solid"/>
          </a:ln>
        </p:spPr>
      </p:sp>
      <p:sp>
        <p:nvSpPr>
          <p:cNvPr id="84" name="cross-cutting-text"/>
          <p:cNvSpPr>
            <a:spLocks noGrp="1"/>
          </p:cNvSpPr>
          <p:nvPr/>
        </p:nvSpPr>
        <p:spPr>
          <a:xfrm>
            <a:off x="742950" y="5781675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Managed Identity + RBAC secure access   •   Application Insights + Log Analytics observe the whole request path</a:t>
            </a:r>
            <a:endParaRPr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457200"/>
            <a:ext cx="100584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6A72B"/>
                </a:solidFill>
              </a:defRPr>
            </a:pPr>
            <a:r>
              <a:rPr sz="1200" b="1" spc="200">
                <a:solidFill>
                  <a:srgbClr val="F6A7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ABOUT ME</a:t>
            </a:r>
            <a:endParaRPr sz="1300" b="1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>
                <a:solidFill>
                  <a:srgbClr val="6B7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Modern Enterprise Software Engineering  |  ÉSTIAM  |  Day 1</a:t>
            </a:r>
            <a:endParaRPr sz="1000"/>
          </a:p>
        </p:txBody>
      </p:sp>
      <p:sp>
        <p:nvSpPr>
          <p:cNvPr id="23" name="about-name"/>
          <p:cNvSpPr>
            <a:spLocks noGrp="1"/>
          </p:cNvSpPr>
          <p:nvPr/>
        </p:nvSpPr>
        <p:spPr>
          <a:xfrm>
            <a:off x="548640" y="876300"/>
            <a:ext cx="723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222D68"/>
                </a:solidFill>
              </a:defRPr>
            </a:pPr>
            <a:r>
              <a:rPr sz="3600" b="1">
                <a:solidFill>
                  <a:srgbClr val="222D68"/>
                </a:solidFill>
              </a:rPr>
              <a:t>Guilherme Sonego</a:t>
            </a:r>
            <a:endParaRPr sz="3600" b="1">
              <a:solidFill>
                <a:srgbClr val="222D68"/>
              </a:solidFill>
            </a:endParaRPr>
          </a:p>
        </p:txBody>
      </p:sp>
      <p:sp>
        <p:nvSpPr>
          <p:cNvPr id="24" name="about-role"/>
          <p:cNvSpPr>
            <a:spLocks noGrp="1"/>
          </p:cNvSpPr>
          <p:nvPr/>
        </p:nvSpPr>
        <p:spPr>
          <a:xfrm>
            <a:off x="548640" y="15811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C6688"/>
                </a:solidFill>
              </a:defRPr>
            </a:pPr>
            <a:r>
              <a:rPr lang="en-IE" sz="1650" b="0">
                <a:solidFill>
                  <a:srgbClr val="5C6688"/>
                </a:solidFill>
              </a:rPr>
              <a:t>Solution Architect</a:t>
            </a:r>
            <a:endParaRPr lang="en-IE" sz="1650" b="0">
              <a:solidFill>
                <a:srgbClr val="5C6688"/>
              </a:solidFill>
            </a:endParaRPr>
          </a:p>
        </p:txBody>
      </p:sp>
      <p:sp>
        <p:nvSpPr>
          <p:cNvPr id="25" name="about-accent"/>
          <p:cNvSpPr>
            <a:spLocks noGrp="1"/>
          </p:cNvSpPr>
          <p:nvPr/>
        </p:nvSpPr>
        <p:spPr>
          <a:xfrm>
            <a:off x="548640" y="2133600"/>
            <a:ext cx="1428750" cy="47625"/>
          </a:xfrm>
          <a:prstGeom prst="rect">
            <a:avLst/>
          </a:prstGeom>
          <a:solidFill>
            <a:srgbClr val="F6A72B"/>
          </a:solidFill>
          <a:ln w="0">
            <a:solidFill>
              <a:srgbClr val="F6A72B"/>
            </a:solidFill>
            <a:prstDash val="solid"/>
          </a:ln>
        </p:spPr>
      </p:sp>
      <p:sp>
        <p:nvSpPr>
          <p:cNvPr id="26" name="focus-surface"/>
          <p:cNvSpPr>
            <a:spLocks noGrp="1"/>
          </p:cNvSpPr>
          <p:nvPr/>
        </p:nvSpPr>
        <p:spPr>
          <a:xfrm>
            <a:off x="548640" y="2571750"/>
            <a:ext cx="3333750" cy="1695450"/>
          </a:xfrm>
          <a:prstGeom prst="roundRect">
            <a:avLst>
              <a:gd name="adj" fmla="val 6742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27" name="focus-title"/>
          <p:cNvSpPr>
            <a:spLocks noGrp="1"/>
          </p:cNvSpPr>
          <p:nvPr/>
        </p:nvSpPr>
        <p:spPr>
          <a:xfrm>
            <a:off x="662940" y="2647950"/>
            <a:ext cx="310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22D68"/>
                </a:solidFill>
              </a:defRPr>
            </a:pPr>
            <a:r>
              <a:rPr sz="1800" b="1">
                <a:solidFill>
                  <a:srgbClr val="222D68"/>
                </a:solidFill>
              </a:rPr>
              <a:t>What I work with</a:t>
            </a:r>
            <a:endParaRPr sz="1800" b="1">
              <a:solidFill>
                <a:srgbClr val="222D68"/>
              </a:solidFill>
            </a:endParaRPr>
          </a:p>
        </p:txBody>
      </p:sp>
      <p:sp>
        <p:nvSpPr>
          <p:cNvPr id="28" name="focus-body"/>
          <p:cNvSpPr>
            <a:spLocks noGrp="1"/>
          </p:cNvSpPr>
          <p:nvPr/>
        </p:nvSpPr>
        <p:spPr>
          <a:xfrm>
            <a:off x="643890" y="2914650"/>
            <a:ext cx="3143250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Azure architecture</a:t>
            </a:r>
            <a:endParaRPr sz="1350" b="0">
              <a:solidFill>
                <a:srgbClr val="5C6688"/>
              </a:solidFill>
            </a:endParaRPr>
          </a:p>
          <a:p>
            <a:pPr algn="ctr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.NET and APIs</a:t>
            </a:r>
            <a:endParaRPr sz="1350" b="0">
              <a:solidFill>
                <a:srgbClr val="5C6688"/>
              </a:solidFill>
            </a:endParaRPr>
          </a:p>
          <a:p>
            <a:pPr algn="ctr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Containers and DevOps</a:t>
            </a:r>
            <a:endParaRPr sz="1350" b="0">
              <a:solidFill>
                <a:srgbClr val="5C6688"/>
              </a:solidFill>
            </a:endParaRPr>
          </a:p>
          <a:p>
            <a:pPr algn="ctr">
              <a:defRPr sz="1350" b="0">
                <a:solidFill>
                  <a:srgbClr val="5C6688"/>
                </a:solidFill>
              </a:defRPr>
            </a:pPr>
            <a:br>
              <a:rPr sz="1350" b="0">
                <a:solidFill>
                  <a:srgbClr val="5C6688"/>
                </a:solidFill>
              </a:rPr>
            </a:br>
            <a:r>
              <a:rPr lang="en-IE" sz="1350" b="0">
                <a:solidFill>
                  <a:srgbClr val="5C6688"/>
                </a:solidFill>
              </a:rPr>
              <a:t>@AllianzTech (Ireland)</a:t>
            </a:r>
            <a:endParaRPr lang="en-IE" sz="1350" b="0">
              <a:solidFill>
                <a:srgbClr val="5C6688"/>
              </a:solidFill>
            </a:endParaRPr>
          </a:p>
        </p:txBody>
      </p:sp>
      <p:sp>
        <p:nvSpPr>
          <p:cNvPr id="29" name="approach-surface"/>
          <p:cNvSpPr>
            <a:spLocks noGrp="1"/>
          </p:cNvSpPr>
          <p:nvPr/>
        </p:nvSpPr>
        <p:spPr>
          <a:xfrm>
            <a:off x="4191000" y="2571750"/>
            <a:ext cx="3333750" cy="1695450"/>
          </a:xfrm>
          <a:prstGeom prst="roundRect">
            <a:avLst>
              <a:gd name="adj" fmla="val 6742"/>
            </a:avLst>
          </a:prstGeom>
          <a:solidFill>
            <a:srgbClr val="C9DAF8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30" name="approach-title"/>
          <p:cNvSpPr>
            <a:spLocks noGrp="1"/>
          </p:cNvSpPr>
          <p:nvPr/>
        </p:nvSpPr>
        <p:spPr>
          <a:xfrm>
            <a:off x="4305300" y="2647950"/>
            <a:ext cx="310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22D68"/>
                </a:solidFill>
              </a:defRPr>
            </a:pPr>
            <a:r>
              <a:rPr sz="1800" b="1">
                <a:solidFill>
                  <a:srgbClr val="222D68"/>
                </a:solidFill>
              </a:rPr>
              <a:t>How we will learn</a:t>
            </a:r>
            <a:endParaRPr sz="1800" b="1">
              <a:solidFill>
                <a:srgbClr val="222D68"/>
              </a:solidFill>
            </a:endParaRPr>
          </a:p>
        </p:txBody>
      </p:sp>
      <p:sp>
        <p:nvSpPr>
          <p:cNvPr id="31" name="approach-body"/>
          <p:cNvSpPr>
            <a:spLocks noGrp="1"/>
          </p:cNvSpPr>
          <p:nvPr/>
        </p:nvSpPr>
        <p:spPr>
          <a:xfrm>
            <a:off x="4286250" y="2914650"/>
            <a:ext cx="3143250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Understand the trade-off</a:t>
            </a:r>
            <a:endParaRPr sz="1350" b="0">
              <a:solidFill>
                <a:srgbClr val="5C6688"/>
              </a:solidFill>
            </a:endParaRPr>
          </a:p>
          <a:p>
            <a:pPr algn="ctr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Build it live</a:t>
            </a:r>
            <a:endParaRPr sz="1350" b="0">
              <a:solidFill>
                <a:srgbClr val="5C6688"/>
              </a:solidFill>
            </a:endParaRPr>
          </a:p>
          <a:p>
            <a:pPr algn="ctr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Verify it end to end</a:t>
            </a:r>
            <a:endParaRPr sz="1350" b="0">
              <a:solidFill>
                <a:srgbClr val="5C6688"/>
              </a:solidFill>
            </a:endParaRPr>
          </a:p>
          <a:p>
            <a:pPr algn="ctr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Improve the same system</a:t>
            </a:r>
            <a:endParaRPr sz="1350" b="0">
              <a:solidFill>
                <a:srgbClr val="5C6688"/>
              </a:solidFill>
            </a:endParaRPr>
          </a:p>
        </p:txBody>
      </p:sp>
      <p:sp>
        <p:nvSpPr>
          <p:cNvPr id="32" name="course-surface"/>
          <p:cNvSpPr>
            <a:spLocks noGrp="1"/>
          </p:cNvSpPr>
          <p:nvPr/>
        </p:nvSpPr>
        <p:spPr>
          <a:xfrm>
            <a:off x="7829550" y="2571750"/>
            <a:ext cx="3333750" cy="1695450"/>
          </a:xfrm>
          <a:prstGeom prst="roundRect">
            <a:avLst>
              <a:gd name="adj" fmla="val 6742"/>
            </a:avLst>
          </a:prstGeom>
          <a:solidFill>
            <a:srgbClr val="EEF3FB"/>
          </a:solidFill>
          <a:ln w="14288">
            <a:solidFill>
              <a:srgbClr val="C9DAF8"/>
            </a:solidFill>
            <a:prstDash val="solid"/>
          </a:ln>
        </p:spPr>
      </p:sp>
      <p:sp>
        <p:nvSpPr>
          <p:cNvPr id="33" name="course-title"/>
          <p:cNvSpPr>
            <a:spLocks noGrp="1"/>
          </p:cNvSpPr>
          <p:nvPr/>
        </p:nvSpPr>
        <p:spPr>
          <a:xfrm>
            <a:off x="7943850" y="2647950"/>
            <a:ext cx="310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22D68"/>
                </a:solidFill>
              </a:defRPr>
            </a:pPr>
            <a:r>
              <a:rPr sz="1800" b="1">
                <a:solidFill>
                  <a:srgbClr val="222D68"/>
                </a:solidFill>
              </a:rPr>
              <a:t>What to expect</a:t>
            </a:r>
            <a:endParaRPr sz="1800" b="1">
              <a:solidFill>
                <a:srgbClr val="222D68"/>
              </a:solidFill>
            </a:endParaRPr>
          </a:p>
        </p:txBody>
      </p:sp>
      <p:sp>
        <p:nvSpPr>
          <p:cNvPr id="34" name="course-body"/>
          <p:cNvSpPr>
            <a:spLocks noGrp="1"/>
          </p:cNvSpPr>
          <p:nvPr/>
        </p:nvSpPr>
        <p:spPr>
          <a:xfrm>
            <a:off x="7924800" y="2914650"/>
            <a:ext cx="3143250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Practical Azure decisions</a:t>
            </a:r>
            <a:endParaRPr sz="1350" b="0">
              <a:solidFill>
                <a:srgbClr val="5C6688"/>
              </a:solidFill>
            </a:endParaRPr>
          </a:p>
          <a:p>
            <a:pPr algn="ctr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Real deployment issues</a:t>
            </a:r>
            <a:endParaRPr sz="1350" b="0">
              <a:solidFill>
                <a:srgbClr val="5C6688"/>
              </a:solidFill>
            </a:endParaRPr>
          </a:p>
          <a:p>
            <a:pPr algn="ctr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One project across modules</a:t>
            </a:r>
            <a:endParaRPr sz="1350" b="0">
              <a:solidFill>
                <a:srgbClr val="5C6688"/>
              </a:solidFill>
            </a:endParaRPr>
          </a:p>
          <a:p>
            <a:pPr algn="ctr">
              <a:defRPr sz="1350" b="0">
                <a:solidFill>
                  <a:srgbClr val="5C6688"/>
                </a:solidFill>
              </a:defRPr>
            </a:pPr>
            <a:r>
              <a:rPr sz="1350" b="0">
                <a:solidFill>
                  <a:srgbClr val="5C6688"/>
                </a:solidFill>
              </a:rPr>
              <a:t>Questions are welcome</a:t>
            </a:r>
            <a:endParaRPr sz="1350" b="0">
              <a:solidFill>
                <a:srgbClr val="5C6688"/>
              </a:solidFill>
            </a:endParaRPr>
          </a:p>
        </p:txBody>
      </p:sp>
      <p:sp>
        <p:nvSpPr>
          <p:cNvPr id="35" name="contact-bar"/>
          <p:cNvSpPr>
            <a:spLocks noGrp="1"/>
          </p:cNvSpPr>
          <p:nvPr/>
        </p:nvSpPr>
        <p:spPr>
          <a:xfrm>
            <a:off x="548640" y="4762500"/>
            <a:ext cx="10610850" cy="914400"/>
          </a:xfrm>
          <a:prstGeom prst="roundRect">
            <a:avLst>
              <a:gd name="adj" fmla="val 12500"/>
            </a:avLst>
          </a:prstGeom>
          <a:solidFill>
            <a:srgbClr val="222D68"/>
          </a:solidFill>
          <a:ln w="0">
            <a:solidFill>
              <a:srgbClr val="222D68"/>
            </a:solidFill>
            <a:prstDash val="solid"/>
          </a:ln>
        </p:spPr>
      </p:sp>
      <p:sp>
        <p:nvSpPr>
          <p:cNvPr id="36" name="contact-label"/>
          <p:cNvSpPr>
            <a:spLocks noGrp="1"/>
          </p:cNvSpPr>
          <p:nvPr/>
        </p:nvSpPr>
        <p:spPr>
          <a:xfrm>
            <a:off x="819150" y="4953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6A72B"/>
                </a:solidFill>
              </a:defRPr>
            </a:pPr>
            <a:r>
              <a:rPr sz="1125" b="1">
                <a:solidFill>
                  <a:srgbClr val="F6A72B"/>
                </a:solidFill>
              </a:rPr>
              <a:t>CONTACT</a:t>
            </a:r>
            <a:endParaRPr sz="1125" b="1">
              <a:solidFill>
                <a:srgbClr val="F6A72B"/>
              </a:solidFill>
            </a:endParaRPr>
          </a:p>
        </p:txBody>
      </p:sp>
      <p:sp>
        <p:nvSpPr>
          <p:cNvPr id="37" name="contact-email"/>
          <p:cNvSpPr>
            <a:spLocks noGrp="1"/>
          </p:cNvSpPr>
          <p:nvPr/>
        </p:nvSpPr>
        <p:spPr>
          <a:xfrm>
            <a:off x="819150" y="52197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lang="en-US" altLang="en-US" sz="1725" b="1">
                <a:solidFill>
                  <a:srgbClr val="FFFFFF"/>
                </a:solidFill>
              </a:rPr>
              <a:t>guilherme-sonego.neto@estiam.com</a:t>
            </a:r>
            <a:endParaRPr lang="en-US" altLang="en-US" sz="1725" b="1">
              <a:solidFill>
                <a:srgbClr val="FFFFFF"/>
              </a:solidFill>
            </a:endParaRPr>
          </a:p>
        </p:txBody>
      </p:sp>
      <p:sp>
        <p:nvSpPr>
          <p:cNvPr id="38" name="contact-message"/>
          <p:cNvSpPr>
            <a:spLocks noGrp="1"/>
          </p:cNvSpPr>
          <p:nvPr/>
        </p:nvSpPr>
        <p:spPr>
          <a:xfrm>
            <a:off x="5619750" y="504825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DDE5FF"/>
                </a:solidFill>
              </a:defRPr>
            </a:pPr>
            <a:r>
              <a:rPr sz="1350" b="0">
                <a:solidFill>
                  <a:srgbClr val="DDE5FF"/>
                </a:solidFill>
              </a:rPr>
              <a:t>Let’s build, test and understand the system together.</a:t>
            </a:r>
            <a:endParaRPr sz="1350" b="0">
              <a:solidFill>
                <a:srgbClr val="DDE5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731520" y="292608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Next: </a:t>
            </a:r>
            <a:r>
              <a:rPr sz="3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Azure Subscription</a:t>
            </a:r>
            <a:endParaRPr sz="3000" b="1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731520" y="379476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6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Let’s see how to set up an Azure Subscription before moving on</a:t>
            </a:r>
            <a:r>
              <a:rPr sz="16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2713</Words>
  <Application>WPS Presentation</Application>
  <PresentationFormat>Converted Presentation</PresentationFormat>
  <Paragraphs>201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Cambria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Guilherme Sonego Neto</cp:lastModifiedBy>
  <cp:revision>3</cp:revision>
  <dcterms:created xsi:type="dcterms:W3CDTF">2026-08-31T17:54:00Z</dcterms:created>
  <dcterms:modified xsi:type="dcterms:W3CDTF">2026-08-31T19:15:52Z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9D514519D0304B76A07C48EB50F51241_12</vt:lpwstr>
  </property>
  <property fmtid="{D5CDD505-2E9C-101B-9397-08002B2CF9AE}" pid="3" name="KSOProductBuildVer">
    <vt:lpwstr>1033-12.1.0.28485</vt:lpwstr>
  </property>
</Properties>
</file>