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9" Type="http://schemas.openxmlformats.org/officeDocument/2006/relationships/tableStyles" Target="tableStyles.xml"/><Relationship Id="rId38" Type="http://schemas.openxmlformats.org/officeDocument/2006/relationships/viewProps" Target="viewProps.xml"/><Relationship Id="rId37" Type="http://schemas.openxmlformats.org/officeDocument/2006/relationships/presProps" Target="presProps.xml"/><Relationship Id="rId36" Type="http://schemas.openxmlformats.org/officeDocument/2006/relationships/slide" Target="slides/slide32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8778240" y="-2011680"/>
            <a:ext cx="5486400" cy="5486400"/>
          </a:xfrm>
          <a:prstGeom prst="ellipse">
            <a:avLst/>
          </a:prstGeom>
          <a:solidFill>
            <a:srgbClr val="141A47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141A47"/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731520" y="214884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 spc="3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</a:t>
            </a:r>
            <a:endParaRPr sz="15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731520" y="2560320"/>
            <a:ext cx="9601200" cy="1463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4000" b="1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Develop Azure Computing Solutions</a:t>
            </a:r>
            <a:endParaRPr sz="40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731520" y="388620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80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App Service  ·  </a:t>
            </a:r>
            <a:r>
              <a:rPr lang="en-IE" sz="180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Azure </a:t>
            </a:r>
            <a:r>
              <a:rPr sz="180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Containers  </a:t>
            </a:r>
            <a:r>
              <a:rPr lang="en-IE" sz="180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Apps </a:t>
            </a:r>
            <a:r>
              <a:rPr sz="180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·  Azure Functions</a:t>
            </a:r>
            <a:endParaRPr sz="180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731520" y="59436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9AA3C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  —  Day 1, Morning  (3.5h)</a:t>
            </a:r>
            <a:endParaRPr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BEFORE WE START</a:t>
            </a:r>
            <a:endParaRPr sz="1300"/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Quick show of hands</a:t>
            </a:r>
            <a:endParaRPr sz="3000"/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548640" y="1600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Rate your experience 1 (never used) – 5 (comfortable) with:</a:t>
            </a:r>
            <a:endParaRPr sz="1500"/>
          </a:p>
        </p:txBody>
      </p:sp>
      <p:sp>
        <p:nvSpPr>
          <p:cNvPr id="5" name="Shape 3"/>
          <p:cNvSpPr>
            <a:spLocks noGrp="1"/>
          </p:cNvSpPr>
          <p:nvPr/>
        </p:nvSpPr>
        <p:spPr>
          <a:xfrm>
            <a:off x="548640" y="2240280"/>
            <a:ext cx="10515600" cy="685800"/>
          </a:xfrm>
          <a:prstGeom prst="roundRect">
            <a:avLst>
              <a:gd name="adj" fmla="val 12000"/>
            </a:avLst>
          </a:prstGeom>
          <a:solidFill>
            <a:srgbClr val="EEF3FD"/>
          </a:solidFill>
        </p:spPr>
      </p:sp>
      <p:sp>
        <p:nvSpPr>
          <p:cNvPr id="6" name="Shape 4"/>
          <p:cNvSpPr>
            <a:spLocks noGrp="1"/>
          </p:cNvSpPr>
          <p:nvPr/>
        </p:nvSpPr>
        <p:spPr>
          <a:xfrm>
            <a:off x="777240" y="2345436"/>
            <a:ext cx="475488" cy="475488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7" name="Text 5"/>
          <p:cNvSpPr>
            <a:spLocks noGrp="1"/>
          </p:cNvSpPr>
          <p:nvPr/>
        </p:nvSpPr>
        <p:spPr>
          <a:xfrm>
            <a:off x="777240" y="234543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1</a:t>
            </a:r>
            <a:endParaRPr sz="1800"/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1508760" y="2240280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Containers (Docker)</a:t>
            </a:r>
            <a:endParaRPr sz="1700"/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548640" y="3108960"/>
            <a:ext cx="10515600" cy="685800"/>
          </a:xfrm>
          <a:prstGeom prst="roundRect">
            <a:avLst>
              <a:gd name="adj" fmla="val 12000"/>
            </a:avLst>
          </a:prstGeom>
          <a:solidFill>
            <a:srgbClr val="EEF3FD"/>
          </a:solidFill>
        </p:spPr>
      </p:sp>
      <p:sp>
        <p:nvSpPr>
          <p:cNvPr id="10" name="Shape 8"/>
          <p:cNvSpPr>
            <a:spLocks noGrp="1"/>
          </p:cNvSpPr>
          <p:nvPr/>
        </p:nvSpPr>
        <p:spPr>
          <a:xfrm>
            <a:off x="777240" y="3214116"/>
            <a:ext cx="475488" cy="475488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777240" y="321411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2</a:t>
            </a:r>
            <a:endParaRPr sz="1800"/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1508760" y="3108960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Azure (Portal / any service)</a:t>
            </a:r>
            <a:endParaRPr sz="1700"/>
          </a:p>
        </p:txBody>
      </p:sp>
      <p:sp>
        <p:nvSpPr>
          <p:cNvPr id="13" name="Shape 11"/>
          <p:cNvSpPr>
            <a:spLocks noGrp="1"/>
          </p:cNvSpPr>
          <p:nvPr/>
        </p:nvSpPr>
        <p:spPr>
          <a:xfrm>
            <a:off x="548640" y="3977640"/>
            <a:ext cx="10515600" cy="685800"/>
          </a:xfrm>
          <a:prstGeom prst="roundRect">
            <a:avLst>
              <a:gd name="adj" fmla="val 12000"/>
            </a:avLst>
          </a:prstGeom>
          <a:solidFill>
            <a:srgbClr val="EEF3FD"/>
          </a:solidFill>
        </p:spPr>
      </p:sp>
      <p:sp>
        <p:nvSpPr>
          <p:cNvPr id="14" name="Shape 12"/>
          <p:cNvSpPr>
            <a:spLocks noGrp="1"/>
          </p:cNvSpPr>
          <p:nvPr/>
        </p:nvSpPr>
        <p:spPr>
          <a:xfrm>
            <a:off x="777240" y="4082796"/>
            <a:ext cx="475488" cy="475488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5" name="Text 13"/>
          <p:cNvSpPr>
            <a:spLocks noGrp="1"/>
          </p:cNvSpPr>
          <p:nvPr/>
        </p:nvSpPr>
        <p:spPr>
          <a:xfrm>
            <a:off x="777240" y="408279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3</a:t>
            </a:r>
            <a:endParaRPr sz="1800"/>
          </a:p>
        </p:txBody>
      </p:sp>
      <p:sp>
        <p:nvSpPr>
          <p:cNvPr id="16" name="Text 14"/>
          <p:cNvSpPr>
            <a:spLocks noGrp="1"/>
          </p:cNvSpPr>
          <p:nvPr/>
        </p:nvSpPr>
        <p:spPr>
          <a:xfrm>
            <a:off x="1508760" y="3977640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.NET / C#</a:t>
            </a:r>
            <a:endParaRPr sz="1700"/>
          </a:p>
        </p:txBody>
      </p:sp>
      <p:sp>
        <p:nvSpPr>
          <p:cNvPr id="17" name="Shape 15"/>
          <p:cNvSpPr>
            <a:spLocks noGrp="1"/>
          </p:cNvSpPr>
          <p:nvPr/>
        </p:nvSpPr>
        <p:spPr>
          <a:xfrm>
            <a:off x="548640" y="4846320"/>
            <a:ext cx="10515600" cy="685800"/>
          </a:xfrm>
          <a:prstGeom prst="roundRect">
            <a:avLst>
              <a:gd name="adj" fmla="val 12000"/>
            </a:avLst>
          </a:prstGeom>
          <a:solidFill>
            <a:srgbClr val="EEF3FD"/>
          </a:solidFill>
        </p:spPr>
      </p:sp>
      <p:sp>
        <p:nvSpPr>
          <p:cNvPr id="18" name="Shape 16"/>
          <p:cNvSpPr>
            <a:spLocks noGrp="1"/>
          </p:cNvSpPr>
          <p:nvPr/>
        </p:nvSpPr>
        <p:spPr>
          <a:xfrm>
            <a:off x="777240" y="4951476"/>
            <a:ext cx="475488" cy="475488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9" name="Text 17"/>
          <p:cNvSpPr>
            <a:spLocks noGrp="1"/>
          </p:cNvSpPr>
          <p:nvPr/>
        </p:nvSpPr>
        <p:spPr>
          <a:xfrm>
            <a:off x="777240" y="495147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4</a:t>
            </a:r>
            <a:endParaRPr sz="1800"/>
          </a:p>
        </p:txBody>
      </p:sp>
      <p:sp>
        <p:nvSpPr>
          <p:cNvPr id="20" name="Text 18"/>
          <p:cNvSpPr>
            <a:spLocks noGrp="1"/>
          </p:cNvSpPr>
          <p:nvPr/>
        </p:nvSpPr>
        <p:spPr>
          <a:xfrm>
            <a:off x="1508760" y="4846320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Git</a:t>
            </a:r>
            <a:endParaRPr sz="1700"/>
          </a:p>
        </p:txBody>
      </p:sp>
      <p:sp>
        <p:nvSpPr>
          <p:cNvPr id="21" name="Text 19"/>
          <p:cNvSpPr>
            <a:spLocks noGrp="1"/>
          </p:cNvSpPr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Opening poll</a:t>
            </a:r>
            <a:endParaRPr sz="1000"/>
          </a:p>
        </p:txBody>
      </p:sp>
      <p:sp>
        <p:nvSpPr>
          <p:cNvPr id="22" name="Text 20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AGENDA</a:t>
            </a:r>
            <a:endParaRPr sz="1300"/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This morning</a:t>
            </a:r>
            <a:endParaRPr sz="30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48640" y="17373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EEF3FD"/>
          </a:solidFill>
        </p:spPr>
      </p:sp>
      <p:sp>
        <p:nvSpPr>
          <p:cNvPr id="5" name="Shape 3"/>
          <p:cNvSpPr>
            <a:spLocks noGrp="1"/>
          </p:cNvSpPr>
          <p:nvPr/>
        </p:nvSpPr>
        <p:spPr>
          <a:xfrm>
            <a:off x="868680" y="2093976"/>
            <a:ext cx="475488" cy="475488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6" name="Text 4"/>
          <p:cNvSpPr>
            <a:spLocks noGrp="1"/>
          </p:cNvSpPr>
          <p:nvPr/>
        </p:nvSpPr>
        <p:spPr>
          <a:xfrm>
            <a:off x="868680" y="209397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01</a:t>
            </a:r>
            <a:endParaRPr sz="1800"/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1783080" y="187452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Implement Azure App Service Web Apps</a:t>
            </a:r>
            <a:endParaRPr sz="1900" b="1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1783080" y="235915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Plans, tiers, and deploying a container to App Service</a:t>
            </a:r>
            <a:endParaRPr sz="135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548640" y="315468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EEF3FD"/>
          </a:solidFill>
        </p:spPr>
      </p:sp>
      <p:sp>
        <p:nvSpPr>
          <p:cNvPr id="10" name="Shape 8"/>
          <p:cNvSpPr>
            <a:spLocks noGrp="1"/>
          </p:cNvSpPr>
          <p:nvPr/>
        </p:nvSpPr>
        <p:spPr>
          <a:xfrm>
            <a:off x="868680" y="3511296"/>
            <a:ext cx="475488" cy="475488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868680" y="351129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02</a:t>
            </a:r>
            <a:endParaRPr sz="1800"/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1783080" y="329184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Implement Containerized Solutions</a:t>
            </a:r>
            <a:endParaRPr sz="1900" b="1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1783080" y="377647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ACA · ACI · AKS — which one, and why · revisions and canary</a:t>
            </a:r>
            <a:endParaRPr sz="135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4" name="Shape 12"/>
          <p:cNvSpPr>
            <a:spLocks noGrp="1"/>
          </p:cNvSpPr>
          <p:nvPr/>
        </p:nvSpPr>
        <p:spPr>
          <a:xfrm>
            <a:off x="548640" y="457200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EEF3FD"/>
          </a:solidFill>
        </p:spPr>
      </p:sp>
      <p:sp>
        <p:nvSpPr>
          <p:cNvPr id="15" name="Shape 13"/>
          <p:cNvSpPr>
            <a:spLocks noGrp="1"/>
          </p:cNvSpPr>
          <p:nvPr/>
        </p:nvSpPr>
        <p:spPr>
          <a:xfrm>
            <a:off x="868680" y="4928616"/>
            <a:ext cx="475488" cy="475488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868680" y="492861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03</a:t>
            </a:r>
            <a:endParaRPr sz="1800"/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1783080" y="470916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Azure Functions — theory (we build it in Module 5)</a:t>
            </a:r>
            <a:endParaRPr sz="1900" b="1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1783080" y="519379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Event-driven compute: triggers, bindings, hosting plans</a:t>
            </a:r>
            <a:endParaRPr sz="135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9" name="Text 17"/>
          <p:cNvSpPr>
            <a:spLocks noGrp="1"/>
          </p:cNvSpPr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Interleaved format: theory → live demo → mini-practice, per topic   ·   FYI: AZ-204 retired 31 July 2026 and is replaced by AI-200 — we teach the ÉSTIAM programme as defined</a:t>
            </a:r>
            <a:endParaRPr sz="100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0" name="Text 18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-2286000" y="3931920"/>
            <a:ext cx="5486400" cy="5486400"/>
          </a:xfrm>
          <a:prstGeom prst="ellipse">
            <a:avLst/>
          </a:prstGeom>
          <a:solidFill>
            <a:srgbClr val="141A47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731520" y="2331720"/>
            <a:ext cx="822960" cy="822960"/>
          </a:xfrm>
          <a:prstGeom prst="ellipse">
            <a:avLst/>
          </a:prstGeom>
          <a:solidFill>
            <a:srgbClr val="F2A93B"/>
          </a:solidFill>
        </p:spPr>
        <p:txBody>
          <a:bodyPr/>
          <a:lstStyle/>
          <a:p/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731520" y="233172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/>
              <a:t>0</a:t>
            </a:r>
            <a:endParaRPr sz="18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731520" y="329184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What’s Azure ??</a:t>
            </a:r>
            <a:endParaRPr sz="3600" b="1">
              <a:solidFill>
                <a:srgbClr val="FFFFFF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731520" y="416052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It’s just somebody else’s server... </a:t>
            </a:r>
            <a:endParaRPr sz="160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13" name="Pictur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8175" y="1612900"/>
            <a:ext cx="4881880" cy="39357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AZURE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Why should I use it ?</a:t>
            </a:r>
            <a:endParaRPr sz="3000" b="1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48640" y="17373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EEF3FD"/>
          </a:solidFill>
        </p:spPr>
        <p:txBody>
          <a:bodyPr/>
          <a:lstStyle/>
          <a:p/>
        </p:txBody>
      </p:sp>
      <p:sp>
        <p:nvSpPr>
          <p:cNvPr id="5" name="Shape 3"/>
          <p:cNvSpPr>
            <a:spLocks noGrp="1"/>
          </p:cNvSpPr>
          <p:nvPr/>
        </p:nvSpPr>
        <p:spPr>
          <a:xfrm>
            <a:off x="868680" y="2093976"/>
            <a:ext cx="475488" cy="475488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6" name="Text 4"/>
          <p:cNvSpPr>
            <a:spLocks noGrp="1"/>
          </p:cNvSpPr>
          <p:nvPr/>
        </p:nvSpPr>
        <p:spPr>
          <a:xfrm>
            <a:off x="868680" y="209397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01</a:t>
            </a:r>
            <a:endParaRPr sz="1800"/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1783080" y="187452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Scalability</a:t>
            </a:r>
            <a:endParaRPr sz="1900"/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1783080" y="235915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Easily scale applications up or down based on demand</a:t>
            </a:r>
            <a:endParaRPr sz="1350"/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548640" y="315468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EEF3FD"/>
          </a:solidFill>
        </p:spPr>
      </p:sp>
      <p:sp>
        <p:nvSpPr>
          <p:cNvPr id="10" name="Shape 8"/>
          <p:cNvSpPr>
            <a:spLocks noGrp="1"/>
          </p:cNvSpPr>
          <p:nvPr/>
        </p:nvSpPr>
        <p:spPr>
          <a:xfrm>
            <a:off x="868680" y="3511296"/>
            <a:ext cx="475488" cy="475488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868680" y="351129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02</a:t>
            </a:r>
            <a:endParaRPr sz="1800"/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1783080" y="329184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Reduced Infra Management</a:t>
            </a:r>
            <a:endParaRPr sz="1900" b="1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1783080" y="377647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Focus on software instead of maintaining physical servers</a:t>
            </a:r>
            <a:endParaRPr sz="1350"/>
          </a:p>
        </p:txBody>
      </p:sp>
      <p:sp>
        <p:nvSpPr>
          <p:cNvPr id="14" name="Shape 12"/>
          <p:cNvSpPr>
            <a:spLocks noGrp="1"/>
          </p:cNvSpPr>
          <p:nvPr/>
        </p:nvSpPr>
        <p:spPr>
          <a:xfrm>
            <a:off x="548640" y="457200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EEF3FD"/>
          </a:solidFill>
        </p:spPr>
      </p:sp>
      <p:sp>
        <p:nvSpPr>
          <p:cNvPr id="15" name="Shape 13"/>
          <p:cNvSpPr>
            <a:spLocks noGrp="1"/>
          </p:cNvSpPr>
          <p:nvPr/>
        </p:nvSpPr>
        <p:spPr>
          <a:xfrm>
            <a:off x="868680" y="4928616"/>
            <a:ext cx="475488" cy="475488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868680" y="492861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03</a:t>
            </a:r>
            <a:endParaRPr sz="1800"/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1783080" y="470916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Pay-as-you-go pricing</a:t>
            </a:r>
            <a:endParaRPr sz="1900" b="1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1783080" y="519379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Pay primarily for the resources you consume</a:t>
            </a:r>
            <a:endParaRPr sz="1350"/>
          </a:p>
        </p:txBody>
      </p:sp>
      <p:sp>
        <p:nvSpPr>
          <p:cNvPr id="20" name="Text 18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AZURE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Why should I use it ?</a:t>
            </a:r>
            <a:endParaRPr sz="3000" b="1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48640" y="17373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EEF3FD"/>
          </a:solidFill>
        </p:spPr>
        <p:txBody>
          <a:bodyPr/>
          <a:lstStyle/>
          <a:p/>
        </p:txBody>
      </p:sp>
      <p:sp>
        <p:nvSpPr>
          <p:cNvPr id="5" name="Shape 3"/>
          <p:cNvSpPr>
            <a:spLocks noGrp="1"/>
          </p:cNvSpPr>
          <p:nvPr/>
        </p:nvSpPr>
        <p:spPr>
          <a:xfrm>
            <a:off x="868680" y="2093976"/>
            <a:ext cx="475488" cy="475488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6" name="Text 4"/>
          <p:cNvSpPr>
            <a:spLocks noGrp="1"/>
          </p:cNvSpPr>
          <p:nvPr/>
        </p:nvSpPr>
        <p:spPr>
          <a:xfrm>
            <a:off x="868680" y="209397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0</a:t>
            </a: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4</a:t>
            </a:r>
            <a:endParaRPr sz="1800" b="1">
              <a:solidFill>
                <a:srgbClr val="141A47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1783080" y="187452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Security</a:t>
            </a:r>
            <a:endParaRPr sz="1900"/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1783080" y="235915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Built-in identity, access control, encryption, monitoring, and compliance capabilities</a:t>
            </a:r>
            <a:endParaRPr sz="1350"/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548640" y="315468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EEF3FD"/>
          </a:solidFill>
        </p:spPr>
      </p:sp>
      <p:sp>
        <p:nvSpPr>
          <p:cNvPr id="10" name="Shape 8"/>
          <p:cNvSpPr>
            <a:spLocks noGrp="1"/>
          </p:cNvSpPr>
          <p:nvPr/>
        </p:nvSpPr>
        <p:spPr>
          <a:xfrm>
            <a:off x="868680" y="3511296"/>
            <a:ext cx="475488" cy="475488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868680" y="351129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0</a:t>
            </a: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5</a:t>
            </a:r>
            <a:endParaRPr sz="1800" b="1">
              <a:solidFill>
                <a:srgbClr val="141A47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1783080" y="329184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Fast Deployment</a:t>
            </a:r>
            <a:endParaRPr sz="1900" b="1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1783080" y="377647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Provision infrastructure and deploy applications quickly</a:t>
            </a:r>
            <a:endParaRPr sz="1350"/>
          </a:p>
        </p:txBody>
      </p:sp>
      <p:sp>
        <p:nvSpPr>
          <p:cNvPr id="14" name="Shape 12"/>
          <p:cNvSpPr>
            <a:spLocks noGrp="1"/>
          </p:cNvSpPr>
          <p:nvPr/>
        </p:nvSpPr>
        <p:spPr>
          <a:xfrm>
            <a:off x="548640" y="457200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EEF3FD"/>
          </a:solidFill>
        </p:spPr>
      </p:sp>
      <p:sp>
        <p:nvSpPr>
          <p:cNvPr id="15" name="Shape 13"/>
          <p:cNvSpPr>
            <a:spLocks noGrp="1"/>
          </p:cNvSpPr>
          <p:nvPr/>
        </p:nvSpPr>
        <p:spPr>
          <a:xfrm>
            <a:off x="868680" y="4928616"/>
            <a:ext cx="475488" cy="475488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868680" y="492861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0</a:t>
            </a: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6</a:t>
            </a:r>
            <a:endParaRPr sz="1800" b="1">
              <a:solidFill>
                <a:srgbClr val="141A47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1783080" y="470916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Managed services</a:t>
            </a:r>
            <a:endParaRPr sz="1900" b="1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1783080" y="519379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Use databases, messaging, storage, AI, APIs, and other services without managing the underlying infrastructure</a:t>
            </a:r>
            <a:endParaRPr sz="1350"/>
          </a:p>
        </p:txBody>
      </p:sp>
      <p:sp>
        <p:nvSpPr>
          <p:cNvPr id="20" name="Text 18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AZURE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Why should I use it ?</a:t>
            </a:r>
            <a:endParaRPr sz="3000" b="1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48640" y="17373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EEF3FD"/>
          </a:solidFill>
        </p:spPr>
        <p:txBody>
          <a:bodyPr/>
          <a:lstStyle/>
          <a:p/>
        </p:txBody>
      </p:sp>
      <p:sp>
        <p:nvSpPr>
          <p:cNvPr id="5" name="Shape 3"/>
          <p:cNvSpPr>
            <a:spLocks noGrp="1"/>
          </p:cNvSpPr>
          <p:nvPr/>
        </p:nvSpPr>
        <p:spPr>
          <a:xfrm>
            <a:off x="868680" y="2093976"/>
            <a:ext cx="475488" cy="475488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6" name="Text 4"/>
          <p:cNvSpPr>
            <a:spLocks noGrp="1"/>
          </p:cNvSpPr>
          <p:nvPr/>
        </p:nvSpPr>
        <p:spPr>
          <a:xfrm>
            <a:off x="868680" y="209397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0</a:t>
            </a: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7</a:t>
            </a:r>
            <a:endParaRPr sz="1800" b="1">
              <a:solidFill>
                <a:srgbClr val="141A47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1783080" y="187452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DevOps integration</a:t>
            </a:r>
            <a:endParaRPr sz="1900"/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1783080" y="235915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Strong support for CI/CD, GitHub, Azure DevOps, monitoring, and automation</a:t>
            </a:r>
            <a:endParaRPr sz="1350"/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548640" y="315468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EEF3FD"/>
          </a:solidFill>
        </p:spPr>
      </p:sp>
      <p:sp>
        <p:nvSpPr>
          <p:cNvPr id="10" name="Shape 8"/>
          <p:cNvSpPr>
            <a:spLocks noGrp="1"/>
          </p:cNvSpPr>
          <p:nvPr/>
        </p:nvSpPr>
        <p:spPr>
          <a:xfrm>
            <a:off x="868680" y="3511296"/>
            <a:ext cx="475488" cy="475488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868680" y="351129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0</a:t>
            </a: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8</a:t>
            </a:r>
            <a:endParaRPr sz="1800" b="1">
              <a:solidFill>
                <a:srgbClr val="141A47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1783080" y="329184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Global reach</a:t>
            </a:r>
            <a:endParaRPr sz="1900" b="1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1783080" y="377647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Deploy applications closer to users using Azure regions worldwide.</a:t>
            </a:r>
            <a:endParaRPr sz="1350"/>
          </a:p>
        </p:txBody>
      </p:sp>
      <p:sp>
        <p:nvSpPr>
          <p:cNvPr id="14" name="Shape 12"/>
          <p:cNvSpPr>
            <a:spLocks noGrp="1"/>
          </p:cNvSpPr>
          <p:nvPr/>
        </p:nvSpPr>
        <p:spPr>
          <a:xfrm>
            <a:off x="548640" y="457200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EEF3FD"/>
          </a:solidFill>
        </p:spPr>
      </p:sp>
      <p:sp>
        <p:nvSpPr>
          <p:cNvPr id="15" name="Shape 13"/>
          <p:cNvSpPr>
            <a:spLocks noGrp="1"/>
          </p:cNvSpPr>
          <p:nvPr/>
        </p:nvSpPr>
        <p:spPr>
          <a:xfrm>
            <a:off x="868680" y="4928616"/>
            <a:ext cx="475488" cy="475488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868680" y="492861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0</a:t>
            </a: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9</a:t>
            </a:r>
            <a:endParaRPr sz="1800" b="1">
              <a:solidFill>
                <a:srgbClr val="141A47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1783080" y="470916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Microsoft ecosystem</a:t>
            </a:r>
            <a:endParaRPr sz="1900" b="1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1783080" y="519379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Excellent integration with .NET, Windows, Microsoft 365, Entra ID, Visual Studio, and GitHub</a:t>
            </a:r>
            <a:endParaRPr sz="1350"/>
          </a:p>
        </p:txBody>
      </p:sp>
      <p:sp>
        <p:nvSpPr>
          <p:cNvPr id="20" name="Text 18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AZURE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Services</a:t>
            </a:r>
            <a:endParaRPr sz="3000" b="1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20" name="Text 18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/>
          </a:p>
        </p:txBody>
      </p:sp>
      <p:pic>
        <p:nvPicPr>
          <p:cNvPr id="25" name="Picture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1565" y="1508760"/>
            <a:ext cx="6754495" cy="43237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300" b="1" i="0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SETUP  ·  LIVE DEMO</a:t>
            </a:r>
            <a:endParaRPr sz="1300" b="1" i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Box 2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000" b="1" i="0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Subscription, CLI, resource group, providers</a:t>
            </a:r>
            <a:endParaRPr sz="3000" b="1" i="0">
              <a:solidFill>
                <a:srgbClr val="FFFFFF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" name="TextBox 3"/>
          <p:cNvSpPr>
            <a:spLocks noGrp="1"/>
          </p:cNvSpPr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Everything from here on assumes these four things are done.</a:t>
            </a:r>
            <a:endParaRPr sz="1400" b="0" i="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TextBox 4"/>
          <p:cNvSpPr>
            <a:spLocks noGrp="1"/>
          </p:cNvSpPr>
          <p:nvPr/>
        </p:nvSpPr>
        <p:spPr>
          <a:xfrm>
            <a:off x="777240" y="1993392"/>
            <a:ext cx="10607040" cy="3675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--version                     # 64-bit build only (an x86 CLI breaks extensions later)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login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account show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account list --output table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account set --subscription "&lt;name-or-id&gt;"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Names go in variables: one place to change them when Azure rejects one.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$LOCATION = "westcentralus"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$RG       = "rg-estiam-dev-2"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group create --name $RG --location $LOCATION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group list --output table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Every resource TYPE must be registered on the subscription before first use: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provider register --namespace &lt;Provider.Namespace&gt;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provider show --namespace &lt;Provider.Namespace&gt; --query registrationState -o tsv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6" name="TextBox 5"/>
          <p:cNvSpPr>
            <a:spLocks noGrp="1"/>
          </p:cNvSpPr>
          <p:nvPr/>
        </p:nvSpPr>
        <p:spPr>
          <a:xfrm>
            <a:off x="548640" y="5742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150" b="0" i="1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Variables do not survive closing the terminal. Re-run them (or materials/variables.ps1) at the start of every session — including tomorrow morning.</a:t>
            </a:r>
            <a:endParaRPr sz="1150" b="0" i="1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Box 6"/>
          <p:cNvSpPr>
            <a:spLocks noGrp="1"/>
          </p:cNvSpPr>
          <p:nvPr/>
        </p:nvSpPr>
        <p:spPr>
          <a:xfrm>
            <a:off x="457200" y="6473952"/>
            <a:ext cx="6949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9AA3C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One resource group for all three days — do not delete it tonight</a:t>
            </a:r>
            <a:endParaRPr sz="1000" b="0" i="0">
              <a:solidFill>
                <a:srgbClr val="9AA3C7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8" name="TextBox 7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9AA3C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 b="0" i="0">
              <a:solidFill>
                <a:srgbClr val="9AA3C7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-2286000" y="3931920"/>
            <a:ext cx="5486400" cy="5486400"/>
          </a:xfrm>
          <a:prstGeom prst="ellipse">
            <a:avLst/>
          </a:prstGeom>
          <a:solidFill>
            <a:srgbClr val="141A47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731520" y="2331720"/>
            <a:ext cx="822960" cy="822960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731520" y="233172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1</a:t>
            </a:r>
            <a:endParaRPr sz="1800" b="1">
              <a:solidFill>
                <a:srgbClr val="141A47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731520" y="329184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Deploy Applications with Azure App Service</a:t>
            </a:r>
            <a:endParaRPr sz="3600" b="1">
              <a:solidFill>
                <a:srgbClr val="FFFFFF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731520" y="416052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Fully managed PaaS: you own the app, Azure owns everything under it.</a:t>
            </a:r>
            <a:endParaRPr sz="160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TOPIC 1  ·  WHERE A CONTAINER CAN RUN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Quick refresher: image vs container</a:t>
            </a:r>
            <a:endParaRPr sz="3000" b="1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26" name="Text 24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/>
          </a:p>
        </p:txBody>
      </p:sp>
      <p:pic>
        <p:nvPicPr>
          <p:cNvPr id="31" name="Picture 2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3550" y="1557020"/>
            <a:ext cx="8724900" cy="491045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TOPIC 1  ·  WHERE A CONTAINER CAN RUN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Four places to run a container</a:t>
            </a:r>
            <a:endParaRPr sz="30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48640" y="1691640"/>
            <a:ext cx="2542032" cy="3246120"/>
          </a:xfrm>
          <a:prstGeom prst="roundRect">
            <a:avLst>
              <a:gd name="adj" fmla="val 3237"/>
            </a:avLst>
          </a:prstGeom>
          <a:solidFill>
            <a:srgbClr val="CADCFC"/>
          </a:solidFill>
        </p:spPr>
      </p:sp>
      <p:sp>
        <p:nvSpPr>
          <p:cNvPr id="5" name="Shape 3"/>
          <p:cNvSpPr>
            <a:spLocks noGrp="1"/>
          </p:cNvSpPr>
          <p:nvPr/>
        </p:nvSpPr>
        <p:spPr>
          <a:xfrm>
            <a:off x="548640" y="1691640"/>
            <a:ext cx="2542032" cy="6858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</p:spPr>
      </p:sp>
      <p:sp>
        <p:nvSpPr>
          <p:cNvPr id="6" name="Text 4"/>
          <p:cNvSpPr>
            <a:spLocks noGrp="1"/>
          </p:cNvSpPr>
          <p:nvPr/>
        </p:nvSpPr>
        <p:spPr>
          <a:xfrm>
            <a:off x="685800" y="1691640"/>
            <a:ext cx="22677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Azure Container Apps</a:t>
            </a:r>
            <a:endParaRPr sz="1350"/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713232" y="2560320"/>
            <a:ext cx="2212848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Microservices, event-driven, scale to zero</a:t>
            </a:r>
            <a:endParaRPr sz="1250"/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713232" y="4434840"/>
            <a:ext cx="2212848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i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The modern default</a:t>
            </a:r>
            <a:endParaRPr sz="1200"/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3255264" y="1691640"/>
            <a:ext cx="2542032" cy="3246120"/>
          </a:xfrm>
          <a:prstGeom prst="roundRect">
            <a:avLst>
              <a:gd name="adj" fmla="val 3237"/>
            </a:avLst>
          </a:prstGeom>
          <a:solidFill>
            <a:srgbClr val="EEF3FD"/>
          </a:solidFill>
        </p:spPr>
      </p:sp>
      <p:sp>
        <p:nvSpPr>
          <p:cNvPr id="10" name="Shape 8"/>
          <p:cNvSpPr>
            <a:spLocks noGrp="1"/>
          </p:cNvSpPr>
          <p:nvPr/>
        </p:nvSpPr>
        <p:spPr>
          <a:xfrm>
            <a:off x="3255264" y="1691640"/>
            <a:ext cx="2542032" cy="6858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3392424" y="1691640"/>
            <a:ext cx="22677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Container Instances (ACI)</a:t>
            </a:r>
            <a:endParaRPr sz="1350"/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3419856" y="2560320"/>
            <a:ext cx="2212848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Simple, one-off runs — no orchestration</a:t>
            </a:r>
            <a:endParaRPr sz="1250"/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3419856" y="4434840"/>
            <a:ext cx="2212848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i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 building block</a:t>
            </a:r>
            <a:endParaRPr sz="1200"/>
          </a:p>
        </p:txBody>
      </p:sp>
      <p:sp>
        <p:nvSpPr>
          <p:cNvPr id="14" name="Shape 12"/>
          <p:cNvSpPr>
            <a:spLocks noGrp="1"/>
          </p:cNvSpPr>
          <p:nvPr/>
        </p:nvSpPr>
        <p:spPr>
          <a:xfrm>
            <a:off x="5961888" y="1691640"/>
            <a:ext cx="2542032" cy="3246120"/>
          </a:xfrm>
          <a:prstGeom prst="roundRect">
            <a:avLst>
              <a:gd name="adj" fmla="val 3237"/>
            </a:avLst>
          </a:prstGeom>
          <a:solidFill>
            <a:srgbClr val="EEF3FD"/>
          </a:solidFill>
        </p:spPr>
      </p:sp>
      <p:sp>
        <p:nvSpPr>
          <p:cNvPr id="15" name="Shape 13"/>
          <p:cNvSpPr>
            <a:spLocks noGrp="1"/>
          </p:cNvSpPr>
          <p:nvPr/>
        </p:nvSpPr>
        <p:spPr>
          <a:xfrm>
            <a:off x="5961888" y="1691640"/>
            <a:ext cx="2542032" cy="6858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6099048" y="1691640"/>
            <a:ext cx="22677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Kubernetes Service (AKS)</a:t>
            </a:r>
            <a:endParaRPr sz="1350"/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6126480" y="2560320"/>
            <a:ext cx="2212848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Full K8s API control needed</a:t>
            </a:r>
            <a:endParaRPr sz="1250"/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6126480" y="4434840"/>
            <a:ext cx="2212848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i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Real thing, real ops</a:t>
            </a:r>
            <a:endParaRPr sz="1200"/>
          </a:p>
        </p:txBody>
      </p:sp>
      <p:sp>
        <p:nvSpPr>
          <p:cNvPr id="19" name="Shape 17"/>
          <p:cNvSpPr>
            <a:spLocks noGrp="1"/>
          </p:cNvSpPr>
          <p:nvPr/>
        </p:nvSpPr>
        <p:spPr>
          <a:xfrm>
            <a:off x="8668512" y="1691640"/>
            <a:ext cx="2542032" cy="3246120"/>
          </a:xfrm>
          <a:prstGeom prst="roundRect">
            <a:avLst>
              <a:gd name="adj" fmla="val 3237"/>
            </a:avLst>
          </a:prstGeom>
          <a:solidFill>
            <a:srgbClr val="EEF3FD"/>
          </a:solidFill>
        </p:spPr>
      </p:sp>
      <p:sp>
        <p:nvSpPr>
          <p:cNvPr id="20" name="Shape 18"/>
          <p:cNvSpPr>
            <a:spLocks noGrp="1"/>
          </p:cNvSpPr>
          <p:nvPr/>
        </p:nvSpPr>
        <p:spPr>
          <a:xfrm>
            <a:off x="8668512" y="1691640"/>
            <a:ext cx="2542032" cy="6858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</p:spPr>
      </p:sp>
      <p:sp>
        <p:nvSpPr>
          <p:cNvPr id="21" name="Text 19"/>
          <p:cNvSpPr>
            <a:spLocks noGrp="1"/>
          </p:cNvSpPr>
          <p:nvPr/>
        </p:nvSpPr>
        <p:spPr>
          <a:xfrm>
            <a:off x="8805672" y="1691640"/>
            <a:ext cx="22677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App Service (containers)</a:t>
            </a:r>
            <a:endParaRPr sz="1350"/>
          </a:p>
        </p:txBody>
      </p:sp>
      <p:sp>
        <p:nvSpPr>
          <p:cNvPr id="22" name="Text 20"/>
          <p:cNvSpPr>
            <a:spLocks noGrp="1"/>
          </p:cNvSpPr>
          <p:nvPr/>
        </p:nvSpPr>
        <p:spPr>
          <a:xfrm>
            <a:off x="8833104" y="2560320"/>
            <a:ext cx="2212848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Web app/API — container is just packaging</a:t>
            </a:r>
            <a:endParaRPr sz="1250"/>
          </a:p>
        </p:txBody>
      </p:sp>
      <p:sp>
        <p:nvSpPr>
          <p:cNvPr id="23" name="Text 21"/>
          <p:cNvSpPr>
            <a:spLocks noGrp="1"/>
          </p:cNvSpPr>
          <p:nvPr/>
        </p:nvSpPr>
        <p:spPr>
          <a:xfrm>
            <a:off x="8833104" y="4434840"/>
            <a:ext cx="2212848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i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Web-app features</a:t>
            </a:r>
            <a:endParaRPr sz="1200"/>
          </a:p>
        </p:txBody>
      </p:sp>
      <p:sp>
        <p:nvSpPr>
          <p:cNvPr id="24" name="Text 22"/>
          <p:cNvSpPr>
            <a:spLocks noGrp="1"/>
          </p:cNvSpPr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i="1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Decision path: web app? → App Service.  Microservices / scale-to-zero? → Container Apps.  Need K8s API control? → AKS.  Simple one-off? → ACI.</a:t>
            </a:r>
            <a:endParaRPr sz="1350"/>
          </a:p>
        </p:txBody>
      </p:sp>
      <p:sp>
        <p:nvSpPr>
          <p:cNvPr id="25" name="Text 23"/>
          <p:cNvSpPr>
            <a:spLocks noGrp="1"/>
          </p:cNvSpPr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ACI is not deprecated — it's now a low-level building block, not the default</a:t>
            </a:r>
            <a:endParaRPr sz="1000"/>
          </a:p>
        </p:txBody>
      </p:sp>
      <p:sp>
        <p:nvSpPr>
          <p:cNvPr id="26" name="Text 24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300" b="1" i="0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TOPIC 1  ·  WHERE A CONTAINER CAN RUN</a:t>
            </a:r>
            <a:endParaRPr sz="1300" b="1" i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Box 2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000" b="1" i="0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App Service — the container is just packaging</a:t>
            </a:r>
            <a:endParaRPr sz="3000" b="1" i="0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" name="TextBox 3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Rounded Rectangle 4"/>
          <p:cNvSpPr>
            <a:spLocks noGrp="1"/>
          </p:cNvSpPr>
          <p:nvPr/>
        </p:nvSpPr>
        <p:spPr>
          <a:xfrm>
            <a:off x="685800" y="2697480"/>
            <a:ext cx="1508760" cy="868680"/>
          </a:xfrm>
          <a:prstGeom prst="roundRect">
            <a:avLst>
              <a:gd name="adj" fmla="val 10000"/>
            </a:avLst>
          </a:prstGeom>
          <a:solidFill>
            <a:srgbClr val="EEF3FD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" name="TextBox 5"/>
          <p:cNvSpPr>
            <a:spLocks noGrp="1"/>
          </p:cNvSpPr>
          <p:nvPr/>
        </p:nvSpPr>
        <p:spPr>
          <a:xfrm>
            <a:off x="777240" y="2697480"/>
            <a:ext cx="13258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Users</a:t>
            </a:r>
            <a:endParaRPr sz="125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Right Arrow 6"/>
          <p:cNvSpPr>
            <a:spLocks noGrp="1"/>
          </p:cNvSpPr>
          <p:nvPr/>
        </p:nvSpPr>
        <p:spPr>
          <a:xfrm>
            <a:off x="2286000" y="3044952"/>
            <a:ext cx="502920" cy="164592"/>
          </a:xfrm>
          <a:prstGeom prst="rightArrow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8" name="TextBox 7"/>
          <p:cNvSpPr>
            <a:spLocks noGrp="1"/>
          </p:cNvSpPr>
          <p:nvPr/>
        </p:nvSpPr>
        <p:spPr>
          <a:xfrm>
            <a:off x="2057400" y="2651760"/>
            <a:ext cx="9601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95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HTTPS</a:t>
            </a:r>
            <a:endParaRPr sz="95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9" name="Rounded Rectangle 8"/>
          <p:cNvSpPr>
            <a:spLocks noGrp="1"/>
          </p:cNvSpPr>
          <p:nvPr/>
        </p:nvSpPr>
        <p:spPr>
          <a:xfrm>
            <a:off x="2926080" y="2194560"/>
            <a:ext cx="4892040" cy="2148840"/>
          </a:xfrm>
          <a:prstGeom prst="roundRect">
            <a:avLst>
              <a:gd name="adj" fmla="val 3000"/>
            </a:avLst>
          </a:prstGeom>
          <a:noFill/>
          <a:ln w="19050">
            <a:solidFill>
              <a:srgbClr val="F2A93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0" name="TextBox 9"/>
          <p:cNvSpPr>
            <a:spLocks noGrp="1"/>
          </p:cNvSpPr>
          <p:nvPr/>
        </p:nvSpPr>
        <p:spPr>
          <a:xfrm>
            <a:off x="3090672" y="2148840"/>
            <a:ext cx="4562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950" b="1" i="0" spc="12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APP SERVICE PLAN  (the VM you pay for)</a:t>
            </a:r>
            <a:endParaRPr sz="950" b="1" i="0" spc="12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1" name="Rounded Rectangle 10"/>
          <p:cNvSpPr>
            <a:spLocks noGrp="1"/>
          </p:cNvSpPr>
          <p:nvPr/>
        </p:nvSpPr>
        <p:spPr>
          <a:xfrm>
            <a:off x="3246120" y="2697480"/>
            <a:ext cx="2011680" cy="11430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2" name="TextBox 11"/>
          <p:cNvSpPr>
            <a:spLocks noGrp="1"/>
          </p:cNvSpPr>
          <p:nvPr/>
        </p:nvSpPr>
        <p:spPr>
          <a:xfrm>
            <a:off x="3337560" y="2825496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Web App</a:t>
            </a:r>
            <a:endParaRPr sz="125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3" name="TextBox 12"/>
          <p:cNvSpPr>
            <a:spLocks noGrp="1"/>
          </p:cNvSpPr>
          <p:nvPr/>
        </p:nvSpPr>
        <p:spPr>
          <a:xfrm>
            <a:off x="3337560" y="324612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950" b="0" i="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your container image</a:t>
            </a:r>
            <a:endParaRPr sz="950" b="0" i="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4" name="Rounded Rectangle 13"/>
          <p:cNvSpPr>
            <a:spLocks noGrp="1"/>
          </p:cNvSpPr>
          <p:nvPr/>
        </p:nvSpPr>
        <p:spPr>
          <a:xfrm>
            <a:off x="5486400" y="2697480"/>
            <a:ext cx="2011680" cy="1143000"/>
          </a:xfrm>
          <a:prstGeom prst="roundRect">
            <a:avLst>
              <a:gd name="adj" fmla="val 10000"/>
            </a:avLst>
          </a:prstGeom>
          <a:solidFill>
            <a:srgbClr val="EEF3FD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5" name="TextBox 14"/>
          <p:cNvSpPr>
            <a:spLocks noGrp="1"/>
          </p:cNvSpPr>
          <p:nvPr/>
        </p:nvSpPr>
        <p:spPr>
          <a:xfrm>
            <a:off x="5577840" y="2825496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Web App 2</a:t>
            </a:r>
            <a:endParaRPr sz="125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6" name="TextBox 15"/>
          <p:cNvSpPr>
            <a:spLocks noGrp="1"/>
          </p:cNvSpPr>
          <p:nvPr/>
        </p:nvSpPr>
        <p:spPr>
          <a:xfrm>
            <a:off x="5577840" y="324612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95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shares the plan</a:t>
            </a:r>
            <a:endParaRPr sz="95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7" name="Rounded Rectangle 16"/>
          <p:cNvSpPr>
            <a:spLocks noGrp="1"/>
          </p:cNvSpPr>
          <p:nvPr/>
        </p:nvSpPr>
        <p:spPr>
          <a:xfrm>
            <a:off x="8732520" y="2697480"/>
            <a:ext cx="2377440" cy="1143000"/>
          </a:xfrm>
          <a:prstGeom prst="roundRect">
            <a:avLst>
              <a:gd name="adj" fmla="val 10000"/>
            </a:avLst>
          </a:prstGeom>
          <a:solidFill>
            <a:srgbClr val="EEF3FD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8" name="TextBox 17"/>
          <p:cNvSpPr>
            <a:spLocks noGrp="1"/>
          </p:cNvSpPr>
          <p:nvPr/>
        </p:nvSpPr>
        <p:spPr>
          <a:xfrm>
            <a:off x="8823960" y="2825496"/>
            <a:ext cx="219456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Azure Container</a:t>
            </a:r>
            <a:endParaRPr sz="125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algn="ctr">
              <a:buNone/>
            </a:pPr>
            <a:r>
              <a:rPr sz="125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Registry</a:t>
            </a:r>
            <a:endParaRPr sz="125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9" name="TextBox 18"/>
          <p:cNvSpPr>
            <a:spLocks noGrp="1"/>
          </p:cNvSpPr>
          <p:nvPr/>
        </p:nvSpPr>
        <p:spPr>
          <a:xfrm>
            <a:off x="8823960" y="3246120"/>
            <a:ext cx="2194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95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your private images</a:t>
            </a:r>
            <a:endParaRPr sz="95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0" name="Left Arrow 19"/>
          <p:cNvSpPr>
            <a:spLocks noGrp="1"/>
          </p:cNvSpPr>
          <p:nvPr/>
        </p:nvSpPr>
        <p:spPr>
          <a:xfrm>
            <a:off x="7973568" y="3182112"/>
            <a:ext cx="685800" cy="164592"/>
          </a:xfrm>
          <a:prstGeom prst="leftArrow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21" name="TextBox 20"/>
          <p:cNvSpPr>
            <a:spLocks noGrp="1"/>
          </p:cNvSpPr>
          <p:nvPr/>
        </p:nvSpPr>
        <p:spPr>
          <a:xfrm>
            <a:off x="7882128" y="2761488"/>
            <a:ext cx="1508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95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image pulled on start</a:t>
            </a:r>
            <a:endParaRPr sz="95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2" name="TextBox 21"/>
          <p:cNvSpPr>
            <a:spLocks noGrp="1"/>
          </p:cNvSpPr>
          <p:nvPr/>
        </p:nvSpPr>
        <p:spPr>
          <a:xfrm>
            <a:off x="548640" y="4617720"/>
            <a:ext cx="110916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150" b="0" i="1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Basic keeps at least one instance running — no scale to zero. You size and pay for the Plan directly.</a:t>
            </a:r>
            <a:endParaRPr sz="1150" b="0" i="1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3" name="Rounded Rectangle 22"/>
          <p:cNvSpPr>
            <a:spLocks noGrp="1"/>
          </p:cNvSpPr>
          <p:nvPr/>
        </p:nvSpPr>
        <p:spPr>
          <a:xfrm>
            <a:off x="548640" y="5285232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4" name="TextBox 23"/>
          <p:cNvSpPr>
            <a:spLocks noGrp="1"/>
          </p:cNvSpPr>
          <p:nvPr/>
        </p:nvSpPr>
        <p:spPr>
          <a:xfrm>
            <a:off x="822960" y="5285232"/>
            <a:ext cx="1054303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Managed web hosting     ·     Built-in HTTPS + domains     ·     Plan-based scaling</a:t>
            </a:r>
            <a:endParaRPr sz="15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300" b="1" i="0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TOPIC 1  ·  WHERE A CONTAINER CAN RUN</a:t>
            </a:r>
            <a:endParaRPr sz="1300" b="1" i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Box 2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000" b="1" i="0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Azure Container Apps — the modern default</a:t>
            </a:r>
            <a:endParaRPr sz="3000" b="1" i="0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" name="TextBox 3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Rounded Rectangle 4"/>
          <p:cNvSpPr>
            <a:spLocks noGrp="1"/>
          </p:cNvSpPr>
          <p:nvPr/>
        </p:nvSpPr>
        <p:spPr>
          <a:xfrm>
            <a:off x="2788920" y="2148840"/>
            <a:ext cx="8686800" cy="2240280"/>
          </a:xfrm>
          <a:prstGeom prst="roundRect">
            <a:avLst>
              <a:gd name="adj" fmla="val 3000"/>
            </a:avLst>
          </a:prstGeom>
          <a:noFill/>
          <a:ln w="19050">
            <a:solidFill>
              <a:srgbClr val="F2A93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" name="TextBox 5"/>
          <p:cNvSpPr>
            <a:spLocks noGrp="1"/>
          </p:cNvSpPr>
          <p:nvPr/>
        </p:nvSpPr>
        <p:spPr>
          <a:xfrm>
            <a:off x="2953512" y="2103120"/>
            <a:ext cx="835761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950" b="1" i="0" spc="12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CONTAINER APPS ENVIRONMENT</a:t>
            </a:r>
            <a:endParaRPr sz="950" b="1" i="0" spc="12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Rounded Rectangle 6"/>
          <p:cNvSpPr>
            <a:spLocks noGrp="1"/>
          </p:cNvSpPr>
          <p:nvPr/>
        </p:nvSpPr>
        <p:spPr>
          <a:xfrm>
            <a:off x="731520" y="2606040"/>
            <a:ext cx="1755648" cy="1115568"/>
          </a:xfrm>
          <a:prstGeom prst="roundRect">
            <a:avLst>
              <a:gd name="adj" fmla="val 10000"/>
            </a:avLst>
          </a:prstGeom>
          <a:solidFill>
            <a:srgbClr val="EEF3FD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" name="TextBox 7"/>
          <p:cNvSpPr>
            <a:spLocks noGrp="1"/>
          </p:cNvSpPr>
          <p:nvPr/>
        </p:nvSpPr>
        <p:spPr>
          <a:xfrm>
            <a:off x="822960" y="2734056"/>
            <a:ext cx="157276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Users</a:t>
            </a:r>
            <a:endParaRPr sz="125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9" name="TextBox 8"/>
          <p:cNvSpPr>
            <a:spLocks noGrp="1"/>
          </p:cNvSpPr>
          <p:nvPr/>
        </p:nvSpPr>
        <p:spPr>
          <a:xfrm>
            <a:off x="822960" y="3154680"/>
            <a:ext cx="1572768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95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HTTP traffic</a:t>
            </a:r>
            <a:endParaRPr sz="95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0" name="Rounded Rectangle 9"/>
          <p:cNvSpPr>
            <a:spLocks noGrp="1"/>
          </p:cNvSpPr>
          <p:nvPr/>
        </p:nvSpPr>
        <p:spPr>
          <a:xfrm>
            <a:off x="2990088" y="2606040"/>
            <a:ext cx="1755648" cy="1115568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1" name="TextBox 10"/>
          <p:cNvSpPr>
            <a:spLocks noGrp="1"/>
          </p:cNvSpPr>
          <p:nvPr/>
        </p:nvSpPr>
        <p:spPr>
          <a:xfrm>
            <a:off x="3081528" y="2734056"/>
            <a:ext cx="157276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Frontend app</a:t>
            </a:r>
            <a:endParaRPr sz="125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2" name="TextBox 11"/>
          <p:cNvSpPr>
            <a:spLocks noGrp="1"/>
          </p:cNvSpPr>
          <p:nvPr/>
        </p:nvSpPr>
        <p:spPr>
          <a:xfrm>
            <a:off x="3081528" y="3154680"/>
            <a:ext cx="1572768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950" b="0" i="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container app</a:t>
            </a:r>
            <a:endParaRPr sz="950" b="0" i="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3" name="Rounded Rectangle 12"/>
          <p:cNvSpPr>
            <a:spLocks noGrp="1"/>
          </p:cNvSpPr>
          <p:nvPr/>
        </p:nvSpPr>
        <p:spPr>
          <a:xfrm>
            <a:off x="5248656" y="2606040"/>
            <a:ext cx="1755648" cy="1115568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4" name="TextBox 13"/>
          <p:cNvSpPr>
            <a:spLocks noGrp="1"/>
          </p:cNvSpPr>
          <p:nvPr/>
        </p:nvSpPr>
        <p:spPr>
          <a:xfrm>
            <a:off x="5340096" y="2734056"/>
            <a:ext cx="157276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Orders API</a:t>
            </a:r>
            <a:endParaRPr sz="125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5" name="TextBox 14"/>
          <p:cNvSpPr>
            <a:spLocks noGrp="1"/>
          </p:cNvSpPr>
          <p:nvPr/>
        </p:nvSpPr>
        <p:spPr>
          <a:xfrm>
            <a:off x="5340096" y="3154680"/>
            <a:ext cx="1572768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950" b="0" i="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container app</a:t>
            </a:r>
            <a:endParaRPr sz="950" b="0" i="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6" name="Rounded Rectangle 15"/>
          <p:cNvSpPr>
            <a:spLocks noGrp="1"/>
          </p:cNvSpPr>
          <p:nvPr/>
        </p:nvSpPr>
        <p:spPr>
          <a:xfrm>
            <a:off x="7507224" y="2606040"/>
            <a:ext cx="1755648" cy="1115568"/>
          </a:xfrm>
          <a:prstGeom prst="roundRect">
            <a:avLst>
              <a:gd name="adj" fmla="val 10000"/>
            </a:avLst>
          </a:prstGeom>
          <a:solidFill>
            <a:srgbClr val="EEF3FD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7" name="TextBox 16"/>
          <p:cNvSpPr>
            <a:spLocks noGrp="1"/>
          </p:cNvSpPr>
          <p:nvPr/>
        </p:nvSpPr>
        <p:spPr>
          <a:xfrm>
            <a:off x="7598664" y="2734056"/>
            <a:ext cx="157276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Queue</a:t>
            </a:r>
            <a:endParaRPr sz="125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8" name="TextBox 17"/>
          <p:cNvSpPr>
            <a:spLocks noGrp="1"/>
          </p:cNvSpPr>
          <p:nvPr/>
        </p:nvSpPr>
        <p:spPr>
          <a:xfrm>
            <a:off x="7598664" y="3154680"/>
            <a:ext cx="1572768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95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work to do</a:t>
            </a:r>
            <a:endParaRPr sz="95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9" name="Rounded Rectangle 18"/>
          <p:cNvSpPr>
            <a:spLocks noGrp="1"/>
          </p:cNvSpPr>
          <p:nvPr/>
        </p:nvSpPr>
        <p:spPr>
          <a:xfrm>
            <a:off x="9765792" y="2606040"/>
            <a:ext cx="1755648" cy="1115568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0" name="TextBox 19"/>
          <p:cNvSpPr>
            <a:spLocks noGrp="1"/>
          </p:cNvSpPr>
          <p:nvPr/>
        </p:nvSpPr>
        <p:spPr>
          <a:xfrm>
            <a:off x="9857232" y="2734056"/>
            <a:ext cx="157276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Worker  0 → N</a:t>
            </a:r>
            <a:endParaRPr sz="125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1" name="TextBox 20"/>
          <p:cNvSpPr>
            <a:spLocks noGrp="1"/>
          </p:cNvSpPr>
          <p:nvPr/>
        </p:nvSpPr>
        <p:spPr>
          <a:xfrm>
            <a:off x="9857232" y="3154680"/>
            <a:ext cx="1572768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950" b="0" i="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scales on queue depth</a:t>
            </a:r>
            <a:endParaRPr sz="950" b="0" i="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2" name="Right Arrow 21"/>
          <p:cNvSpPr>
            <a:spLocks noGrp="1"/>
          </p:cNvSpPr>
          <p:nvPr/>
        </p:nvSpPr>
        <p:spPr>
          <a:xfrm>
            <a:off x="2578608" y="3081528"/>
            <a:ext cx="320040" cy="164592"/>
          </a:xfrm>
          <a:prstGeom prst="rightArrow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23" name="Right Arrow 22"/>
          <p:cNvSpPr>
            <a:spLocks noGrp="1"/>
          </p:cNvSpPr>
          <p:nvPr/>
        </p:nvSpPr>
        <p:spPr>
          <a:xfrm>
            <a:off x="4837176" y="3081528"/>
            <a:ext cx="320040" cy="164592"/>
          </a:xfrm>
          <a:prstGeom prst="rightArrow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24" name="Right Arrow 23"/>
          <p:cNvSpPr>
            <a:spLocks noGrp="1"/>
          </p:cNvSpPr>
          <p:nvPr/>
        </p:nvSpPr>
        <p:spPr>
          <a:xfrm>
            <a:off x="7095744" y="3081528"/>
            <a:ext cx="320040" cy="164592"/>
          </a:xfrm>
          <a:prstGeom prst="rightArrow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25" name="Right Arrow 24"/>
          <p:cNvSpPr>
            <a:spLocks noGrp="1"/>
          </p:cNvSpPr>
          <p:nvPr/>
        </p:nvSpPr>
        <p:spPr>
          <a:xfrm>
            <a:off x="9354312" y="3081528"/>
            <a:ext cx="320040" cy="164592"/>
          </a:xfrm>
          <a:prstGeom prst="rightArrow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26" name="TextBox 25"/>
          <p:cNvSpPr>
            <a:spLocks noGrp="1"/>
          </p:cNvSpPr>
          <p:nvPr/>
        </p:nvSpPr>
        <p:spPr>
          <a:xfrm>
            <a:off x="548640" y="4617720"/>
            <a:ext cx="110916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150" b="0" i="1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No traffic → replicas drop to 0.  First request after idle pays a short cold start (KEDA).</a:t>
            </a:r>
            <a:endParaRPr sz="1150" b="0" i="1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7" name="Rounded Rectangle 26"/>
          <p:cNvSpPr>
            <a:spLocks noGrp="1"/>
          </p:cNvSpPr>
          <p:nvPr/>
        </p:nvSpPr>
        <p:spPr>
          <a:xfrm>
            <a:off x="548640" y="5285232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" name="TextBox 27"/>
          <p:cNvSpPr>
            <a:spLocks noGrp="1"/>
          </p:cNvSpPr>
          <p:nvPr/>
        </p:nvSpPr>
        <p:spPr>
          <a:xfrm>
            <a:off x="822960" y="5285232"/>
            <a:ext cx="1054303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Microservices     ·     Event-driven     ·     Scale to zero</a:t>
            </a:r>
            <a:endParaRPr sz="15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300" b="1" i="0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TOPIC 1  ·  WHERE A CONTAINER CAN RUN</a:t>
            </a:r>
            <a:endParaRPr sz="1300" b="1" i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Box 2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000" b="1" i="0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Azure Container Instances — a building block</a:t>
            </a:r>
            <a:endParaRPr sz="3000" b="1" i="0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" name="TextBox 3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Rounded Rectangle 4"/>
          <p:cNvSpPr>
            <a:spLocks noGrp="1"/>
          </p:cNvSpPr>
          <p:nvPr/>
        </p:nvSpPr>
        <p:spPr>
          <a:xfrm>
            <a:off x="1417320" y="2468880"/>
            <a:ext cx="2331720" cy="1234440"/>
          </a:xfrm>
          <a:prstGeom prst="roundRect">
            <a:avLst>
              <a:gd name="adj" fmla="val 10000"/>
            </a:avLst>
          </a:prstGeom>
          <a:solidFill>
            <a:srgbClr val="EEF3FD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" name="TextBox 5"/>
          <p:cNvSpPr>
            <a:spLocks noGrp="1"/>
          </p:cNvSpPr>
          <p:nvPr/>
        </p:nvSpPr>
        <p:spPr>
          <a:xfrm>
            <a:off x="1508760" y="2596896"/>
            <a:ext cx="21488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Orders CSV</a:t>
            </a:r>
            <a:endParaRPr sz="125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Box 6"/>
          <p:cNvSpPr>
            <a:spLocks noGrp="1"/>
          </p:cNvSpPr>
          <p:nvPr/>
        </p:nvSpPr>
        <p:spPr>
          <a:xfrm>
            <a:off x="1508760" y="3017520"/>
            <a:ext cx="21488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95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 file lands</a:t>
            </a:r>
            <a:endParaRPr sz="95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8" name="Rounded Rectangle 7"/>
          <p:cNvSpPr>
            <a:spLocks noGrp="1"/>
          </p:cNvSpPr>
          <p:nvPr/>
        </p:nvSpPr>
        <p:spPr>
          <a:xfrm>
            <a:off x="4928616" y="2468880"/>
            <a:ext cx="2331720" cy="123444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" name="TextBox 8"/>
          <p:cNvSpPr>
            <a:spLocks noGrp="1"/>
          </p:cNvSpPr>
          <p:nvPr/>
        </p:nvSpPr>
        <p:spPr>
          <a:xfrm>
            <a:off x="5020056" y="2596896"/>
            <a:ext cx="21488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One container</a:t>
            </a:r>
            <a:endParaRPr sz="125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0" name="TextBox 9"/>
          <p:cNvSpPr>
            <a:spLocks noGrp="1"/>
          </p:cNvSpPr>
          <p:nvPr/>
        </p:nvSpPr>
        <p:spPr>
          <a:xfrm>
            <a:off x="5020056" y="3017520"/>
            <a:ext cx="21488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950" b="0" i="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runs once, then exits</a:t>
            </a:r>
            <a:endParaRPr sz="950" b="0" i="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1" name="Rounded Rectangle 10"/>
          <p:cNvSpPr>
            <a:spLocks noGrp="1"/>
          </p:cNvSpPr>
          <p:nvPr/>
        </p:nvSpPr>
        <p:spPr>
          <a:xfrm>
            <a:off x="8439912" y="2468880"/>
            <a:ext cx="2331720" cy="1234440"/>
          </a:xfrm>
          <a:prstGeom prst="roundRect">
            <a:avLst>
              <a:gd name="adj" fmla="val 10000"/>
            </a:avLst>
          </a:prstGeom>
          <a:solidFill>
            <a:srgbClr val="EEF3FD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2" name="TextBox 11"/>
          <p:cNvSpPr>
            <a:spLocks noGrp="1"/>
          </p:cNvSpPr>
          <p:nvPr/>
        </p:nvSpPr>
        <p:spPr>
          <a:xfrm>
            <a:off x="8531352" y="2596896"/>
            <a:ext cx="21488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Database</a:t>
            </a:r>
            <a:endParaRPr sz="125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3" name="TextBox 12"/>
          <p:cNvSpPr>
            <a:spLocks noGrp="1"/>
          </p:cNvSpPr>
          <p:nvPr/>
        </p:nvSpPr>
        <p:spPr>
          <a:xfrm>
            <a:off x="8531352" y="3017520"/>
            <a:ext cx="21488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95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result written</a:t>
            </a:r>
            <a:endParaRPr sz="95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4" name="Right Arrow 13"/>
          <p:cNvSpPr>
            <a:spLocks noGrp="1"/>
          </p:cNvSpPr>
          <p:nvPr/>
        </p:nvSpPr>
        <p:spPr>
          <a:xfrm>
            <a:off x="3858768" y="2999232"/>
            <a:ext cx="960120" cy="164592"/>
          </a:xfrm>
          <a:prstGeom prst="rightArrow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5" name="Right Arrow 14"/>
          <p:cNvSpPr>
            <a:spLocks noGrp="1"/>
          </p:cNvSpPr>
          <p:nvPr/>
        </p:nvSpPr>
        <p:spPr>
          <a:xfrm>
            <a:off x="7370064" y="2999232"/>
            <a:ext cx="960120" cy="164592"/>
          </a:xfrm>
          <a:prstGeom prst="rightArrow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6" name="Rounded Rectangle 15"/>
          <p:cNvSpPr>
            <a:spLocks noGrp="1"/>
          </p:cNvSpPr>
          <p:nvPr/>
        </p:nvSpPr>
        <p:spPr>
          <a:xfrm>
            <a:off x="3749040" y="4160520"/>
            <a:ext cx="4690872" cy="566928"/>
          </a:xfrm>
          <a:prstGeom prst="roundRect">
            <a:avLst>
              <a:gd name="adj" fmla="val 30000"/>
            </a:avLst>
          </a:prstGeom>
          <a:solidFill>
            <a:srgbClr val="F6F7FB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7" name="TextBox 16"/>
          <p:cNvSpPr>
            <a:spLocks noGrp="1"/>
          </p:cNvSpPr>
          <p:nvPr/>
        </p:nvSpPr>
        <p:spPr>
          <a:xfrm>
            <a:off x="3749040" y="4160520"/>
            <a:ext cx="469087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start   →   process   →   stop</a:t>
            </a:r>
            <a:endParaRPr sz="130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8" name="TextBox 17"/>
          <p:cNvSpPr>
            <a:spLocks noGrp="1"/>
          </p:cNvSpPr>
          <p:nvPr/>
        </p:nvSpPr>
        <p:spPr>
          <a:xfrm>
            <a:off x="548640" y="486460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150" b="0" i="1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No autoscaling, no load balancing, no service discovery — and none needed.</a:t>
            </a:r>
            <a:endParaRPr sz="1150" b="0" i="1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9" name="Rounded Rectangle 18"/>
          <p:cNvSpPr>
            <a:spLocks noGrp="1"/>
          </p:cNvSpPr>
          <p:nvPr/>
        </p:nvSpPr>
        <p:spPr>
          <a:xfrm>
            <a:off x="548640" y="5285232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0" name="TextBox 19"/>
          <p:cNvSpPr>
            <a:spLocks noGrp="1"/>
          </p:cNvSpPr>
          <p:nvPr/>
        </p:nvSpPr>
        <p:spPr>
          <a:xfrm>
            <a:off x="822960" y="5285232"/>
            <a:ext cx="1054303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Single container     ·     No orchestration     ·     Pay per second</a:t>
            </a:r>
            <a:endParaRPr sz="15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300" b="1" i="0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TOPIC 1  ·  WHERE A CONTAINER CAN RUN</a:t>
            </a:r>
            <a:endParaRPr sz="1300" b="1" i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Box 2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000" b="1" i="0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Azure Kubernetes Service — real thing, real ops</a:t>
            </a:r>
            <a:endParaRPr sz="3000" b="1" i="0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" name="TextBox 3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Rounded Rectangle 4"/>
          <p:cNvSpPr>
            <a:spLocks noGrp="1"/>
          </p:cNvSpPr>
          <p:nvPr/>
        </p:nvSpPr>
        <p:spPr>
          <a:xfrm>
            <a:off x="621792" y="2743200"/>
            <a:ext cx="1463040" cy="822960"/>
          </a:xfrm>
          <a:prstGeom prst="roundRect">
            <a:avLst>
              <a:gd name="adj" fmla="val 10000"/>
            </a:avLst>
          </a:prstGeom>
          <a:solidFill>
            <a:srgbClr val="EEF3FD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" name="TextBox 5"/>
          <p:cNvSpPr>
            <a:spLocks noGrp="1"/>
          </p:cNvSpPr>
          <p:nvPr/>
        </p:nvSpPr>
        <p:spPr>
          <a:xfrm>
            <a:off x="713232" y="2743200"/>
            <a:ext cx="12801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Users</a:t>
            </a:r>
            <a:endParaRPr sz="125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Rounded Rectangle 6"/>
          <p:cNvSpPr>
            <a:spLocks noGrp="1"/>
          </p:cNvSpPr>
          <p:nvPr/>
        </p:nvSpPr>
        <p:spPr>
          <a:xfrm>
            <a:off x="2542032" y="2743200"/>
            <a:ext cx="1417320" cy="822960"/>
          </a:xfrm>
          <a:prstGeom prst="roundRect">
            <a:avLst>
              <a:gd name="adj" fmla="val 10000"/>
            </a:avLst>
          </a:prstGeom>
          <a:solidFill>
            <a:srgbClr val="EEF3FD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" name="TextBox 7"/>
          <p:cNvSpPr>
            <a:spLocks noGrp="1"/>
          </p:cNvSpPr>
          <p:nvPr/>
        </p:nvSpPr>
        <p:spPr>
          <a:xfrm>
            <a:off x="2633472" y="2743200"/>
            <a:ext cx="12344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Ingress</a:t>
            </a:r>
            <a:endParaRPr sz="125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9" name="Right Arrow 8"/>
          <p:cNvSpPr>
            <a:spLocks noGrp="1"/>
          </p:cNvSpPr>
          <p:nvPr/>
        </p:nvSpPr>
        <p:spPr>
          <a:xfrm>
            <a:off x="2176272" y="3072384"/>
            <a:ext cx="274320" cy="164592"/>
          </a:xfrm>
          <a:prstGeom prst="rightArrow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0" name="Rounded Rectangle 9"/>
          <p:cNvSpPr>
            <a:spLocks noGrp="1"/>
          </p:cNvSpPr>
          <p:nvPr/>
        </p:nvSpPr>
        <p:spPr>
          <a:xfrm>
            <a:off x="4224528" y="2084832"/>
            <a:ext cx="4617720" cy="2606040"/>
          </a:xfrm>
          <a:prstGeom prst="roundRect">
            <a:avLst>
              <a:gd name="adj" fmla="val 3000"/>
            </a:avLst>
          </a:prstGeom>
          <a:noFill/>
          <a:ln w="19050">
            <a:solidFill>
              <a:srgbClr val="F2A93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1" name="TextBox 10"/>
          <p:cNvSpPr>
            <a:spLocks noGrp="1"/>
          </p:cNvSpPr>
          <p:nvPr/>
        </p:nvSpPr>
        <p:spPr>
          <a:xfrm>
            <a:off x="4389120" y="2039112"/>
            <a:ext cx="42885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950" b="1" i="0" spc="12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AKS CLUSTER</a:t>
            </a:r>
            <a:endParaRPr sz="950" b="1" i="0" spc="12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2" name="Rounded Rectangle 11"/>
          <p:cNvSpPr>
            <a:spLocks noGrp="1"/>
          </p:cNvSpPr>
          <p:nvPr/>
        </p:nvSpPr>
        <p:spPr>
          <a:xfrm>
            <a:off x="4425696" y="2468880"/>
            <a:ext cx="1298448" cy="475488"/>
          </a:xfrm>
          <a:prstGeom prst="roundRect">
            <a:avLst>
              <a:gd name="adj" fmla="val 10000"/>
            </a:avLst>
          </a:prstGeom>
          <a:solidFill>
            <a:srgbClr val="EEF3FD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3" name="TextBox 12"/>
          <p:cNvSpPr>
            <a:spLocks noGrp="1"/>
          </p:cNvSpPr>
          <p:nvPr/>
        </p:nvSpPr>
        <p:spPr>
          <a:xfrm>
            <a:off x="4517136" y="2468880"/>
            <a:ext cx="111556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Node 1</a:t>
            </a:r>
            <a:endParaRPr sz="125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4" name="Rounded Rectangle 13"/>
          <p:cNvSpPr>
            <a:spLocks noGrp="1"/>
          </p:cNvSpPr>
          <p:nvPr/>
        </p:nvSpPr>
        <p:spPr>
          <a:xfrm>
            <a:off x="4626864" y="3090672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5" name="Rounded Rectangle 14"/>
          <p:cNvSpPr>
            <a:spLocks noGrp="1"/>
          </p:cNvSpPr>
          <p:nvPr/>
        </p:nvSpPr>
        <p:spPr>
          <a:xfrm>
            <a:off x="4937760" y="3090672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6" name="Rounded Rectangle 15"/>
          <p:cNvSpPr>
            <a:spLocks noGrp="1"/>
          </p:cNvSpPr>
          <p:nvPr/>
        </p:nvSpPr>
        <p:spPr>
          <a:xfrm>
            <a:off x="5248656" y="3090672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7" name="Rounded Rectangle 16"/>
          <p:cNvSpPr>
            <a:spLocks noGrp="1"/>
          </p:cNvSpPr>
          <p:nvPr/>
        </p:nvSpPr>
        <p:spPr>
          <a:xfrm>
            <a:off x="4626864" y="3419856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8" name="Rounded Rectangle 17"/>
          <p:cNvSpPr>
            <a:spLocks noGrp="1"/>
          </p:cNvSpPr>
          <p:nvPr/>
        </p:nvSpPr>
        <p:spPr>
          <a:xfrm>
            <a:off x="4937760" y="3419856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9" name="Rounded Rectangle 18"/>
          <p:cNvSpPr>
            <a:spLocks noGrp="1"/>
          </p:cNvSpPr>
          <p:nvPr/>
        </p:nvSpPr>
        <p:spPr>
          <a:xfrm>
            <a:off x="5248656" y="3419856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0" name="Rounded Rectangle 19"/>
          <p:cNvSpPr>
            <a:spLocks noGrp="1"/>
          </p:cNvSpPr>
          <p:nvPr/>
        </p:nvSpPr>
        <p:spPr>
          <a:xfrm>
            <a:off x="4626864" y="3749040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1" name="Rounded Rectangle 20"/>
          <p:cNvSpPr>
            <a:spLocks noGrp="1"/>
          </p:cNvSpPr>
          <p:nvPr/>
        </p:nvSpPr>
        <p:spPr>
          <a:xfrm>
            <a:off x="4937760" y="3749040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2" name="Rounded Rectangle 21"/>
          <p:cNvSpPr>
            <a:spLocks noGrp="1"/>
          </p:cNvSpPr>
          <p:nvPr/>
        </p:nvSpPr>
        <p:spPr>
          <a:xfrm>
            <a:off x="5248656" y="3749040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3" name="Rounded Rectangle 22"/>
          <p:cNvSpPr>
            <a:spLocks noGrp="1"/>
          </p:cNvSpPr>
          <p:nvPr/>
        </p:nvSpPr>
        <p:spPr>
          <a:xfrm>
            <a:off x="5916168" y="2468880"/>
            <a:ext cx="1298448" cy="475488"/>
          </a:xfrm>
          <a:prstGeom prst="roundRect">
            <a:avLst>
              <a:gd name="adj" fmla="val 10000"/>
            </a:avLst>
          </a:prstGeom>
          <a:solidFill>
            <a:srgbClr val="EEF3FD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4" name="TextBox 23"/>
          <p:cNvSpPr>
            <a:spLocks noGrp="1"/>
          </p:cNvSpPr>
          <p:nvPr/>
        </p:nvSpPr>
        <p:spPr>
          <a:xfrm>
            <a:off x="6007608" y="2468880"/>
            <a:ext cx="111556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Node 2</a:t>
            </a:r>
            <a:endParaRPr sz="125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5" name="Rounded Rectangle 24"/>
          <p:cNvSpPr>
            <a:spLocks noGrp="1"/>
          </p:cNvSpPr>
          <p:nvPr/>
        </p:nvSpPr>
        <p:spPr>
          <a:xfrm>
            <a:off x="6117336" y="3090672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6" name="Rounded Rectangle 25"/>
          <p:cNvSpPr>
            <a:spLocks noGrp="1"/>
          </p:cNvSpPr>
          <p:nvPr/>
        </p:nvSpPr>
        <p:spPr>
          <a:xfrm>
            <a:off x="6428232" y="3090672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" name="Rounded Rectangle 26"/>
          <p:cNvSpPr>
            <a:spLocks noGrp="1"/>
          </p:cNvSpPr>
          <p:nvPr/>
        </p:nvSpPr>
        <p:spPr>
          <a:xfrm>
            <a:off x="6739128" y="3090672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" name="Rounded Rectangle 27"/>
          <p:cNvSpPr>
            <a:spLocks noGrp="1"/>
          </p:cNvSpPr>
          <p:nvPr/>
        </p:nvSpPr>
        <p:spPr>
          <a:xfrm>
            <a:off x="6117336" y="3419856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" name="Rounded Rectangle 28"/>
          <p:cNvSpPr>
            <a:spLocks noGrp="1"/>
          </p:cNvSpPr>
          <p:nvPr/>
        </p:nvSpPr>
        <p:spPr>
          <a:xfrm>
            <a:off x="6428232" y="3419856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" name="Rounded Rectangle 29"/>
          <p:cNvSpPr>
            <a:spLocks noGrp="1"/>
          </p:cNvSpPr>
          <p:nvPr/>
        </p:nvSpPr>
        <p:spPr>
          <a:xfrm>
            <a:off x="6739128" y="3419856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" name="Rounded Rectangle 30"/>
          <p:cNvSpPr>
            <a:spLocks noGrp="1"/>
          </p:cNvSpPr>
          <p:nvPr/>
        </p:nvSpPr>
        <p:spPr>
          <a:xfrm>
            <a:off x="6117336" y="3749040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" name="Rounded Rectangle 31"/>
          <p:cNvSpPr>
            <a:spLocks noGrp="1"/>
          </p:cNvSpPr>
          <p:nvPr/>
        </p:nvSpPr>
        <p:spPr>
          <a:xfrm>
            <a:off x="6428232" y="3749040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3" name="Rounded Rectangle 32"/>
          <p:cNvSpPr>
            <a:spLocks noGrp="1"/>
          </p:cNvSpPr>
          <p:nvPr/>
        </p:nvSpPr>
        <p:spPr>
          <a:xfrm>
            <a:off x="6739128" y="3749040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" name="Rounded Rectangle 33"/>
          <p:cNvSpPr>
            <a:spLocks noGrp="1"/>
          </p:cNvSpPr>
          <p:nvPr/>
        </p:nvSpPr>
        <p:spPr>
          <a:xfrm>
            <a:off x="7406640" y="2468880"/>
            <a:ext cx="1298448" cy="475488"/>
          </a:xfrm>
          <a:prstGeom prst="roundRect">
            <a:avLst>
              <a:gd name="adj" fmla="val 10000"/>
            </a:avLst>
          </a:prstGeom>
          <a:solidFill>
            <a:srgbClr val="EEF3FD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" name="TextBox 34"/>
          <p:cNvSpPr>
            <a:spLocks noGrp="1"/>
          </p:cNvSpPr>
          <p:nvPr/>
        </p:nvSpPr>
        <p:spPr>
          <a:xfrm>
            <a:off x="7498080" y="2468880"/>
            <a:ext cx="111556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Node 3</a:t>
            </a:r>
            <a:endParaRPr sz="125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6" name="Rounded Rectangle 35"/>
          <p:cNvSpPr>
            <a:spLocks noGrp="1"/>
          </p:cNvSpPr>
          <p:nvPr/>
        </p:nvSpPr>
        <p:spPr>
          <a:xfrm>
            <a:off x="7607808" y="3090672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" name="Rounded Rectangle 36"/>
          <p:cNvSpPr>
            <a:spLocks noGrp="1"/>
          </p:cNvSpPr>
          <p:nvPr/>
        </p:nvSpPr>
        <p:spPr>
          <a:xfrm>
            <a:off x="7918704" y="3090672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" name="Rounded Rectangle 37"/>
          <p:cNvSpPr>
            <a:spLocks noGrp="1"/>
          </p:cNvSpPr>
          <p:nvPr/>
        </p:nvSpPr>
        <p:spPr>
          <a:xfrm>
            <a:off x="8229600" y="3090672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" name="Rounded Rectangle 38"/>
          <p:cNvSpPr>
            <a:spLocks noGrp="1"/>
          </p:cNvSpPr>
          <p:nvPr/>
        </p:nvSpPr>
        <p:spPr>
          <a:xfrm>
            <a:off x="7607808" y="3419856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" name="Rounded Rectangle 39"/>
          <p:cNvSpPr>
            <a:spLocks noGrp="1"/>
          </p:cNvSpPr>
          <p:nvPr/>
        </p:nvSpPr>
        <p:spPr>
          <a:xfrm>
            <a:off x="7918704" y="3419856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" name="Rounded Rectangle 40"/>
          <p:cNvSpPr>
            <a:spLocks noGrp="1"/>
          </p:cNvSpPr>
          <p:nvPr/>
        </p:nvSpPr>
        <p:spPr>
          <a:xfrm>
            <a:off x="8229600" y="3419856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" name="Rounded Rectangle 41"/>
          <p:cNvSpPr>
            <a:spLocks noGrp="1"/>
          </p:cNvSpPr>
          <p:nvPr/>
        </p:nvSpPr>
        <p:spPr>
          <a:xfrm>
            <a:off x="7607808" y="3749040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" name="Rounded Rectangle 42"/>
          <p:cNvSpPr>
            <a:spLocks noGrp="1"/>
          </p:cNvSpPr>
          <p:nvPr/>
        </p:nvSpPr>
        <p:spPr>
          <a:xfrm>
            <a:off x="7918704" y="3749040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" name="Rounded Rectangle 43"/>
          <p:cNvSpPr>
            <a:spLocks noGrp="1"/>
          </p:cNvSpPr>
          <p:nvPr/>
        </p:nvSpPr>
        <p:spPr>
          <a:xfrm>
            <a:off x="8229600" y="3749040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" name="TextBox 44"/>
          <p:cNvSpPr>
            <a:spLocks noGrp="1"/>
          </p:cNvSpPr>
          <p:nvPr/>
        </p:nvSpPr>
        <p:spPr>
          <a:xfrm>
            <a:off x="4224528" y="429768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950" b="0" i="1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your pods, your scheduling, your upgrades</a:t>
            </a:r>
            <a:endParaRPr sz="950" b="0" i="1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46" name="Right Arrow 45"/>
          <p:cNvSpPr>
            <a:spLocks noGrp="1"/>
          </p:cNvSpPr>
          <p:nvPr/>
        </p:nvSpPr>
        <p:spPr>
          <a:xfrm>
            <a:off x="8933688" y="3227832"/>
            <a:ext cx="329184" cy="164592"/>
          </a:xfrm>
          <a:prstGeom prst="rightArrow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47" name="Rounded Rectangle 46"/>
          <p:cNvSpPr>
            <a:spLocks noGrp="1"/>
          </p:cNvSpPr>
          <p:nvPr/>
        </p:nvSpPr>
        <p:spPr>
          <a:xfrm>
            <a:off x="9354312" y="2103120"/>
            <a:ext cx="2286000" cy="804672"/>
          </a:xfrm>
          <a:prstGeom prst="roundRect">
            <a:avLst>
              <a:gd name="adj" fmla="val 10000"/>
            </a:avLst>
          </a:prstGeom>
          <a:solidFill>
            <a:srgbClr val="EEF3FD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" name="TextBox 47"/>
          <p:cNvSpPr>
            <a:spLocks noGrp="1"/>
          </p:cNvSpPr>
          <p:nvPr/>
        </p:nvSpPr>
        <p:spPr>
          <a:xfrm>
            <a:off x="9445752" y="2231136"/>
            <a:ext cx="21031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15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Kubernetes API</a:t>
            </a:r>
            <a:endParaRPr sz="115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49" name="TextBox 48"/>
          <p:cNvSpPr>
            <a:spLocks noGrp="1"/>
          </p:cNvSpPr>
          <p:nvPr/>
        </p:nvSpPr>
        <p:spPr>
          <a:xfrm>
            <a:off x="9445752" y="2651760"/>
            <a:ext cx="2103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95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full control</a:t>
            </a:r>
            <a:endParaRPr sz="95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0" name="Rounded Rectangle 49"/>
          <p:cNvSpPr>
            <a:spLocks noGrp="1"/>
          </p:cNvSpPr>
          <p:nvPr/>
        </p:nvSpPr>
        <p:spPr>
          <a:xfrm>
            <a:off x="9354312" y="3035808"/>
            <a:ext cx="2286000" cy="804672"/>
          </a:xfrm>
          <a:prstGeom prst="roundRect">
            <a:avLst>
              <a:gd name="adj" fmla="val 10000"/>
            </a:avLst>
          </a:prstGeom>
          <a:solidFill>
            <a:srgbClr val="EEF3FD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" name="TextBox 50"/>
          <p:cNvSpPr>
            <a:spLocks noGrp="1"/>
          </p:cNvSpPr>
          <p:nvPr/>
        </p:nvSpPr>
        <p:spPr>
          <a:xfrm>
            <a:off x="9445752" y="3163824"/>
            <a:ext cx="21031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15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kubectl / Helm</a:t>
            </a:r>
            <a:endParaRPr sz="115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2" name="TextBox 51"/>
          <p:cNvSpPr>
            <a:spLocks noGrp="1"/>
          </p:cNvSpPr>
          <p:nvPr/>
        </p:nvSpPr>
        <p:spPr>
          <a:xfrm>
            <a:off x="9445752" y="3584448"/>
            <a:ext cx="2103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95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your tooling</a:t>
            </a:r>
            <a:endParaRPr sz="95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3" name="Rounded Rectangle 52"/>
          <p:cNvSpPr>
            <a:spLocks noGrp="1"/>
          </p:cNvSpPr>
          <p:nvPr/>
        </p:nvSpPr>
        <p:spPr>
          <a:xfrm>
            <a:off x="9354312" y="3968496"/>
            <a:ext cx="2286000" cy="804672"/>
          </a:xfrm>
          <a:prstGeom prst="roundRect">
            <a:avLst>
              <a:gd name="adj" fmla="val 10000"/>
            </a:avLst>
          </a:prstGeom>
          <a:solidFill>
            <a:srgbClr val="EEF3FD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" name="TextBox 53"/>
          <p:cNvSpPr>
            <a:spLocks noGrp="1"/>
          </p:cNvSpPr>
          <p:nvPr/>
        </p:nvSpPr>
        <p:spPr>
          <a:xfrm>
            <a:off x="9445752" y="4096512"/>
            <a:ext cx="21031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15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You run the ops</a:t>
            </a:r>
            <a:endParaRPr sz="115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5" name="TextBox 54"/>
          <p:cNvSpPr>
            <a:spLocks noGrp="1"/>
          </p:cNvSpPr>
          <p:nvPr/>
        </p:nvSpPr>
        <p:spPr>
          <a:xfrm>
            <a:off x="9445752" y="4517136"/>
            <a:ext cx="2103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95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patching, scaling, cost</a:t>
            </a:r>
            <a:endParaRPr sz="95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6" name="Rounded Rectangle 55"/>
          <p:cNvSpPr>
            <a:spLocks noGrp="1"/>
          </p:cNvSpPr>
          <p:nvPr/>
        </p:nvSpPr>
        <p:spPr>
          <a:xfrm>
            <a:off x="548640" y="5285232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" name="TextBox 56"/>
          <p:cNvSpPr>
            <a:spLocks noGrp="1"/>
          </p:cNvSpPr>
          <p:nvPr/>
        </p:nvSpPr>
        <p:spPr>
          <a:xfrm>
            <a:off x="822960" y="5285232"/>
            <a:ext cx="1054303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Full Kubernetes API     ·     Advanced networking     ·     Most operational overhead</a:t>
            </a:r>
            <a:endParaRPr sz="15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TOPIC 1  ·  WHERE A CONTAINER CAN RUN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Scenario check</a:t>
            </a:r>
            <a:endParaRPr sz="30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48640" y="1737360"/>
            <a:ext cx="6126480" cy="3200400"/>
          </a:xfrm>
          <a:prstGeom prst="roundRect">
            <a:avLst>
              <a:gd name="adj" fmla="val 2571"/>
            </a:avLst>
          </a:prstGeom>
          <a:solidFill>
            <a:srgbClr val="EEF3FD"/>
          </a:solidFill>
        </p:spPr>
      </p:sp>
      <p:sp>
        <p:nvSpPr>
          <p:cNvPr id="5" name="Text 3"/>
          <p:cNvSpPr>
            <a:spLocks noGrp="1"/>
          </p:cNvSpPr>
          <p:nvPr/>
        </p:nvSpPr>
        <p:spPr>
          <a:xfrm>
            <a:off x="868680" y="1965960"/>
            <a:ext cx="5486400" cy="1554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50" i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“Independent APIs, each in a container, need to scale independently on HTTP traffic and scale to zero overnight.”</a:t>
            </a:r>
            <a:endParaRPr sz="1550"/>
          </a:p>
        </p:txBody>
      </p:sp>
      <p:sp>
        <p:nvSpPr>
          <p:cNvPr id="8" name="Shape 6"/>
          <p:cNvSpPr>
            <a:spLocks noGrp="1"/>
          </p:cNvSpPr>
          <p:nvPr/>
        </p:nvSpPr>
        <p:spPr>
          <a:xfrm>
            <a:off x="6995160" y="1737360"/>
            <a:ext cx="4297680" cy="1508760"/>
          </a:xfrm>
          <a:prstGeom prst="roundRect">
            <a:avLst>
              <a:gd name="adj" fmla="val 5455"/>
            </a:avLst>
          </a:prstGeom>
          <a:solidFill>
            <a:srgbClr val="CADCFC"/>
          </a:solidFill>
        </p:spPr>
      </p:sp>
      <p:sp>
        <p:nvSpPr>
          <p:cNvPr id="9" name="Text 7"/>
          <p:cNvSpPr>
            <a:spLocks noGrp="1"/>
          </p:cNvSpPr>
          <p:nvPr/>
        </p:nvSpPr>
        <p:spPr>
          <a:xfrm>
            <a:off x="7223760" y="187452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ACR — Azure Container Registry</a:t>
            </a:r>
            <a:endParaRPr sz="1400"/>
          </a:p>
        </p:txBody>
      </p:sp>
      <p:sp>
        <p:nvSpPr>
          <p:cNvPr id="10" name="Text 8"/>
          <p:cNvSpPr>
            <a:spLocks noGrp="1"/>
          </p:cNvSpPr>
          <p:nvPr/>
        </p:nvSpPr>
        <p:spPr>
          <a:xfrm>
            <a:off x="7223760" y="2267712"/>
            <a:ext cx="3840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Your private image registry. Integrates with every compute option here. ACR Tasks can even build images in the cloud on a git push.</a:t>
            </a:r>
            <a:endParaRPr sz="1200"/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6995160" y="3429000"/>
            <a:ext cx="4297680" cy="1508760"/>
          </a:xfrm>
          <a:prstGeom prst="roundRect">
            <a:avLst>
              <a:gd name="adj" fmla="val 5455"/>
            </a:avLst>
          </a:prstGeom>
          <a:solidFill>
            <a:srgbClr val="CADCFC"/>
          </a:solidFill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7223760" y="3566160"/>
            <a:ext cx="38404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KEDA — Kubernetes Event-Driven Autoscaling</a:t>
            </a:r>
            <a:endParaRPr sz="1400"/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7223760" y="4114800"/>
            <a:ext cx="38404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Scales on events (queue depth, HTTP rate) instead of just CPU, and can scale to zero. Container Apps uses KEDA under the hood — that's HOW scale-to-zero works.</a:t>
            </a:r>
            <a:endParaRPr sz="1200"/>
          </a:p>
        </p:txBody>
      </p:sp>
      <p:sp>
        <p:nvSpPr>
          <p:cNvPr id="14" name="Text 12"/>
          <p:cNvSpPr>
            <a:spLocks noGrp="1"/>
          </p:cNvSpPr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GitHub is to code what ACR is to container images</a:t>
            </a:r>
            <a:endParaRPr sz="1000"/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TOPIC 1  ·  WHERE A CONTAINER CAN RUN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Azure Container Registry — where your images live</a:t>
            </a:r>
            <a:endParaRPr sz="3000" b="1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/>
          </a:p>
        </p:txBody>
      </p:sp>
      <p:pic>
        <p:nvPicPr>
          <p:cNvPr id="20" name="Picture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508760"/>
            <a:ext cx="8229600" cy="46318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TOPIC 1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The App Service Plan &amp; its tiers</a:t>
            </a:r>
            <a:endParaRPr sz="3000"/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i="1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Multiple web apps can share one Plan — it's the underlying compute (VM size + instance count).</a:t>
            </a:r>
            <a:endParaRPr sz="1350"/>
          </a:p>
        </p:txBody>
      </p:sp>
      <p:sp>
        <p:nvSpPr>
          <p:cNvPr id="5" name="Shape 3"/>
          <p:cNvSpPr>
            <a:spLocks noGrp="1"/>
          </p:cNvSpPr>
          <p:nvPr/>
        </p:nvSpPr>
        <p:spPr>
          <a:xfrm>
            <a:off x="548640" y="2057400"/>
            <a:ext cx="10515600" cy="804672"/>
          </a:xfrm>
          <a:prstGeom prst="roundRect">
            <a:avLst>
              <a:gd name="adj" fmla="val 10227"/>
            </a:avLst>
          </a:prstGeom>
          <a:solidFill>
            <a:srgbClr val="EEF3FD"/>
          </a:solidFill>
        </p:spPr>
      </p:sp>
      <p:sp>
        <p:nvSpPr>
          <p:cNvPr id="6" name="Text 4"/>
          <p:cNvSpPr>
            <a:spLocks noGrp="1"/>
          </p:cNvSpPr>
          <p:nvPr/>
        </p:nvSpPr>
        <p:spPr>
          <a:xfrm>
            <a:off x="868680" y="2057400"/>
            <a:ext cx="3017520" cy="8046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Free / Shared</a:t>
            </a:r>
            <a:endParaRPr sz="1500"/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4023360" y="2057400"/>
            <a:ext cx="6766560" cy="8046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Testing only — no custom domain or SSL</a:t>
            </a:r>
            <a:endParaRPr sz="1300"/>
          </a:p>
        </p:txBody>
      </p:sp>
      <p:sp>
        <p:nvSpPr>
          <p:cNvPr id="8" name="Shape 6"/>
          <p:cNvSpPr>
            <a:spLocks noGrp="1"/>
          </p:cNvSpPr>
          <p:nvPr/>
        </p:nvSpPr>
        <p:spPr>
          <a:xfrm>
            <a:off x="548640" y="3017520"/>
            <a:ext cx="10515600" cy="804672"/>
          </a:xfrm>
          <a:prstGeom prst="roundRect">
            <a:avLst>
              <a:gd name="adj" fmla="val 10227"/>
            </a:avLst>
          </a:prstGeom>
          <a:solidFill>
            <a:srgbClr val="CADCFC"/>
          </a:solidFill>
        </p:spPr>
      </p:sp>
      <p:sp>
        <p:nvSpPr>
          <p:cNvPr id="9" name="Text 7"/>
          <p:cNvSpPr>
            <a:spLocks noGrp="1"/>
          </p:cNvSpPr>
          <p:nvPr/>
        </p:nvSpPr>
        <p:spPr>
          <a:xfrm>
            <a:off x="868680" y="3017520"/>
            <a:ext cx="3017520" cy="8046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Basic</a:t>
            </a:r>
            <a:endParaRPr sz="1500"/>
          </a:p>
        </p:txBody>
      </p:sp>
      <p:sp>
        <p:nvSpPr>
          <p:cNvPr id="10" name="Text 8"/>
          <p:cNvSpPr>
            <a:spLocks noGrp="1"/>
          </p:cNvSpPr>
          <p:nvPr/>
        </p:nvSpPr>
        <p:spPr>
          <a:xfrm>
            <a:off x="4023360" y="3017520"/>
            <a:ext cx="6766560" cy="8046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Dedicated VM, custom domains + SSL — no auto-scale, no slots</a:t>
            </a:r>
            <a:endParaRPr sz="1300"/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548640" y="3977640"/>
            <a:ext cx="10515600" cy="804672"/>
          </a:xfrm>
          <a:prstGeom prst="roundRect">
            <a:avLst>
              <a:gd name="adj" fmla="val 10227"/>
            </a:avLst>
          </a:prstGeom>
          <a:solidFill>
            <a:srgbClr val="EEF3FD"/>
          </a:solidFill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868680" y="3977640"/>
            <a:ext cx="3017520" cy="8046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Standard / Premium</a:t>
            </a:r>
            <a:endParaRPr sz="1500"/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4023360" y="3977640"/>
            <a:ext cx="6766560" cy="8046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Auto-scale, deployment slots, daily backups</a:t>
            </a:r>
            <a:endParaRPr sz="1300"/>
          </a:p>
        </p:txBody>
      </p:sp>
      <p:sp>
        <p:nvSpPr>
          <p:cNvPr id="14" name="Shape 12"/>
          <p:cNvSpPr>
            <a:spLocks noGrp="1"/>
          </p:cNvSpPr>
          <p:nvPr/>
        </p:nvSpPr>
        <p:spPr>
          <a:xfrm>
            <a:off x="548640" y="4937760"/>
            <a:ext cx="10515600" cy="804672"/>
          </a:xfrm>
          <a:prstGeom prst="roundRect">
            <a:avLst>
              <a:gd name="adj" fmla="val 10227"/>
            </a:avLst>
          </a:prstGeom>
          <a:solidFill>
            <a:srgbClr val="CADCFC"/>
          </a:solidFill>
        </p:spPr>
      </p:sp>
      <p:sp>
        <p:nvSpPr>
          <p:cNvPr id="15" name="Text 13"/>
          <p:cNvSpPr>
            <a:spLocks noGrp="1"/>
          </p:cNvSpPr>
          <p:nvPr/>
        </p:nvSpPr>
        <p:spPr>
          <a:xfrm>
            <a:off x="868680" y="4937760"/>
            <a:ext cx="3017520" cy="8046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Isolated</a:t>
            </a:r>
            <a:endParaRPr sz="1500"/>
          </a:p>
        </p:txBody>
      </p:sp>
      <p:sp>
        <p:nvSpPr>
          <p:cNvPr id="16" name="Text 14"/>
          <p:cNvSpPr>
            <a:spLocks noGrp="1"/>
          </p:cNvSpPr>
          <p:nvPr/>
        </p:nvSpPr>
        <p:spPr>
          <a:xfrm>
            <a:off x="4023360" y="4937760"/>
            <a:ext cx="6766560" cy="8046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Dedicated network (App Service Environment) — compliance needs</a:t>
            </a:r>
            <a:endParaRPr sz="1300"/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Standard = 5 slots max · Premium = 20+, faster swaps</a:t>
            </a:r>
            <a:endParaRPr sz="1000"/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TOPIC 1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Three ways to get code onto App Service</a:t>
            </a:r>
            <a:endParaRPr sz="3000" b="1">
              <a:solidFill>
                <a:srgbClr val="FFFFFF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48640" y="1554480"/>
            <a:ext cx="365760" cy="365760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5" name="Text 3"/>
          <p:cNvSpPr>
            <a:spLocks noGrp="1"/>
          </p:cNvSpPr>
          <p:nvPr/>
        </p:nvSpPr>
        <p:spPr>
          <a:xfrm>
            <a:off x="548640" y="15544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1</a:t>
            </a:r>
            <a:endParaRPr sz="18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1097280" y="1499616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Local Git / ZIP deploy</a:t>
            </a:r>
            <a:endParaRPr sz="1400"/>
          </a:p>
        </p:txBody>
      </p:sp>
      <p:sp>
        <p:nvSpPr>
          <p:cNvPr id="7" name="Shape 5"/>
          <p:cNvSpPr>
            <a:spLocks noGrp="1"/>
          </p:cNvSpPr>
          <p:nvPr/>
        </p:nvSpPr>
        <p:spPr>
          <a:xfrm>
            <a:off x="548640" y="2057400"/>
            <a:ext cx="365760" cy="365760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548640" y="205740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2</a:t>
            </a:r>
            <a:endParaRPr sz="1800"/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1097280" y="2002536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GitHub Actions / Azure DevOps CI/CD (real-world default)</a:t>
            </a:r>
            <a:endParaRPr sz="1400"/>
          </a:p>
        </p:txBody>
      </p:sp>
      <p:sp>
        <p:nvSpPr>
          <p:cNvPr id="10" name="Shape 8"/>
          <p:cNvSpPr>
            <a:spLocks noGrp="1"/>
          </p:cNvSpPr>
          <p:nvPr/>
        </p:nvSpPr>
        <p:spPr>
          <a:xfrm>
            <a:off x="548640" y="2560320"/>
            <a:ext cx="365760" cy="365760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548640" y="256032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3</a:t>
            </a:r>
            <a:endParaRPr sz="1800"/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Container image (same App Service, running your Docker image)</a:t>
            </a:r>
            <a:endParaRPr sz="1400"/>
          </a:p>
        </p:txBody>
      </p:sp>
      <p:sp>
        <p:nvSpPr>
          <p:cNvPr id="13" name="Shape 11"/>
          <p:cNvSpPr>
            <a:spLocks noGrp="1"/>
          </p:cNvSpPr>
          <p:nvPr/>
        </p:nvSpPr>
        <p:spPr>
          <a:xfrm>
            <a:off x="548640" y="3246120"/>
            <a:ext cx="11064240" cy="2743200"/>
          </a:xfrm>
          <a:prstGeom prst="roundRect">
            <a:avLst>
              <a:gd name="adj" fmla="val 2667"/>
            </a:avLst>
          </a:prstGeom>
          <a:solidFill>
            <a:srgbClr val="141A47"/>
          </a:solidFill>
        </p:spPr>
      </p:sp>
      <p:sp>
        <p:nvSpPr>
          <p:cNvPr id="14" name="Text 12"/>
          <p:cNvSpPr>
            <a:spLocks noGrp="1"/>
          </p:cNvSpPr>
          <p:nvPr/>
        </p:nvSpPr>
        <p:spPr>
          <a:xfrm>
            <a:off x="777240" y="3410712"/>
            <a:ext cx="10607040" cy="24140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5000"/>
              </a:lnSpc>
              <a:buNone/>
            </a:pPr>
            <a:r>
              <a:rPr sz="1300" i="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Today we use option 3 — the same container image runs on App Service now and on</a:t>
            </a:r>
            <a:endParaRPr sz="1300" i="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sz="1300" i="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Container Apps after the break. One image, two very different hosts.</a:t>
            </a:r>
            <a:endParaRPr sz="1300" i="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25000"/>
              </a:lnSpc>
              <a:buNone/>
            </a:pPr>
          </a:p>
          <a:p>
            <a:pPr marL="0" indent="0">
              <a:lnSpc>
                <a:spcPct val="125000"/>
              </a:lnSpc>
              <a:buNone/>
            </a:pPr>
            <a:r>
              <a:rPr sz="1300" i="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az webapp up is deprecated: it guesses a runtime from your folder and fails on an</a:t>
            </a:r>
            <a:endParaRPr sz="1300" i="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sz="1300" i="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empty one. Use the explicit pair — az appservice plan create, then az webapp create</a:t>
            </a:r>
            <a:endParaRPr sz="1300" i="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sz="1300" i="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plus az webapp config container set.</a:t>
            </a:r>
            <a:endParaRPr sz="1300" i="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9AA3C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One image, two hosts — that is what makes containers worth the packaging step</a:t>
            </a:r>
            <a:endParaRPr sz="1000">
              <a:solidFill>
                <a:srgbClr val="9AA3C7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6" name="Text 14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9AA3C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300" b="1" i="0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TOPIC 1  ·  LIVE DEMO</a:t>
            </a:r>
            <a:endParaRPr sz="1300" b="1" i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Box 2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000" b="1" i="0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Catalog UI → ACR → App Service</a:t>
            </a:r>
            <a:endParaRPr sz="3000" b="1" i="0">
              <a:solidFill>
                <a:srgbClr val="FFFFFF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" name="TextBox 3"/>
          <p:cNvSpPr>
            <a:spLocks noGrp="1"/>
          </p:cNvSpPr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Build the image locally, push it to your private registry, run it on an App Service Plan.</a:t>
            </a:r>
            <a:endParaRPr sz="1400" b="0" i="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TextBox 4"/>
          <p:cNvSpPr>
            <a:spLocks noGrp="1"/>
          </p:cNvSpPr>
          <p:nvPr/>
        </p:nvSpPr>
        <p:spPr>
          <a:xfrm>
            <a:off x="777240" y="1993392"/>
            <a:ext cx="10607040" cy="3675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$LOCATION = "westcentralus"     ;  $RG     = "rg-estiam-dev-2"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$PLAN     = "asp-estiam-dev-2"  ;  $ACR    = "acrestiamdev2"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$WEBAPP   = "webapp-estiam-dev-2"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group create --name $RG --location $LOCATION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appservice plan create -g $RG --name $PLAN --sku B1 --is-linux --location $LOCATION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provider register --namespace Microsoft.ContainerRegistry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acr create -g $RG --name $ACR --sku Basic --location $LOCATION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acr login --name $ACR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docker build -t "${ACR}.azurecr.io/catalog-ui:v1" .        # from the catalog-ui folder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docker push  "${ACR}.azurecr.io/catalog-ui:v1"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acr update --name $ACR --admin-enabled true              # App Service must authenticate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webapp create --name $WEBAPP --plan $PLAN -g $RG \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--deployment-container-image-name "${ACR}.azurecr.io/catalog-ui:v1"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webapp config container set ...   # + registry url / user / password (manual §4.2)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6" name="TextBox 5"/>
          <p:cNvSpPr>
            <a:spLocks noGrp="1"/>
          </p:cNvSpPr>
          <p:nvPr/>
        </p:nvSpPr>
        <p:spPr>
          <a:xfrm>
            <a:off x="548640" y="5742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150" b="0" i="1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az webapp create carries no registry credentials on its own — without the config container set step the pull silently fails and you get a blank page.</a:t>
            </a:r>
            <a:endParaRPr sz="1150" b="0" i="1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Box 6"/>
          <p:cNvSpPr>
            <a:spLocks noGrp="1"/>
          </p:cNvSpPr>
          <p:nvPr/>
        </p:nvSpPr>
        <p:spPr>
          <a:xfrm>
            <a:off x="457200" y="6473952"/>
            <a:ext cx="6949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9AA3C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Resource names here are examples — choose your own. $ACR, $WEBAPP and the Function App name must be globally unique across Azure.</a:t>
            </a:r>
            <a:endParaRPr sz="1000" b="0" i="0">
              <a:solidFill>
                <a:srgbClr val="9AA3C7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8" name="TextBox 7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9AA3C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 b="0" i="0">
              <a:solidFill>
                <a:srgbClr val="9AA3C7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-2286000" y="3931920"/>
            <a:ext cx="5486400" cy="5486400"/>
          </a:xfrm>
          <a:prstGeom prst="ellipse">
            <a:avLst/>
          </a:prstGeom>
          <a:solidFill>
            <a:srgbClr val="141A47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731520" y="2331720"/>
            <a:ext cx="822960" cy="822960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731520" y="233172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2</a:t>
            </a:r>
            <a:endParaRPr sz="1800" b="1">
              <a:solidFill>
                <a:srgbClr val="141A47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731520" y="329184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Implement Containerized Solutions</a:t>
            </a:r>
            <a:endParaRPr sz="3600" b="1">
              <a:solidFill>
                <a:srgbClr val="FFFFFF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731520" y="416052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The modern default: serverless containers, scale to zero, safe releases.</a:t>
            </a:r>
            <a:endParaRPr sz="160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300" b="1" i="0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TOPIC 2  ·  LIVE DEMO</a:t>
            </a:r>
            <a:endParaRPr sz="1300" b="1" i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Box 2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000" b="1" i="0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Catalog API → Container Apps</a:t>
            </a:r>
            <a:endParaRPr sz="3000" b="1" i="0">
              <a:solidFill>
                <a:srgbClr val="FFFFFF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" name="TextBox 3"/>
          <p:cNvSpPr>
            <a:spLocks noGrp="1"/>
          </p:cNvSpPr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Same registry, same pattern — a serverless host that scales to zero.</a:t>
            </a:r>
            <a:endParaRPr sz="1400" b="0" i="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TextBox 4"/>
          <p:cNvSpPr>
            <a:spLocks noGrp="1"/>
          </p:cNvSpPr>
          <p:nvPr/>
        </p:nvSpPr>
        <p:spPr>
          <a:xfrm>
            <a:off x="777240" y="1993392"/>
            <a:ext cx="10607040" cy="3675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$ENVNAME = "env-estiam-dev-2"   ;  $APP = "app-estiam-dev-2"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extension add --name containerapp --upgrade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provider register --namespace Microsoft.App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provider register --namespace Microsoft.OperationalInsights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docker build -t "${ACR}.azurecr.io/catalog-api:v1" .       # from the catalog-api folder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docker push  "${ACR}.azurecr.io/catalog-api:v1"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containerapp env create --name $ENVNAME -g $RG --location $LOCATION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$ACR_PASSWORD = az acr credential show --name $ACR -g $RG `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             --query "passwords[0].value" --output tsv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containerapp create --name $APP -g $RG --environment $ENVNAME `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--image "${ACR}.azurecr.io/catalog-api:v1" --target-port 8080 --ingress external `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--registry-server "${ACR}.azurecr.io" --registry-username $ACR `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5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--registry-password $ACR_PASSWORD --query properties.configuration.ingress.fqdn</a:t>
            </a:r>
            <a:endParaRPr sz="95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6" name="TextBox 5"/>
          <p:cNvSpPr>
            <a:spLocks noGrp="1"/>
          </p:cNvSpPr>
          <p:nvPr/>
        </p:nvSpPr>
        <p:spPr>
          <a:xfrm>
            <a:off x="548640" y="5742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150" b="0" i="1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--target-port 8080, not 80. .NET 8 container images listen on 8080, and a port mismatch here is what makes a revision fail activation.</a:t>
            </a:r>
            <a:endParaRPr sz="1150" b="0" i="1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Box 6"/>
          <p:cNvSpPr>
            <a:spLocks noGrp="1"/>
          </p:cNvSpPr>
          <p:nvPr/>
        </p:nvSpPr>
        <p:spPr>
          <a:xfrm>
            <a:off x="457200" y="6473952"/>
            <a:ext cx="6949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9AA3C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Then leave it idle a few minutes and show Portal → Scale: replicas drop to 0</a:t>
            </a:r>
            <a:endParaRPr sz="1000" b="0" i="0">
              <a:solidFill>
                <a:srgbClr val="9AA3C7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8" name="TextBox 7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9AA3C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 b="0" i="0">
              <a:solidFill>
                <a:srgbClr val="9AA3C7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300" b="1" i="0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TOPIC 2  ·  REVISIONS</a:t>
            </a:r>
            <a:endParaRPr sz="1300" b="1" i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Box 2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000" b="1" i="0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Two ways to release without downtime</a:t>
            </a:r>
            <a:endParaRPr sz="3000" b="1" i="0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" name="TextBox 3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Rounded Rectangle 4"/>
          <p:cNvSpPr>
            <a:spLocks noGrp="1"/>
          </p:cNvSpPr>
          <p:nvPr/>
        </p:nvSpPr>
        <p:spPr>
          <a:xfrm>
            <a:off x="548640" y="1783080"/>
            <a:ext cx="5349240" cy="3246120"/>
          </a:xfrm>
          <a:prstGeom prst="roundRect">
            <a:avLst>
              <a:gd name="adj" fmla="val 5000"/>
            </a:avLst>
          </a:prstGeom>
          <a:solidFill>
            <a:srgbClr val="EE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" name="TextBox 5"/>
          <p:cNvSpPr>
            <a:spLocks noGrp="1"/>
          </p:cNvSpPr>
          <p:nvPr/>
        </p:nvSpPr>
        <p:spPr>
          <a:xfrm>
            <a:off x="822960" y="1984248"/>
            <a:ext cx="4800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Blue / green</a:t>
            </a:r>
            <a:endParaRPr sz="135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Box 6"/>
          <p:cNvSpPr>
            <a:spLocks noGrp="1"/>
          </p:cNvSpPr>
          <p:nvPr/>
        </p:nvSpPr>
        <p:spPr>
          <a:xfrm>
            <a:off x="822960" y="2496312"/>
            <a:ext cx="480060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buNone/>
            </a:pPr>
            <a:r>
              <a:rPr sz="1150" b="0" i="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The new version is fully deployed on its own URL and validated BEFORE any real user reaches it. Then one atomic switch sends 100% of traffic across.</a:t>
            </a:r>
            <a:endParaRPr sz="1150" b="0" i="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algn="l">
              <a:lnSpc>
                <a:spcPct val="118000"/>
              </a:lnSpc>
              <a:buNone/>
            </a:pPr>
          </a:p>
          <a:p>
            <a:pPr algn="l">
              <a:lnSpc>
                <a:spcPct val="118000"/>
              </a:lnSpc>
              <a:buNone/>
            </a:pPr>
            <a:r>
              <a:rPr sz="1150" b="0" i="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Rollback is switching back — the old version was never touched.</a:t>
            </a:r>
            <a:endParaRPr sz="1150" b="0" i="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algn="l">
              <a:lnSpc>
                <a:spcPct val="118000"/>
              </a:lnSpc>
              <a:buNone/>
            </a:pPr>
          </a:p>
          <a:p>
            <a:pPr algn="l">
              <a:lnSpc>
                <a:spcPct val="118000"/>
              </a:lnSpc>
              <a:buNone/>
            </a:pPr>
            <a:r>
              <a:rPr sz="1150" b="0" i="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App Service does this with a deployment slot and a swap. Container Apps can do it too: a revision has its own URL.</a:t>
            </a:r>
            <a:endParaRPr sz="1150" b="0" i="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8" name="Rounded Rectangle 7"/>
          <p:cNvSpPr>
            <a:spLocks noGrp="1"/>
          </p:cNvSpPr>
          <p:nvPr/>
        </p:nvSpPr>
        <p:spPr>
          <a:xfrm>
            <a:off x="6291072" y="1783080"/>
            <a:ext cx="5349240" cy="324612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" name="TextBox 8"/>
          <p:cNvSpPr>
            <a:spLocks noGrp="1"/>
          </p:cNvSpPr>
          <p:nvPr/>
        </p:nvSpPr>
        <p:spPr>
          <a:xfrm>
            <a:off x="6565392" y="1984248"/>
            <a:ext cx="4800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Canary</a:t>
            </a:r>
            <a:endParaRPr sz="1350" b="1" i="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0" name="TextBox 9"/>
          <p:cNvSpPr>
            <a:spLocks noGrp="1"/>
          </p:cNvSpPr>
          <p:nvPr/>
        </p:nvSpPr>
        <p:spPr>
          <a:xfrm>
            <a:off x="6565392" y="2496312"/>
            <a:ext cx="480060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buNone/>
            </a:pPr>
            <a:r>
              <a:rPr sz="115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 percentage of REAL traffic goes to the new version before you commit to it.</a:t>
            </a:r>
            <a:endParaRPr sz="1150" b="0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algn="l">
              <a:lnSpc>
                <a:spcPct val="118000"/>
              </a:lnSpc>
              <a:buNone/>
            </a:pPr>
          </a:p>
          <a:p>
            <a:pPr algn="l">
              <a:lnSpc>
                <a:spcPct val="118000"/>
              </a:lnSpc>
              <a:buNone/>
            </a:pPr>
            <a:r>
              <a:rPr sz="115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Strictly stronger validation: it catches what only appears under real production load and real edge-case input — things out-of-band testing cannot reach.</a:t>
            </a:r>
            <a:endParaRPr sz="1150" b="0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algn="l">
              <a:lnSpc>
                <a:spcPct val="118000"/>
              </a:lnSpc>
              <a:buNone/>
            </a:pPr>
          </a:p>
          <a:p>
            <a:pPr algn="l">
              <a:lnSpc>
                <a:spcPct val="118000"/>
              </a:lnSpc>
              <a:buNone/>
            </a:pPr>
            <a:r>
              <a:rPr sz="115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The cost is honest: some live users are part of the test. Only Container Apps revisions can do this.</a:t>
            </a:r>
            <a:endParaRPr sz="1150" b="0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1" name="TextBox 10"/>
          <p:cNvSpPr>
            <a:spLocks noGrp="1"/>
          </p:cNvSpPr>
          <p:nvPr/>
        </p:nvSpPr>
        <p:spPr>
          <a:xfrm>
            <a:off x="548640" y="530352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App Service slots give you the first one. Container Apps revisions give you both — which is why we demo the canary.</a:t>
            </a:r>
            <a:endParaRPr sz="130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2" name="TextBox 11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300" b="1" i="0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TOPIC 2  ·  REVISIONS</a:t>
            </a:r>
            <a:endParaRPr sz="1300" b="1" i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Box 2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000" b="1" i="0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Canary: one URL, two revisions, weights you choose</a:t>
            </a:r>
            <a:endParaRPr sz="3000" b="1" i="0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" name="TextBox 3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Rounded Rectangle 4"/>
          <p:cNvSpPr>
            <a:spLocks noGrp="1"/>
          </p:cNvSpPr>
          <p:nvPr/>
        </p:nvSpPr>
        <p:spPr>
          <a:xfrm>
            <a:off x="640080" y="3063240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EEF3FD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" name="TextBox 5"/>
          <p:cNvSpPr>
            <a:spLocks noGrp="1"/>
          </p:cNvSpPr>
          <p:nvPr/>
        </p:nvSpPr>
        <p:spPr>
          <a:xfrm>
            <a:off x="731520" y="3191256"/>
            <a:ext cx="150876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Client</a:t>
            </a:r>
            <a:endParaRPr sz="125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Box 6"/>
          <p:cNvSpPr>
            <a:spLocks noGrp="1"/>
          </p:cNvSpPr>
          <p:nvPr/>
        </p:nvSpPr>
        <p:spPr>
          <a:xfrm>
            <a:off x="731520" y="361188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95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calls one FQDN</a:t>
            </a:r>
            <a:endParaRPr sz="95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8" name="Rounded Rectangle 7"/>
          <p:cNvSpPr>
            <a:spLocks noGrp="1"/>
          </p:cNvSpPr>
          <p:nvPr/>
        </p:nvSpPr>
        <p:spPr>
          <a:xfrm>
            <a:off x="2788920" y="2971800"/>
            <a:ext cx="1874520" cy="11887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" name="TextBox 8"/>
          <p:cNvSpPr>
            <a:spLocks noGrp="1"/>
          </p:cNvSpPr>
          <p:nvPr/>
        </p:nvSpPr>
        <p:spPr>
          <a:xfrm>
            <a:off x="2834640" y="3108960"/>
            <a:ext cx="17830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Ingress</a:t>
            </a:r>
            <a:endParaRPr sz="125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0" name="TextBox 9"/>
          <p:cNvSpPr>
            <a:spLocks noGrp="1"/>
          </p:cNvSpPr>
          <p:nvPr/>
        </p:nvSpPr>
        <p:spPr>
          <a:xfrm>
            <a:off x="2834640" y="35204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850" b="0" i="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app-…azurecontainerapps.io</a:t>
            </a:r>
            <a:endParaRPr sz="850" b="0" i="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1" name="Right Arrow 10"/>
          <p:cNvSpPr>
            <a:spLocks noGrp="1"/>
          </p:cNvSpPr>
          <p:nvPr/>
        </p:nvSpPr>
        <p:spPr>
          <a:xfrm>
            <a:off x="2423160" y="3483864"/>
            <a:ext cx="274320" cy="164592"/>
          </a:xfrm>
          <a:prstGeom prst="rightArrow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2" name="Right Arrow 11"/>
          <p:cNvSpPr>
            <a:spLocks noGrp="1"/>
          </p:cNvSpPr>
          <p:nvPr/>
        </p:nvSpPr>
        <p:spPr>
          <a:xfrm>
            <a:off x="4800600" y="2606040"/>
            <a:ext cx="960120" cy="164592"/>
          </a:xfrm>
          <a:prstGeom prst="rightArrow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3" name="Right Arrow 12"/>
          <p:cNvSpPr>
            <a:spLocks noGrp="1"/>
          </p:cNvSpPr>
          <p:nvPr/>
        </p:nvSpPr>
        <p:spPr>
          <a:xfrm>
            <a:off x="4800600" y="4434840"/>
            <a:ext cx="960120" cy="164592"/>
          </a:xfrm>
          <a:prstGeom prst="rightArrow">
            <a:avLst/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4" name="TextBox 13"/>
          <p:cNvSpPr>
            <a:spLocks noGrp="1"/>
          </p:cNvSpPr>
          <p:nvPr/>
        </p:nvSpPr>
        <p:spPr>
          <a:xfrm>
            <a:off x="4709160" y="228600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50%</a:t>
            </a:r>
            <a:endParaRPr sz="130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5" name="TextBox 14"/>
          <p:cNvSpPr>
            <a:spLocks noGrp="1"/>
          </p:cNvSpPr>
          <p:nvPr/>
        </p:nvSpPr>
        <p:spPr>
          <a:xfrm>
            <a:off x="4709160" y="411480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50%</a:t>
            </a:r>
            <a:endParaRPr sz="1300" b="1" i="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6" name="Rounded Rectangle 15"/>
          <p:cNvSpPr>
            <a:spLocks noGrp="1"/>
          </p:cNvSpPr>
          <p:nvPr/>
        </p:nvSpPr>
        <p:spPr>
          <a:xfrm>
            <a:off x="5943600" y="2103120"/>
            <a:ext cx="4754880" cy="1188720"/>
          </a:xfrm>
          <a:prstGeom prst="roundRect">
            <a:avLst>
              <a:gd name="adj" fmla="val 10000"/>
            </a:avLst>
          </a:prstGeom>
          <a:solidFill>
            <a:srgbClr val="EEF3FD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7" name="TextBox 16"/>
          <p:cNvSpPr>
            <a:spLocks noGrp="1"/>
          </p:cNvSpPr>
          <p:nvPr/>
        </p:nvSpPr>
        <p:spPr>
          <a:xfrm>
            <a:off x="6126480" y="22402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app--0000001      (image catalog-api:v1)</a:t>
            </a:r>
            <a:endParaRPr sz="120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8" name="TextBox 17"/>
          <p:cNvSpPr>
            <a:spLocks noGrp="1"/>
          </p:cNvSpPr>
          <p:nvPr/>
        </p:nvSpPr>
        <p:spPr>
          <a:xfrm>
            <a:off x="6126480" y="2633472"/>
            <a:ext cx="4389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returns  { "version": "v1" }      ·      no /titles endpoint</a:t>
            </a:r>
            <a:endParaRPr sz="1000" b="0" i="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9" name="Rounded Rectangle 18"/>
          <p:cNvSpPr>
            <a:spLocks noGrp="1"/>
          </p:cNvSpPr>
          <p:nvPr/>
        </p:nvSpPr>
        <p:spPr>
          <a:xfrm>
            <a:off x="5943600" y="3977640"/>
            <a:ext cx="4754880" cy="11887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0" name="TextBox 19"/>
          <p:cNvSpPr>
            <a:spLocks noGrp="1"/>
          </p:cNvSpPr>
          <p:nvPr/>
        </p:nvSpPr>
        <p:spPr>
          <a:xfrm>
            <a:off x="6126480" y="411480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app--v2                (image catalog-api:v2)</a:t>
            </a:r>
            <a:endParaRPr sz="12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1" name="TextBox 20"/>
          <p:cNvSpPr>
            <a:spLocks noGrp="1"/>
          </p:cNvSpPr>
          <p:nvPr/>
        </p:nvSpPr>
        <p:spPr>
          <a:xfrm>
            <a:off x="6126480" y="4507992"/>
            <a:ext cx="4389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returns  { "version": "v2" }      ·      /titles now works</a:t>
            </a:r>
            <a:endParaRPr sz="1000" b="0" i="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2" name="Rounded Rectangle 21"/>
          <p:cNvSpPr>
            <a:spLocks noGrp="1"/>
          </p:cNvSpPr>
          <p:nvPr/>
        </p:nvSpPr>
        <p:spPr>
          <a:xfrm>
            <a:off x="548640" y="5440680"/>
            <a:ext cx="11091672" cy="566928"/>
          </a:xfrm>
          <a:prstGeom prst="roundRect">
            <a:avLst>
              <a:gd name="adj" fmla="val 14000"/>
            </a:avLst>
          </a:prstGeom>
          <a:solidFill>
            <a:srgbClr val="F6F7FB"/>
          </a:solidFill>
          <a:ln w="15875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3" name="TextBox 22"/>
          <p:cNvSpPr>
            <a:spLocks noGrp="1"/>
          </p:cNvSpPr>
          <p:nvPr/>
        </p:nvSpPr>
        <p:spPr>
          <a:xfrm>
            <a:off x="731520" y="5440680"/>
            <a:ext cx="1072591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 new revision starts at 0% traffic — deploying it changes nothing until you assign a weight. That is the safety net.</a:t>
            </a:r>
            <a:endParaRPr sz="1250" b="1" i="0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300" b="1" i="0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TOPIC 2  ·  LIVE DEMO</a:t>
            </a:r>
            <a:endParaRPr sz="1300" b="1" i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Box 2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000" b="1" i="0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Deploy a revision, then choose the traffic</a:t>
            </a:r>
            <a:endParaRPr sz="3000" b="1" i="0">
              <a:solidFill>
                <a:srgbClr val="FFFFFF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" name="TextBox 3"/>
          <p:cNvSpPr>
            <a:spLocks noGrp="1"/>
          </p:cNvSpPr>
          <p:nvPr/>
        </p:nvSpPr>
        <p:spPr>
          <a:xfrm>
            <a:off x="777240" y="1600200"/>
            <a:ext cx="10607040" cy="406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buNone/>
            </a:pPr>
            <a:r>
              <a:rPr sz="90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v2 is a separate folder (catalog-api-v2) — no live code editing mid-demo.</a:t>
            </a:r>
            <a:endParaRPr sz="90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0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It adds a static in-memory GET /titles; real persistence arrives in Module 2.</a:t>
            </a:r>
            <a:endParaRPr sz="90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0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docker build -t "${ACR}.azurecr.io/catalog-api:v2" .   ;  docker push "${ACR}.azurecr.io/catalog-api:v2"</a:t>
            </a:r>
            <a:endParaRPr sz="90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</a:p>
          <a:p>
            <a:pPr algn="l">
              <a:lnSpc>
                <a:spcPct val="106000"/>
              </a:lnSpc>
              <a:buNone/>
            </a:pPr>
            <a:r>
              <a:rPr sz="90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1 — let old and new revisions run side by side (BEFORE deploying v2)</a:t>
            </a:r>
            <a:endParaRPr sz="90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0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containerapp revision set-mode --name $APP -g $RG --mode multiple</a:t>
            </a:r>
            <a:endParaRPr sz="90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</a:p>
          <a:p>
            <a:pPr algn="l">
              <a:lnSpc>
                <a:spcPct val="106000"/>
              </a:lnSpc>
              <a:buNone/>
            </a:pPr>
            <a:r>
              <a:rPr sz="90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2 — deploy v2 as a new revision. It comes up at 0% traffic: nothing changes yet.</a:t>
            </a:r>
            <a:endParaRPr sz="90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0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containerapp update --name $APP -g $RG `</a:t>
            </a:r>
            <a:endParaRPr sz="90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0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--image "${ACR}.azurecr.io/catalog-api:v2" --revision-suffix v2</a:t>
            </a:r>
            <a:endParaRPr sz="90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</a:p>
          <a:p>
            <a:pPr algn="l">
              <a:lnSpc>
                <a:spcPct val="106000"/>
              </a:lnSpc>
              <a:buNone/>
            </a:pPr>
            <a:r>
              <a:rPr sz="90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3 — get the exact revision names and their current weights</a:t>
            </a:r>
            <a:endParaRPr sz="90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0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containerapp revision list --name $APP -g $RG --output table `</a:t>
            </a:r>
            <a:endParaRPr sz="90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0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--query "[].{Revision:name, Active:properties.active, Traffic:properties.trafficWeight}"</a:t>
            </a:r>
            <a:endParaRPr sz="90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</a:p>
          <a:p>
            <a:pPr algn="l">
              <a:lnSpc>
                <a:spcPct val="106000"/>
              </a:lnSpc>
              <a:buNone/>
            </a:pPr>
            <a:r>
              <a:rPr sz="90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4 — the canary: half the real traffic to the new revision</a:t>
            </a:r>
            <a:endParaRPr sz="90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0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containerapp ingress traffic set --name $APP -g $RG `</a:t>
            </a:r>
            <a:endParaRPr sz="90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0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--revision-weight &lt;old-revision&gt;=50 &lt;new-revision&gt;=50</a:t>
            </a:r>
            <a:endParaRPr sz="90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</a:p>
          <a:p>
            <a:pPr algn="l">
              <a:lnSpc>
                <a:spcPct val="106000"/>
              </a:lnSpc>
              <a:buNone/>
            </a:pPr>
            <a:r>
              <a:rPr sz="90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5 — happy? send it all across.  Unhappy? set the old one back to 100.</a:t>
            </a:r>
            <a:endParaRPr sz="90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6000"/>
              </a:lnSpc>
              <a:buNone/>
            </a:pPr>
            <a:r>
              <a:rPr sz="900" b="0" i="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containerapp ingress traffic set --name $APP -g $RG --revision-weight &lt;new-revision&gt;=100</a:t>
            </a:r>
            <a:endParaRPr sz="900" b="0" i="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5" name="TextBox 4"/>
          <p:cNvSpPr>
            <a:spLocks noGrp="1"/>
          </p:cNvSpPr>
          <p:nvPr/>
        </p:nvSpPr>
        <p:spPr>
          <a:xfrm>
            <a:off x="548640" y="5742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150" b="0" i="1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set-mode multiple must run BEFORE the update — deploying with a --revision-suffix while still in single mode replaces the old revision instead of running beside it.</a:t>
            </a:r>
            <a:endParaRPr sz="1150" b="0" i="1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6" name="TextBox 5"/>
          <p:cNvSpPr>
            <a:spLocks noGrp="1"/>
          </p:cNvSpPr>
          <p:nvPr/>
        </p:nvSpPr>
        <p:spPr>
          <a:xfrm>
            <a:off x="457200" y="6473952"/>
            <a:ext cx="6949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9AA3C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Revision names look like app-estiam-dev-2--0000001 and app-estiam-dev-2--v2</a:t>
            </a:r>
            <a:endParaRPr sz="1000" b="0" i="0">
              <a:solidFill>
                <a:srgbClr val="9AA3C7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Box 6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9AA3C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 b="0" i="0">
              <a:solidFill>
                <a:srgbClr val="9AA3C7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-2286000" y="3931920"/>
            <a:ext cx="5486400" cy="5486400"/>
          </a:xfrm>
          <a:prstGeom prst="ellipse">
            <a:avLst/>
          </a:prstGeom>
          <a:solidFill>
            <a:srgbClr val="141A47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731520" y="2331720"/>
            <a:ext cx="822960" cy="822960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731520" y="233172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3</a:t>
            </a:r>
            <a:endParaRPr sz="18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731520" y="329184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Azure Functions</a:t>
            </a:r>
            <a:endParaRPr sz="36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731520" y="416052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"I just need to run code in response to something" — no server, not even a container. Theory today; we build one in Module 5.</a:t>
            </a:r>
            <a:endParaRPr sz="160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TOPIC 3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Triggers &amp; bindings</a:t>
            </a:r>
            <a:endParaRPr sz="30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48640" y="1691640"/>
            <a:ext cx="5349240" cy="3017520"/>
          </a:xfrm>
          <a:prstGeom prst="roundRect">
            <a:avLst>
              <a:gd name="adj" fmla="val 2727"/>
            </a:avLst>
          </a:prstGeom>
          <a:solidFill>
            <a:srgbClr val="CADCFC"/>
          </a:solidFill>
        </p:spPr>
      </p:sp>
      <p:sp>
        <p:nvSpPr>
          <p:cNvPr id="5" name="Text 3"/>
          <p:cNvSpPr>
            <a:spLocks noGrp="1"/>
          </p:cNvSpPr>
          <p:nvPr/>
        </p:nvSpPr>
        <p:spPr>
          <a:xfrm>
            <a:off x="868680" y="187452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Trigger</a:t>
            </a:r>
            <a:endParaRPr sz="17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868680" y="233172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What starts the function. Exactly one per function.</a:t>
            </a:r>
            <a:endParaRPr sz="1300"/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868680" y="28803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•  HttpTrigger — a web request</a:t>
            </a:r>
            <a:endParaRPr sz="1250"/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868680" y="326440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•  QueueTrigger — a message arrives</a:t>
            </a:r>
            <a:endParaRPr sz="1250"/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868680" y="364845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•  TimerTrigger — a schedule (cron-like)</a:t>
            </a:r>
            <a:endParaRPr sz="1250"/>
          </a:p>
        </p:txBody>
      </p:sp>
      <p:sp>
        <p:nvSpPr>
          <p:cNvPr id="10" name="Text 8"/>
          <p:cNvSpPr>
            <a:spLocks noGrp="1"/>
          </p:cNvSpPr>
          <p:nvPr/>
        </p:nvSpPr>
        <p:spPr>
          <a:xfrm>
            <a:off x="868680" y="4032504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•  BlobTrigger — a file changes</a:t>
            </a:r>
            <a:endParaRPr sz="1250"/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6172200" y="1691640"/>
            <a:ext cx="5349240" cy="3017520"/>
          </a:xfrm>
          <a:prstGeom prst="roundRect">
            <a:avLst>
              <a:gd name="adj" fmla="val 2727"/>
            </a:avLst>
          </a:prstGeom>
          <a:solidFill>
            <a:srgbClr val="EEF3FD"/>
          </a:solidFill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6492240" y="187452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Binding</a:t>
            </a:r>
            <a:endParaRPr sz="1700"/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6492240" y="2331720"/>
            <a:ext cx="475488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Declarative input/output connection to a service — zero or many per function.</a:t>
            </a:r>
            <a:endParaRPr sz="1300"/>
          </a:p>
        </p:txBody>
      </p:sp>
      <p:sp>
        <p:nvSpPr>
          <p:cNvPr id="14" name="Text 12"/>
          <p:cNvSpPr>
            <a:spLocks noGrp="1"/>
          </p:cNvSpPr>
          <p:nvPr/>
        </p:nvSpPr>
        <p:spPr>
          <a:xfrm>
            <a:off x="6492240" y="3063240"/>
            <a:ext cx="4754880" cy="1463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Example: a QueueTrigger + a CosmosDBOutput binding — the plumbing for "read queue / write Cosmos DB" is config, not hand-written SDK calls.</a:t>
            </a:r>
            <a:endParaRPr sz="1250"/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Trigger + bindings, made concrete in code, in the live demo</a:t>
            </a:r>
            <a:endParaRPr sz="1000"/>
          </a:p>
        </p:txBody>
      </p:sp>
      <p:sp>
        <p:nvSpPr>
          <p:cNvPr id="16" name="Text 14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TOPIC 3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Five hosting plans</a:t>
            </a:r>
            <a:endParaRPr sz="30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48640" y="169164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</p:spPr>
      </p:sp>
      <p:sp>
        <p:nvSpPr>
          <p:cNvPr id="5" name="Text 3"/>
          <p:cNvSpPr>
            <a:spLocks noGrp="1"/>
          </p:cNvSpPr>
          <p:nvPr/>
        </p:nvSpPr>
        <p:spPr>
          <a:xfrm>
            <a:off x="658368" y="1691640"/>
            <a:ext cx="306324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Plan</a:t>
            </a:r>
            <a:endParaRPr sz="125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3904488" y="1691640"/>
            <a:ext cx="26974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Billing</a:t>
            </a:r>
            <a:endParaRPr sz="1250"/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6784848" y="1691640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VNet</a:t>
            </a:r>
            <a:endParaRPr sz="1250"/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7882128" y="1691640"/>
            <a:ext cx="118872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Containers</a:t>
            </a:r>
            <a:endParaRPr sz="1250"/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9253728" y="1691640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Status</a:t>
            </a:r>
            <a:endParaRPr sz="1250"/>
          </a:p>
        </p:txBody>
      </p:sp>
      <p:sp>
        <p:nvSpPr>
          <p:cNvPr id="10" name="Shape 8"/>
          <p:cNvSpPr>
            <a:spLocks noGrp="1"/>
          </p:cNvSpPr>
          <p:nvPr/>
        </p:nvSpPr>
        <p:spPr>
          <a:xfrm>
            <a:off x="548640" y="2258568"/>
            <a:ext cx="11064240" cy="566928"/>
          </a:xfrm>
          <a:prstGeom prst="rect">
            <a:avLst/>
          </a:prstGeom>
          <a:solidFill>
            <a:srgbClr val="EEF3FD"/>
          </a:solidFill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658368" y="2258568"/>
            <a:ext cx="306324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Flex Consumption</a:t>
            </a:r>
            <a:endParaRPr sz="1150"/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3904488" y="2258568"/>
            <a:ext cx="26974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Per-execution, scale 0→1000</a:t>
            </a:r>
            <a:endParaRPr sz="1150"/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6784848" y="2258568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Yes</a:t>
            </a:r>
            <a:endParaRPr sz="1150"/>
          </a:p>
        </p:txBody>
      </p:sp>
      <p:sp>
        <p:nvSpPr>
          <p:cNvPr id="14" name="Text 12"/>
          <p:cNvSpPr>
            <a:spLocks noGrp="1"/>
          </p:cNvSpPr>
          <p:nvPr/>
        </p:nvSpPr>
        <p:spPr>
          <a:xfrm>
            <a:off x="7882128" y="2258568"/>
            <a:ext cx="118872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No</a:t>
            </a:r>
            <a:endParaRPr sz="1150"/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9253728" y="2258568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Recommended default</a:t>
            </a:r>
            <a:endParaRPr sz="1150"/>
          </a:p>
        </p:txBody>
      </p:sp>
      <p:sp>
        <p:nvSpPr>
          <p:cNvPr id="16" name="Shape 14"/>
          <p:cNvSpPr>
            <a:spLocks noGrp="1"/>
          </p:cNvSpPr>
          <p:nvPr/>
        </p:nvSpPr>
        <p:spPr>
          <a:xfrm>
            <a:off x="548640" y="2825496"/>
            <a:ext cx="11064240" cy="566928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7" name="Text 15"/>
          <p:cNvSpPr>
            <a:spLocks noGrp="1"/>
          </p:cNvSpPr>
          <p:nvPr/>
        </p:nvSpPr>
        <p:spPr>
          <a:xfrm>
            <a:off x="658368" y="2825496"/>
            <a:ext cx="306324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Premium</a:t>
            </a:r>
            <a:endParaRPr sz="1150"/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3904488" y="2825496"/>
            <a:ext cx="26974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Core-seconds, always warm</a:t>
            </a:r>
            <a:endParaRPr sz="1150"/>
          </a:p>
        </p:txBody>
      </p:sp>
      <p:sp>
        <p:nvSpPr>
          <p:cNvPr id="19" name="Text 17"/>
          <p:cNvSpPr>
            <a:spLocks noGrp="1"/>
          </p:cNvSpPr>
          <p:nvPr/>
        </p:nvSpPr>
        <p:spPr>
          <a:xfrm>
            <a:off x="6784848" y="2825496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Yes</a:t>
            </a:r>
            <a:endParaRPr sz="1150"/>
          </a:p>
        </p:txBody>
      </p:sp>
      <p:sp>
        <p:nvSpPr>
          <p:cNvPr id="20" name="Text 18"/>
          <p:cNvSpPr>
            <a:spLocks noGrp="1"/>
          </p:cNvSpPr>
          <p:nvPr/>
        </p:nvSpPr>
        <p:spPr>
          <a:xfrm>
            <a:off x="7882128" y="2825496"/>
            <a:ext cx="118872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Yes (Linux)</a:t>
            </a:r>
            <a:endParaRPr sz="1150"/>
          </a:p>
        </p:txBody>
      </p:sp>
      <p:sp>
        <p:nvSpPr>
          <p:cNvPr id="21" name="Text 19"/>
          <p:cNvSpPr>
            <a:spLocks noGrp="1"/>
          </p:cNvSpPr>
          <p:nvPr/>
        </p:nvSpPr>
        <p:spPr>
          <a:xfrm>
            <a:off x="9253728" y="2825496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Continuous workloads</a:t>
            </a:r>
            <a:endParaRPr sz="1150"/>
          </a:p>
        </p:txBody>
      </p:sp>
      <p:sp>
        <p:nvSpPr>
          <p:cNvPr id="22" name="Shape 20"/>
          <p:cNvSpPr>
            <a:spLocks noGrp="1"/>
          </p:cNvSpPr>
          <p:nvPr/>
        </p:nvSpPr>
        <p:spPr>
          <a:xfrm>
            <a:off x="548640" y="3392424"/>
            <a:ext cx="11064240" cy="566928"/>
          </a:xfrm>
          <a:prstGeom prst="rect">
            <a:avLst/>
          </a:prstGeom>
          <a:solidFill>
            <a:srgbClr val="EEF3FD"/>
          </a:solidFill>
        </p:spPr>
      </p:sp>
      <p:sp>
        <p:nvSpPr>
          <p:cNvPr id="23" name="Text 21"/>
          <p:cNvSpPr>
            <a:spLocks noGrp="1"/>
          </p:cNvSpPr>
          <p:nvPr/>
        </p:nvSpPr>
        <p:spPr>
          <a:xfrm>
            <a:off x="658368" y="3392424"/>
            <a:ext cx="306324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Dedicated (App Service Plan)</a:t>
            </a:r>
            <a:endParaRPr sz="1150"/>
          </a:p>
        </p:txBody>
      </p:sp>
      <p:sp>
        <p:nvSpPr>
          <p:cNvPr id="24" name="Text 22"/>
          <p:cNvSpPr>
            <a:spLocks noGrp="1"/>
          </p:cNvSpPr>
          <p:nvPr/>
        </p:nvSpPr>
        <p:spPr>
          <a:xfrm>
            <a:off x="3904488" y="3392424"/>
            <a:ext cx="26974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Fixed pricing</a:t>
            </a:r>
            <a:endParaRPr sz="1150"/>
          </a:p>
        </p:txBody>
      </p:sp>
      <p:sp>
        <p:nvSpPr>
          <p:cNvPr id="25" name="Text 23"/>
          <p:cNvSpPr>
            <a:spLocks noGrp="1"/>
          </p:cNvSpPr>
          <p:nvPr/>
        </p:nvSpPr>
        <p:spPr>
          <a:xfrm>
            <a:off x="6784848" y="3392424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Yes</a:t>
            </a:r>
            <a:endParaRPr sz="1150"/>
          </a:p>
        </p:txBody>
      </p:sp>
      <p:sp>
        <p:nvSpPr>
          <p:cNvPr id="26" name="Text 24"/>
          <p:cNvSpPr>
            <a:spLocks noGrp="1"/>
          </p:cNvSpPr>
          <p:nvPr/>
        </p:nvSpPr>
        <p:spPr>
          <a:xfrm>
            <a:off x="7882128" y="3392424"/>
            <a:ext cx="118872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Yes (Linux)</a:t>
            </a:r>
            <a:endParaRPr sz="1150"/>
          </a:p>
        </p:txBody>
      </p:sp>
      <p:sp>
        <p:nvSpPr>
          <p:cNvPr id="27" name="Text 25"/>
          <p:cNvSpPr>
            <a:spLocks noGrp="1"/>
          </p:cNvSpPr>
          <p:nvPr/>
        </p:nvSpPr>
        <p:spPr>
          <a:xfrm>
            <a:off x="9253728" y="3392424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Full control + slots</a:t>
            </a:r>
            <a:endParaRPr sz="1150"/>
          </a:p>
        </p:txBody>
      </p:sp>
      <p:sp>
        <p:nvSpPr>
          <p:cNvPr id="28" name="Shape 26"/>
          <p:cNvSpPr>
            <a:spLocks noGrp="1"/>
          </p:cNvSpPr>
          <p:nvPr/>
        </p:nvSpPr>
        <p:spPr>
          <a:xfrm>
            <a:off x="548640" y="3959352"/>
            <a:ext cx="11064240" cy="566928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9" name="Text 27"/>
          <p:cNvSpPr>
            <a:spLocks noGrp="1"/>
          </p:cNvSpPr>
          <p:nvPr/>
        </p:nvSpPr>
        <p:spPr>
          <a:xfrm>
            <a:off x="658368" y="3959352"/>
            <a:ext cx="306324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Container Apps hosting</a:t>
            </a:r>
            <a:endParaRPr sz="1150"/>
          </a:p>
        </p:txBody>
      </p:sp>
      <p:sp>
        <p:nvSpPr>
          <p:cNvPr id="30" name="Text 28"/>
          <p:cNvSpPr>
            <a:spLocks noGrp="1"/>
          </p:cNvSpPr>
          <p:nvPr/>
        </p:nvSpPr>
        <p:spPr>
          <a:xfrm>
            <a:off x="3904488" y="3959352"/>
            <a:ext cx="26974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ACA-style</a:t>
            </a:r>
            <a:endParaRPr sz="1150"/>
          </a:p>
        </p:txBody>
      </p:sp>
      <p:sp>
        <p:nvSpPr>
          <p:cNvPr id="31" name="Text 29"/>
          <p:cNvSpPr>
            <a:spLocks noGrp="1"/>
          </p:cNvSpPr>
          <p:nvPr/>
        </p:nvSpPr>
        <p:spPr>
          <a:xfrm>
            <a:off x="6784848" y="3959352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Yes</a:t>
            </a:r>
            <a:endParaRPr sz="1150"/>
          </a:p>
        </p:txBody>
      </p:sp>
      <p:sp>
        <p:nvSpPr>
          <p:cNvPr id="32" name="Text 30"/>
          <p:cNvSpPr>
            <a:spLocks noGrp="1"/>
          </p:cNvSpPr>
          <p:nvPr/>
        </p:nvSpPr>
        <p:spPr>
          <a:xfrm>
            <a:off x="7882128" y="3959352"/>
            <a:ext cx="118872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Only</a:t>
            </a:r>
            <a:endParaRPr sz="1150"/>
          </a:p>
        </p:txBody>
      </p:sp>
      <p:sp>
        <p:nvSpPr>
          <p:cNvPr id="33" name="Text 31"/>
          <p:cNvSpPr>
            <a:spLocks noGrp="1"/>
          </p:cNvSpPr>
          <p:nvPr/>
        </p:nvSpPr>
        <p:spPr>
          <a:xfrm>
            <a:off x="9253728" y="3959352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No K8s overhead</a:t>
            </a:r>
            <a:endParaRPr sz="1150"/>
          </a:p>
        </p:txBody>
      </p:sp>
      <p:sp>
        <p:nvSpPr>
          <p:cNvPr id="34" name="Shape 32"/>
          <p:cNvSpPr>
            <a:spLocks noGrp="1"/>
          </p:cNvSpPr>
          <p:nvPr/>
        </p:nvSpPr>
        <p:spPr>
          <a:xfrm>
            <a:off x="548640" y="4526280"/>
            <a:ext cx="11064240" cy="566928"/>
          </a:xfrm>
          <a:prstGeom prst="rect">
            <a:avLst/>
          </a:prstGeom>
          <a:solidFill>
            <a:srgbClr val="EEF3FD"/>
          </a:solidFill>
        </p:spPr>
      </p:sp>
      <p:sp>
        <p:nvSpPr>
          <p:cNvPr id="35" name="Text 33"/>
          <p:cNvSpPr>
            <a:spLocks noGrp="1"/>
          </p:cNvSpPr>
          <p:nvPr/>
        </p:nvSpPr>
        <p:spPr>
          <a:xfrm>
            <a:off x="658368" y="4526280"/>
            <a:ext cx="306324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Consumption (legacy)</a:t>
            </a:r>
            <a:endParaRPr sz="1150"/>
          </a:p>
        </p:txBody>
      </p:sp>
      <p:sp>
        <p:nvSpPr>
          <p:cNvPr id="36" name="Text 34"/>
          <p:cNvSpPr>
            <a:spLocks noGrp="1"/>
          </p:cNvSpPr>
          <p:nvPr/>
        </p:nvSpPr>
        <p:spPr>
          <a:xfrm>
            <a:off x="3904488" y="4526280"/>
            <a:ext cx="26974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Cheapest, per-exec</a:t>
            </a:r>
            <a:endParaRPr sz="1150"/>
          </a:p>
        </p:txBody>
      </p:sp>
      <p:sp>
        <p:nvSpPr>
          <p:cNvPr id="37" name="Text 35"/>
          <p:cNvSpPr>
            <a:spLocks noGrp="1"/>
          </p:cNvSpPr>
          <p:nvPr/>
        </p:nvSpPr>
        <p:spPr>
          <a:xfrm>
            <a:off x="6784848" y="4526280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No</a:t>
            </a:r>
            <a:endParaRPr sz="1150"/>
          </a:p>
        </p:txBody>
      </p:sp>
      <p:sp>
        <p:nvSpPr>
          <p:cNvPr id="38" name="Text 36"/>
          <p:cNvSpPr>
            <a:spLocks noGrp="1"/>
          </p:cNvSpPr>
          <p:nvPr/>
        </p:nvSpPr>
        <p:spPr>
          <a:xfrm>
            <a:off x="7882128" y="4526280"/>
            <a:ext cx="118872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No</a:t>
            </a:r>
            <a:endParaRPr sz="1150"/>
          </a:p>
        </p:txBody>
      </p:sp>
      <p:sp>
        <p:nvSpPr>
          <p:cNvPr id="39" name="Text 37"/>
          <p:cNvSpPr>
            <a:spLocks noGrp="1"/>
          </p:cNvSpPr>
          <p:nvPr/>
        </p:nvSpPr>
        <p:spPr>
          <a:xfrm>
            <a:off x="9253728" y="4526280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Linux retiring Sep 2028</a:t>
            </a:r>
            <a:endParaRPr sz="1150"/>
          </a:p>
        </p:txBody>
      </p:sp>
      <p:sp>
        <p:nvSpPr>
          <p:cNvPr id="40" name="Text 38"/>
          <p:cNvSpPr>
            <a:spLocks noGrp="1"/>
          </p:cNvSpPr>
          <p:nvPr/>
        </p:nvSpPr>
        <p:spPr>
          <a:xfrm>
            <a:off x="548640" y="5230368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i="1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Container Apps hosting = the bridge back to Topic 2: a Function can run inside the same Container Apps environment, with no Kubernetes overhead. Dedicated is literally an App Service Plan from Topic 1 — same compute model, and it supports deployment slots.</a:t>
            </a:r>
            <a:endParaRPr sz="1200" i="1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41" name="Text 39"/>
          <p:cNvSpPr>
            <a:spLocks noGrp="1"/>
          </p:cNvSpPr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Linux Consumption retires 30 Sept 2028 — migrate to Flex Consumption</a:t>
            </a:r>
            <a:endParaRPr sz="1000"/>
          </a:p>
        </p:txBody>
      </p:sp>
      <p:sp>
        <p:nvSpPr>
          <p:cNvPr id="42" name="Text 40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TOPIC 3  ·  PREVIEW — BUILT IN MODULE 5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What Module 5 will build</a:t>
            </a:r>
            <a:endParaRPr sz="3000" b="1">
              <a:solidFill>
                <a:srgbClr val="FFFFFF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48640" y="1508760"/>
            <a:ext cx="11064240" cy="2514600"/>
          </a:xfrm>
          <a:prstGeom prst="roundRect">
            <a:avLst>
              <a:gd name="adj" fmla="val 2909"/>
            </a:avLst>
          </a:prstGeom>
          <a:solidFill>
            <a:srgbClr val="141A47"/>
          </a:solidFill>
        </p:spPr>
      </p:sp>
      <p:sp>
        <p:nvSpPr>
          <p:cNvPr id="5" name="Text 3"/>
          <p:cNvSpPr>
            <a:spLocks noGrp="1"/>
          </p:cNvSpPr>
          <p:nvPr/>
        </p:nvSpPr>
        <p:spPr>
          <a:xfrm>
            <a:off x="777240" y="1627632"/>
            <a:ext cx="10607040" cy="23591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5000"/>
              </a:lnSpc>
              <a:buNone/>
            </a:pPr>
            <a:r>
              <a:rPr sz="95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Toolchain first — none of this ships with the Azure CLI:</a:t>
            </a:r>
            <a:endParaRPr sz="95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sz="95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  .NET SDK 8 (LTS)   ·   VS Code + C# Dev Kit + Azure Functions extension</a:t>
            </a:r>
            <a:endParaRPr sz="95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sz="95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  Azure Functions Core Tools v4 → the `func` command below:</a:t>
            </a:r>
            <a:endParaRPr sz="95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sz="95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      </a:t>
            </a:r>
            <a:r>
              <a:rPr sz="95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npm install -g azure-functions-core-tools@4 --unsafe-perm true</a:t>
            </a:r>
            <a:br>
              <a:rPr sz="95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</a:br>
            <a:br>
              <a:rPr sz="95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</a:br>
            <a:r>
              <a:rPr sz="95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func init . --worker-runtime dotnet-isolated --target-framework net8.0</a:t>
            </a:r>
            <a:endParaRPr sz="95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sz="95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func new --name HelloEstiam --template "HTTP trigger"</a:t>
            </a:r>
            <a:endParaRPr sz="95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sz="95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func start                              # test locally first</a:t>
            </a:r>
            <a:br>
              <a:rPr sz="95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</a:br>
            <a:endParaRPr sz="95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sz="95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az functionapp create --resource-group $RG --name &lt;app-name&gt; `</a:t>
            </a:r>
            <a:endParaRPr sz="95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sz="95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--storage-account &lt;storage-name&gt; --flexconsumption-location &lt;region&gt; `</a:t>
            </a:r>
            <a:endParaRPr sz="95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sz="95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--runtime dotnet-isolated --runtime-version 8.0</a:t>
            </a:r>
            <a:endParaRPr sz="95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sz="95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func azure functionapp publish &lt;app-name&gt;</a:t>
            </a:r>
            <a:endParaRPr sz="950">
              <a:solidFill>
                <a:srgbClr val="D7E3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6" name="Shape 4"/>
          <p:cNvSpPr>
            <a:spLocks noGrp="1"/>
          </p:cNvSpPr>
          <p:nvPr/>
        </p:nvSpPr>
        <p:spPr>
          <a:xfrm>
            <a:off x="548640" y="4419600"/>
            <a:ext cx="11064240" cy="1965960"/>
          </a:xfrm>
          <a:prstGeom prst="roundRect">
            <a:avLst>
              <a:gd name="adj" fmla="val 4186"/>
            </a:avLst>
          </a:prstGeom>
          <a:solidFill>
            <a:srgbClr val="24306A"/>
          </a:solidFill>
        </p:spPr>
      </p:sp>
      <p:sp>
        <p:nvSpPr>
          <p:cNvPr id="7" name="Text 5"/>
          <p:cNvSpPr>
            <a:spLocks noGrp="1"/>
          </p:cNvSpPr>
          <p:nvPr/>
        </p:nvSpPr>
        <p:spPr>
          <a:xfrm>
            <a:off x="822960" y="455244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Why the deployed URL 401s — and why that is a feature</a:t>
            </a:r>
            <a:endParaRPr sz="1400" b="1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822960" y="493649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Default trigger uses AuthorizationLevel.Function — requires a key in the cloud (func start doesn't enforce this locally). Preview of Module 3: Azure Security.</a:t>
            </a:r>
            <a:endParaRPr sz="1250"/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822960" y="543941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ct val="130000"/>
              </a:lnSpc>
              <a:buNone/>
            </a:pPr>
            <a:r>
              <a:rPr sz="115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A) Real pattern: az functionapp function keys list ... then call ?code=&lt;key&gt;</a:t>
            </a:r>
            <a:endParaRPr sz="1150"/>
          </a:p>
          <a:p>
            <a:pPr marL="0" indent="0">
              <a:lnSpc>
                <a:spcPct val="130000"/>
              </a:lnSpc>
              <a:buNone/>
            </a:pPr>
            <a:r>
              <a:rPr sz="1150">
                <a:solidFill>
                  <a:srgbClr val="D7E3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B) Quick demo: switch to AuthorizationLevel.Anonymous in code and republish</a:t>
            </a:r>
            <a:endParaRPr sz="1150"/>
          </a:p>
        </p:txBody>
      </p:sp>
      <p:sp>
        <p:nvSpPr>
          <p:cNvPr id="10" name="Text 8"/>
          <p:cNvSpPr>
            <a:spLocks noGrp="1"/>
          </p:cNvSpPr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9AA3C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Read-only preview today — no one should type these commands this morning</a:t>
            </a:r>
            <a:endParaRPr sz="1000">
              <a:solidFill>
                <a:srgbClr val="9AA3C7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1" name="Text 9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9AA3C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WRAP-UP</a:t>
            </a:r>
            <a:endParaRPr sz="1300"/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Module 1 — key takeaways</a:t>
            </a:r>
            <a:endParaRPr sz="30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48640" y="178308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EEF3FD"/>
          </a:solidFill>
        </p:spPr>
      </p:sp>
      <p:sp>
        <p:nvSpPr>
          <p:cNvPr id="5" name="Shape 3"/>
          <p:cNvSpPr>
            <a:spLocks noGrp="1"/>
          </p:cNvSpPr>
          <p:nvPr/>
        </p:nvSpPr>
        <p:spPr>
          <a:xfrm>
            <a:off x="868680" y="2139696"/>
            <a:ext cx="475488" cy="475488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6" name="Text 4"/>
          <p:cNvSpPr>
            <a:spLocks noGrp="1"/>
          </p:cNvSpPr>
          <p:nvPr/>
        </p:nvSpPr>
        <p:spPr>
          <a:xfrm>
            <a:off x="868680" y="213969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1</a:t>
            </a:r>
            <a:endParaRPr sz="1800"/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1783080" y="1920240"/>
            <a:ext cx="8961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Choosing a host</a:t>
            </a:r>
            <a:endParaRPr sz="1700" b="1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1783080" y="2350008"/>
            <a:ext cx="89611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Container Apps is the modern default; App Service, AKS and ACI each answer a narrower need.</a:t>
            </a:r>
            <a:endParaRPr sz="130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548640" y="320040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EEF3FD"/>
          </a:solidFill>
        </p:spPr>
      </p:sp>
      <p:sp>
        <p:nvSpPr>
          <p:cNvPr id="10" name="Shape 8"/>
          <p:cNvSpPr>
            <a:spLocks noGrp="1"/>
          </p:cNvSpPr>
          <p:nvPr/>
        </p:nvSpPr>
        <p:spPr>
          <a:xfrm>
            <a:off x="868680" y="3557016"/>
            <a:ext cx="475488" cy="475488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868680" y="355701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2</a:t>
            </a:r>
            <a:endParaRPr sz="1800"/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1783080" y="3337560"/>
            <a:ext cx="8961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One image, two hosts</a:t>
            </a:r>
            <a:endParaRPr sz="1700" b="1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1783080" y="3767328"/>
            <a:ext cx="89611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One image ran on App Service and on Container Apps — the host is a choice, not a rewrite.</a:t>
            </a:r>
            <a:endParaRPr sz="130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4" name="Shape 12"/>
          <p:cNvSpPr>
            <a:spLocks noGrp="1"/>
          </p:cNvSpPr>
          <p:nvPr/>
        </p:nvSpPr>
        <p:spPr>
          <a:xfrm>
            <a:off x="548640" y="461772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EEF3FD"/>
          </a:solidFill>
        </p:spPr>
      </p:sp>
      <p:sp>
        <p:nvSpPr>
          <p:cNvPr id="15" name="Shape 13"/>
          <p:cNvSpPr>
            <a:spLocks noGrp="1"/>
          </p:cNvSpPr>
          <p:nvPr/>
        </p:nvSpPr>
        <p:spPr>
          <a:xfrm>
            <a:off x="868680" y="4974336"/>
            <a:ext cx="475488" cy="475488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868680" y="497433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3</a:t>
            </a:r>
            <a:endParaRPr sz="1800"/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1783080" y="4754880"/>
            <a:ext cx="8961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Containers, continued</a:t>
            </a:r>
            <a:endParaRPr sz="1700" b="1">
              <a:solidFill>
                <a:srgbClr val="1E2761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1783080" y="5184648"/>
            <a:ext cx="89611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Revisions give safe releases: a new revision starts at 0% traffic and you choose the weights.</a:t>
            </a:r>
            <a:endParaRPr sz="130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9" name="Text 17"/>
          <p:cNvSpPr>
            <a:spLocks noGrp="1"/>
          </p:cNvSpPr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Keep your resource group until the END of Day 3 — we build on it all week. Delete it only at the very end.</a:t>
            </a:r>
            <a:endParaRPr sz="1000">
              <a:solidFill>
                <a:srgbClr val="5C618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0" name="Text 18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>
            <a:spLocks noGrp="1"/>
          </p:cNvSpPr>
          <p:nvPr/>
        </p:nvSpPr>
        <p:spPr>
          <a:xfrm>
            <a:off x="-2286000" y="3931920"/>
            <a:ext cx="5486400" cy="5486400"/>
          </a:xfrm>
          <a:prstGeom prst="ellipse">
            <a:avLst/>
          </a:prstGeom>
          <a:solidFill>
            <a:srgbClr val="141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" name="Oval 2"/>
          <p:cNvSpPr>
            <a:spLocks noGrp="1"/>
          </p:cNvSpPr>
          <p:nvPr/>
        </p:nvSpPr>
        <p:spPr>
          <a:xfrm>
            <a:off x="731520" y="2331720"/>
            <a:ext cx="822960" cy="822960"/>
          </a:xfrm>
          <a:prstGeom prst="ellipse">
            <a:avLst/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" name="TextBox 3"/>
          <p:cNvSpPr>
            <a:spLocks noGrp="1"/>
          </p:cNvSpPr>
          <p:nvPr/>
        </p:nvSpPr>
        <p:spPr>
          <a:xfrm>
            <a:off x="731520" y="233172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800" b="1" i="0">
                <a:solidFill>
                  <a:srgbClr val="141A47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→</a:t>
            </a:r>
            <a:endParaRPr sz="1800" b="1" i="0">
              <a:solidFill>
                <a:srgbClr val="141A47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TextBox 4"/>
          <p:cNvSpPr>
            <a:spLocks noGrp="1"/>
          </p:cNvSpPr>
          <p:nvPr/>
        </p:nvSpPr>
        <p:spPr>
          <a:xfrm>
            <a:off x="731520" y="329184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600" b="1" i="0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Next: Module 2 — Azure Storage</a:t>
            </a:r>
            <a:endParaRPr sz="3600" b="1" i="0">
              <a:solidFill>
                <a:srgbClr val="FFFFFF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6" name="TextBox 5"/>
          <p:cNvSpPr>
            <a:spLocks noGrp="1"/>
          </p:cNvSpPr>
          <p:nvPr/>
        </p:nvSpPr>
        <p:spPr>
          <a:xfrm>
            <a:off x="731520" y="416052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600" b="0" i="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Cosmos DB and Blob Storage — where the Catalog stops being a static list.</a:t>
            </a:r>
            <a:endParaRPr sz="1600" b="0" i="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16218</Words>
  <Application>WPS Presentation</Application>
  <PresentationFormat>Converted Presentation</PresentationFormat>
  <Paragraphs>731</Paragraphs>
  <Slides>32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32</vt:i4>
      </vt:variant>
    </vt:vector>
  </HeadingPairs>
  <TitlesOfParts>
    <vt:vector size="43" baseType="lpstr">
      <vt:lpstr>Arial</vt:lpstr>
      <vt:lpstr>SimSun</vt:lpstr>
      <vt:lpstr>Wingdings</vt:lpstr>
      <vt:lpstr>Arial</vt:lpstr>
      <vt:lpstr>Calibri</vt:lpstr>
      <vt:lpstr>Cambria</vt:lpstr>
      <vt:lpstr>Consolas</vt:lpstr>
      <vt:lpstr>Microsoft YaHei</vt:lpstr>
      <vt:lpstr>Arial Unicode MS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Guilherme Sonego Neto</cp:lastModifiedBy>
  <cp:revision>4</cp:revision>
  <dcterms:created xsi:type="dcterms:W3CDTF">2026-08-31T15:38:00Z</dcterms:created>
  <dcterms:modified xsi:type="dcterms:W3CDTF">2026-09-01T06:36:47Z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3A8B3506ED6A4754B2FCF9B07EC81176_12</vt:lpwstr>
  </property>
  <property fmtid="{D5CDD505-2E9C-101B-9397-08002B2CF9AE}" pid="3" name="KSOProductBuildVer">
    <vt:lpwstr>1033-12.1.0.28485</vt:lpwstr>
  </property>
</Properties>
</file>