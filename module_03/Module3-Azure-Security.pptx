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Module 3 — Azure Security</a:t>
            </a:r>
            <a:endParaRPr sz="4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Authentication &amp; Secure Solutions</a:t>
            </a:r>
            <a:endParaRPr sz="2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|  ÉSTIAM  |  Day 1, Afternoon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F2A93B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we'll cover</a:t>
            </a:r>
            <a:endParaRPr sz="3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Authentication vs Authorization — two different questions, two different mechanisms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 — how an app proves who it is, with no password anywhere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Role-Based Access Control (RBAC) — deciding what an identity is allowed to do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Key Vault — where real secrets live when a service can't use Entra ID directly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End-user authentication — App Registrations, OAuth2/OIDC (concept overview)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demo, three parts: Key Vault, Cosmos DB direct, and closing Module 1's registry-credential shortcut — one identity, one app, catalog-api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cliffhangers, one answer</a:t>
            </a:r>
            <a:endParaRPr sz="30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508760" y="173736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Module 1 — the registry shortcut</a:t>
            </a:r>
            <a:endParaRPr sz="18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508760" y="2121408"/>
            <a:ext cx="4251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and Container Apps both needed an explicit admin username/password just to pull our own private image.</a:t>
            </a:r>
            <a:endParaRPr sz="140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6995160" y="173736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Module 2 — the RBAC surprise</a:t>
            </a:r>
            <a:endParaRPr sz="18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995160" y="2121408"/>
            <a:ext cx="4251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Being subscription Owner wasn't enough to upload a blob. A separate data-plane role was required.</a:t>
            </a:r>
            <a:endParaRPr sz="140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822960" y="3291840"/>
            <a:ext cx="10424160" cy="2011680"/>
          </a:xfrm>
          <a:prstGeom prst="roundRect">
            <a:avLst>
              <a:gd name="adj" fmla="val 5455"/>
            </a:avLst>
          </a:prstGeom>
          <a:solidFill>
            <a:srgbClr val="F4F6FB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1188720" y="3520440"/>
            <a:ext cx="96926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Both moments point at the same gap: proving WHO you are (authentication) is a different problem from deciding WHAT you're allowed to do (authorization). Module 3 gives both a proper mechanism.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Authentication vs. Authorization</a:t>
            </a:r>
            <a:endParaRPr sz="30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4008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914400" y="1828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Authentication (AuthN)</a:t>
            </a:r>
            <a:endParaRPr sz="2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"Who are you?"</a:t>
            </a:r>
            <a:endParaRPr sz="16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14400" y="292608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Proving an identity is genuine</a:t>
            </a:r>
            <a:endParaRPr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Handled by Microsoft Entra ID</a:t>
            </a:r>
            <a:endParaRPr sz="1500"/>
          </a:p>
          <a:p>
            <a:pPr marL="342900" indent="-342900">
              <a:buSzPct val="100000"/>
              <a:buChar char="•"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Result: a verified identity (a badge, a token)</a:t>
            </a:r>
            <a:endParaRPr sz="15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40080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675120" y="1828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Authorization (AuthZ)</a:t>
            </a:r>
            <a:endParaRPr sz="20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B36A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"What are you allowed to do?"</a:t>
            </a:r>
            <a:endParaRPr sz="16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675120" y="292608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Deciding what a verified identity can access</a:t>
            </a:r>
            <a:endParaRPr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Handled by RBAC role assignments</a:t>
            </a:r>
            <a:endParaRPr sz="1500"/>
          </a:p>
          <a:p>
            <a:pPr marL="342900" indent="-342900">
              <a:buSzPct val="100000"/>
              <a:buChar char="•"/>
            </a:pPr>
            <a:r>
              <a:rPr sz="15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Result: allowed or denied, per resource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Managed Identity — the permanent badge</a:t>
            </a:r>
            <a:endParaRPr sz="3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identity Azure creates and manages FOR a resource — no password ever exists, for anyone to type, store, or leak.</a:t>
            </a:r>
            <a:endParaRPr sz="16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1508760" y="2286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System-assigned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508760" y="26700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Tied to one resource's lifecycle. Created and destroyed with it — e.g. one Function App.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995160" y="2286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User-assigned</a:t>
            </a:r>
            <a:endParaRPr sz="18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995160" y="26700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standalone identity you create once and attach to several resources.</a:t>
            </a:r>
            <a:endParaRPr sz="14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22960" y="3749040"/>
            <a:ext cx="1042416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39319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destinations for that identity: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88720" y="434340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Entra-ID-aware services (Azure SQL, Storage, Cosmos DB, Service Bus, Key Vault) — authenticate directly, no secret ever exists</a:t>
            </a:r>
            <a:endParaRPr sz="1400"/>
          </a:p>
          <a:p>
            <a:pPr marL="342900" indent="-342900"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Everything else (third-party APIs, legacy connection strings) — use the identity to unlock Key Vault, then use the retrieved secret the old way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RBAC — control-plane vs. data-plane</a:t>
            </a:r>
            <a:endParaRPr sz="30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 plane</a:t>
            </a:r>
            <a:endParaRPr sz="1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 the resource itself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14400" y="283464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 / delete a storage account or vault</a:t>
            </a:r>
            <a:endParaRPr sz="1400"/>
          </a:p>
          <a:p>
            <a:pPr marL="342900" indent="-342900"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Owner, Contributor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400800" y="15544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Data plane</a:t>
            </a:r>
            <a:endParaRPr sz="18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Touch the data inside it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675120" y="283464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Read/write a blob, a secret, a row</a:t>
            </a:r>
            <a:endParaRPr sz="1400"/>
          </a:p>
          <a:p>
            <a:pPr marL="342900" indent="-342900">
              <a:buSzPct val="100000"/>
              <a:buChar char="•"/>
            </a:pPr>
            <a:r>
              <a:rPr sz="14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Storage Blob Data Contributor, Key Vault Secrets User/Officer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Owner on the subscription does NOT imply data-plane access. This tripped up Module 2's Blob demo — and Key Vault works exactly the same way.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Key Vault</a:t>
            </a:r>
            <a:endParaRPr sz="3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hardened, audited store for secrets, keys, and certificates — not a general-purpose database.</a:t>
            </a:r>
            <a:endParaRPr sz="16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1508760" y="2286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Secrets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508760" y="26700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Connection strings, API keys, passwords — arbitrary strings.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4434840" y="233172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5120640" y="2286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Keys</a:t>
            </a:r>
            <a:endParaRPr sz="18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120640" y="26700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Cryptographic keys for encrypt/sign — material never leaves the vault.</a:t>
            </a:r>
            <a:endParaRPr sz="14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046720" y="2331720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732520" y="228600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Certificates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8732520" y="2670048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TLS certs, with auto-renewal.</a:t>
            </a:r>
            <a:endParaRPr sz="14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822960" y="3566160"/>
            <a:ext cx="10424160" cy="2103120"/>
          </a:xfrm>
          <a:prstGeom prst="roundRect">
            <a:avLst>
              <a:gd name="adj" fmla="val 5217"/>
            </a:avLst>
          </a:prstGeom>
          <a:solidFill>
            <a:srgbClr val="F4F6FB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374904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setup details that break the demo if missed:</a:t>
            </a:r>
            <a:endParaRPr sz="16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1188720" y="4160520"/>
            <a:ext cx="969264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Vaults default to the legacy access-policy model — pass --enable-rbac-authorization true or role assignments are silently ignored</a:t>
            </a:r>
            <a:endParaRPr sz="1400"/>
          </a:p>
          <a:p>
            <a:pPr marL="342900" indent="-342900"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Creating the vault (control-plane) ≠ writing a secret into it (data-plane) — you need "Key Vault Secrets Officer" for that, separately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about end users? (concept overview)</a:t>
            </a:r>
            <a:endParaRPr sz="3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 only covers machine-to-machine trust. A human at a browser needs a different mechanism.</a:t>
            </a:r>
            <a:endParaRPr sz="16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1508760" y="2286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App Registration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508760" y="26700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Represents the application itself in Entra ID, so users can sign into it.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995160" y="2286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OAuth2 / OpenID Connect</a:t>
            </a:r>
            <a:endParaRPr sz="18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995160" y="26700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front-desk protocol: sign in once, receive a temporary token (JWT).</a:t>
            </a:r>
            <a:endParaRPr sz="14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22960" y="3749040"/>
            <a:ext cx="1042416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3931920"/>
            <a:ext cx="96926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token is attached as a Bearer header on every request — no re-entering credentials</a:t>
            </a:r>
            <a:endParaRPr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 .NET: Microsoft.Identity.Web + [Authorize] handle almost all of this via configuration</a:t>
            </a:r>
            <a:endParaRPr sz="1400"/>
          </a:p>
          <a:p>
            <a:pPr marL="342900" indent="-342900">
              <a:buSzPct val="100000"/>
              <a:buChar char="•"/>
            </a:pPr>
            <a:r>
              <a:rPr sz="14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Simplest case: App Service's built-in Authentication ("Easy Auth") toggle — no code at all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Today's demo: no secrets, anywhere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640080" y="274320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31520" y="29260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334670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</a:t>
            </a:r>
            <a:endParaRPr sz="10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Chevron 5"/>
          <p:cNvSpPr>
            <a:spLocks noGrp="1"/>
          </p:cNvSpPr>
          <p:nvPr/>
        </p:nvSpPr>
        <p:spPr>
          <a:xfrm>
            <a:off x="2971800" y="3200400"/>
            <a:ext cx="365760" cy="27432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3383280" y="274320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3474720" y="29260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Entra ID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3474720" y="334670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verifies the badge</a:t>
            </a:r>
            <a:endParaRPr sz="105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Chevron 9"/>
          <p:cNvSpPr>
            <a:spLocks noGrp="1"/>
          </p:cNvSpPr>
          <p:nvPr/>
        </p:nvSpPr>
        <p:spPr>
          <a:xfrm>
            <a:off x="5715000" y="3200400"/>
            <a:ext cx="365760" cy="27432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126480" y="274320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217920" y="29260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 Vault</a:t>
            </a:r>
            <a:endParaRPr sz="13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217920" y="334670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RBAC-gated secret</a:t>
            </a:r>
            <a:endParaRPr sz="10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Chevron 13"/>
          <p:cNvSpPr>
            <a:spLocks noGrp="1"/>
          </p:cNvSpPr>
          <p:nvPr/>
        </p:nvSpPr>
        <p:spPr>
          <a:xfrm>
            <a:off x="8458200" y="3200400"/>
            <a:ext cx="365760" cy="27432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869680" y="274320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961120" y="29260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961120" y="334670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real Catalog titles</a:t>
            </a:r>
            <a:endParaRPr sz="105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AuthN (identity) → AuthZ (role) → real data, never a password in code or config.</a:t>
            </a:r>
            <a:endParaRPr sz="140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Container App from Modules 1–2 — catalog-api-v5 closes this loop for the app the class has been building all afternoon.</a:t>
            </a:r>
            <a:endParaRPr sz="115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identity, three destinations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4892040" y="1691640"/>
            <a:ext cx="2331720" cy="9601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892040" y="18470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</a:t>
            </a:r>
            <a:endParaRPr sz="14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892040" y="2249424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badge, issued once</a:t>
            </a:r>
            <a:endParaRPr sz="10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ight Arrow 5"/>
          <p:cNvSpPr>
            <a:spLocks noGrp="1"/>
          </p:cNvSpPr>
          <p:nvPr/>
        </p:nvSpPr>
        <p:spPr>
          <a:xfrm>
            <a:off x="6035040" y="2697480"/>
            <a:ext cx="9144" cy="9144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6035040" y="2697480"/>
            <a:ext cx="9144" cy="9144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ight Arrow 7"/>
          <p:cNvSpPr>
            <a:spLocks noGrp="1"/>
          </p:cNvSpPr>
          <p:nvPr/>
        </p:nvSpPr>
        <p:spPr>
          <a:xfrm>
            <a:off x="6035040" y="2697480"/>
            <a:ext cx="9144" cy="9144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40080" y="3246120"/>
            <a:ext cx="3246120" cy="233172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914400" y="35204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1  Key Vault</a:t>
            </a:r>
            <a:endParaRPr sz="18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914400" y="4032504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§2.2</a:t>
            </a:r>
            <a:endParaRPr sz="1400" b="0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914400" y="452628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unlocks a secret — the fallback pattern for anything not Entra-aware</a:t>
            </a:r>
            <a:endParaRPr sz="135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263140" y="2651760"/>
            <a:ext cx="3813048" cy="27432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253996" y="2651760"/>
            <a:ext cx="27432" cy="59436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315968" y="3246120"/>
            <a:ext cx="3246120" cy="233172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590288" y="35204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2  Cosmos DB</a:t>
            </a:r>
            <a:endParaRPr sz="18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590288" y="4032504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§2.3</a:t>
            </a:r>
            <a:endParaRPr sz="1400" b="0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590288" y="452628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authenticates directly — no secret exists, not even in Key Vault</a:t>
            </a:r>
            <a:endParaRPr sz="135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939028" y="2651760"/>
            <a:ext cx="137160" cy="27432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5929884" y="2651760"/>
            <a:ext cx="27432" cy="59436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991856" y="3246120"/>
            <a:ext cx="3246120" cy="233172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8266176" y="35204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3  Container Registry</a:t>
            </a:r>
            <a:endParaRPr sz="18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266176" y="4032504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§2.4</a:t>
            </a:r>
            <a:endParaRPr sz="1400" b="0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266176" y="452628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pulls private images — closes Module 1's admin-credential workaround</a:t>
            </a:r>
            <a:endParaRPr sz="135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057900" y="2651760"/>
            <a:ext cx="3575304" cy="27432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605772" y="2651760"/>
            <a:ext cx="27432" cy="59436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identity, granted three separate roles across this module — that's the whole story.</a:t>
            </a:r>
            <a:endParaRPr sz="1250" b="0" i="1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Live demo, part 1 — Key Vault + Managed Identity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Fallback pattern: the identity unlocks a vault, the app never stores the secret itself.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822960" y="1737360"/>
            <a:ext cx="1056132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$KV = "kv-estiam-dev-2"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register --namespace Microsoft.KeyVault      # ~40s to Registered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keyvault create --name $KV -g $RG --location $LOCATION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--enable-rbac-authorization true      # do not forget this flag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$me = az ad signed-in-user show --query id -o tsv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$kvId = az keyvault show --name $KV -g $RG --query id -o tsv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role assignment create --role "Key Vault Secrets Officer" --assignee $me --scope $kvId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$connStr = az cosmosdb keys list --type connection-strings --name $COSMOS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--query "connectionStrings[0].connectionString" -o tsv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keyvault secret set --vault-name $KV --name CosmosConnectionString --value $connStr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identity assign --name $APP -g $RG --system-assigned   # save principalId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Deliberately BEFORE the role grant — watch it error (next slide):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secret set --name $APP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--secrets "cosmos-conn=keyvaultref:https://$KV.vault.azure.net/secrets/CosmosConnectionString,identityref:system"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Run the secret-set command now, on purpose, before the role grant below — the error is the next slide's whole point.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40080" y="65105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$KV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Watch it fail, then watch it work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A1F1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Before granting the role</a:t>
            </a:r>
            <a:endParaRPr sz="1800" b="1" i="0">
              <a:solidFill>
                <a:srgbClr val="8A1F1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Identity exists (AuthN OK) — not yet authorized (AuthZ fails)</a:t>
            </a:r>
            <a:endParaRPr sz="125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914400" y="2926080"/>
            <a:ext cx="4572000" cy="260604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1097280" y="3154680"/>
            <a:ext cx="4206240" cy="2240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F4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secret set --secrets "cosmos-conn=keyvaultref:..."</a:t>
            </a:r>
            <a:endParaRPr sz="1150" b="0" i="0">
              <a:solidFill>
                <a:srgbClr val="F4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F4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ERROR: ... Unable to get value using</a:t>
            </a:r>
            <a:endParaRPr sz="1150" b="0" i="0">
              <a:solidFill>
                <a:srgbClr val="F4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F4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Managed identity system for secret</a:t>
            </a:r>
            <a:endParaRPr sz="1150" b="0" i="0">
              <a:solidFill>
                <a:srgbClr val="F4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F4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cosmos-conn</a:t>
            </a:r>
            <a:endParaRPr sz="1150" b="0" i="0">
              <a:solidFill>
                <a:srgbClr val="F4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217920" y="155448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F6F3B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After granting the role</a:t>
            </a:r>
            <a:endParaRPr sz="1800" b="1" i="0">
              <a:solidFill>
                <a:srgbClr val="1F6F3B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492240" y="2331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5A5A5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Identity is now authorized (AuthZ OK) — the same command succeeds</a:t>
            </a:r>
            <a:endParaRPr sz="1250" b="0" i="0">
              <a:solidFill>
                <a:srgbClr val="5A5A5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92240" y="2926080"/>
            <a:ext cx="4572000" cy="260604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675120" y="3154680"/>
            <a:ext cx="4206240" cy="2240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9BE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secret set --secrets "cosmos-conn=keyvaultref:..."</a:t>
            </a:r>
            <a:endParaRPr sz="1150" b="0" i="0">
              <a:solidFill>
                <a:srgbClr val="9BE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9BE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(succeeds — no output)</a:t>
            </a:r>
            <a:endParaRPr sz="1150" b="0" i="0">
              <a:solidFill>
                <a:srgbClr val="9BE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9BE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catalog-ui now shows real</a:t>
            </a:r>
            <a:endParaRPr sz="1150" b="0" i="0">
              <a:solidFill>
                <a:srgbClr val="9BE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9BE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Cosmos DB titles</a:t>
            </a:r>
            <a:endParaRPr sz="1150" b="0" i="0">
              <a:solidFill>
                <a:srgbClr val="9BE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Live demo, part 1 — grant the role, watch it work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822960" y="1188720"/>
            <a:ext cx="10561320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role assignment create --role "Key Vault Secrets User"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--assignee &lt;container-app-principal-id&gt; --scope $kvId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under a minute to propagate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Re-run the SAME command from the previous slide — it now succeeds: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secret set --name $APP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--secrets "cosmos-conn=keyvaultref:https://$KV.vault.azure.net/secrets/CosmosConnectionString,identityref:system"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"${ACR}.azurecr.io/catalog-api:v5" .    # from catalog-api-v5/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"${ACR}.azurecr.io/catalog-api:v5"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--image "${ACR}.azurecr.io/catalog-api:v5"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--set-env-vars "CosmosDb__ConnectionString=secretref:cosmos-conn"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"CosmosDb__DatabaseName=CatalogDb" "CosmosDb__ContainerName=Titles"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"BlobStorage__ConnectionString=&lt;...&gt;" "BlobStorage__ContainerName=posters"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--revision-weight &lt;new-revision&gt;=100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Note the env var: secretref:cosmos-conn, not a literal value — that is what makes this revision pull the connection string from Key Vault at runtime.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40080" y="65105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$KV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Live demo, part 2 — Cosmos DB direct via Managed Identity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is Entra-ID-aware — skip Key Vault entirely. No secret anywhere, not even in the vault.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822960" y="1737360"/>
            <a:ext cx="1056132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cosmosdb sql role definition list --account-name $COSMOS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--query "[].{Name:roleName, Id:id}" -o table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Cosmos data-plane roles use THEIR OWN command — not az role assignment create.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cosmosdb sql role assignment create --account-name $COSMOS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--role-definition-id &lt;Data Contributor id&gt; --principal-id $me --scope "/"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cosmosdb sql role assignment create --account-name $COSMOS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--role-definition-id &lt;Data Contributor id&gt; --principal-id &lt;container-app-principal-id&gt; --scope "/"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"${ACR}.azurecr.io/catalog-api:v6" .    # from catalog-api-v6/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"${ACR}.azurecr.io/catalog-api:v6"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--image "${ACR}.azurecr.io/catalog-api:v6"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--set-env-vars "CosmosDb__AccountEndpoint=&lt;endpoint&gt;"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"CosmosDb__DatabaseName=CatalogDb" "CosmosDb__ContainerName=Titles"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"BlobStorage__ConnectionString=&lt;...&gt;" "BlobStorage__ContainerName=posters"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--remove-env-vars "CosmosDb__ConnectionString"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--revision-weight &lt;new-revision&gt;=100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Key Vault secret from Part 1 is left configured but nothing references it anymore — this revision authenticates via DefaultAzureCredential instead.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40080" y="65105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$KV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Live demo, part 3 — closing Module 1's shortcut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identity, a new destination: pull private images with no admin password, on both apps.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822960" y="1737360"/>
            <a:ext cx="1056132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Container App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role assignment create --role "AcrPull" --assignee &lt;container-app-principal-id&gt; --scope &lt;acr-id&gt;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registry set --name $APP -g $RG --server "${ACR}.azurecr.io" --identity system   # preview cmd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-g $RG --image "${ACR}.azurecr.io/catalog-api:v6" --revision-suffix acrmi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App Service — a separate identity, its own role grant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identity assign --name $WEBAPP -g $RG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role assignment create --role "AcrPull" --assignee &lt;webapp-principal-id&gt; --scope &lt;acr-id&gt;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config set -g $RG --name $WEBAPP --acr-use-identity true --acr-identity "[system]"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config appsettings delete --name $WEBAPP -g $RG `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--setting-names DOCKER_REGISTRY_SERVER_URL DOCKER_REGISTRY_SERVER_USERNAME DOCKER_REGISTRY_SERVER_PASSWORD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Prove it, don't just configure it: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acr update --name $ACR --admin-enabled false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restart --name $WEBAPP -g $RG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Reload catalog-ui — still real data, admin account fully off.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Swapping the registry config alone doesn't re-pull an already-running image — the --revision-suffix redeploy is what actually exercises the new pull path.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40080" y="65105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are examples — choose your own. $KV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Key takeaways</a:t>
            </a:r>
            <a:endParaRPr sz="3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AuthN proves identity; AuthZ decides what that identity can do — a resource can pass one and fail the other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Identity = an automatic, passwordless identity for one Azure resource — no secret to store, rotate, or leak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identity, three roles this module: Key Vault, Cosmos DB direct, and ACR pull — not three separate identities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RBAC has a control-plane / data-plane split — Owner on the resource does not imply access to the data inside it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 Vault needs --enable-rbac-authorization true, or RBAC role assignments are silently ignored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DB's data-plane roles use their own command — az cosmosdb sql role assignment create, not the generic one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800">
                <a:solidFill>
                  <a:srgbClr val="1B1B1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1's admin-credential shortcut is closed — the class watched both apps pull private images with zero passwords</a:t>
            </a:r>
            <a:endParaRPr sz="1800">
              <a:solidFill>
                <a:srgbClr val="1B1B1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Next: Module 4 — Monitor &amp; Troubleshoot</a:t>
            </a:r>
            <a:endParaRPr sz="34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Now that our app authenticates and authorizes correctly — how do we know it's healthy in production?</a:t>
            </a:r>
            <a:endParaRPr sz="18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F2A93B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11262</Words>
  <Application>WPS Presentation</Application>
  <PresentationFormat>Converted Presentation</PresentationFormat>
  <Paragraphs>309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Cambria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Guilherme Sonego Neto</cp:lastModifiedBy>
  <cp:revision>2</cp:revision>
  <dcterms:created xsi:type="dcterms:W3CDTF">2026-08-31T18:37:32Z</dcterms:created>
  <dcterms:modified xsi:type="dcterms:W3CDTF">2026-08-31T18:38:52Z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4A94E1DAD35149ED8F55C18CDA135F31_12</vt:lpwstr>
  </property>
  <property fmtid="{D5CDD505-2E9C-101B-9397-08002B2CF9AE}" pid="3" name="KSOProductBuildVer">
    <vt:lpwstr>1033-12.1.0.28485</vt:lpwstr>
  </property>
</Properties>
</file>