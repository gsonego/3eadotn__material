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6"/>
    <p:sldId id="262" r:id="rId5"/>
    <p:sldId id="263" r:id="rId4"/>
    <p:sldId id="264" r:id="rId3"/>
    <p:sldId id="265" r:id="rId2"/>
    <p:sldId id="266" r:id="rId17"/>
    <p:sldId id="267" r:id="rId18"/>
    <p:sldId id="268" r:id="rId19"/>
    <p:sldId id="269" r:id="rId20"/>
    <p:sldId id="270" r:id="rId21"/>
    <p:sldId id="271" r:id="rId22"/>
    <p:sldId id="272" r:id="rId23"/>
    <p:sldId id="273" r:id="rId24"/>
    <p:sldId id="274" r:id="rId25"/>
    <p:sldId id="275" r:id="rId26"/>
    <p:sldId id="276" r:id="rId27"/>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0.xml"/><Relationship Id="rId3" Type="http://schemas.openxmlformats.org/officeDocument/2006/relationships/slide" Target="slides/slide9.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1, first thing. Everyone needs their own subscription before Module 1 — the whole course is hands-on against real Azure. Budget ~20 minutes and expect two or three people to hit the card step or a blocked school account; the fixes are in the notes on those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here is done by the students, on their own machines. Trainer drives the same flow on screen so nobody is stranded. Nothing in this session costs money if the budget alert at the end is actually 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Send them to azure.microsoft.com/free. Both routes ask for a card — the difference is the USD200 credit and the spending protection that comes with the free account.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that matters in a classroom is spending protection: nothing is billed unless the student explicitly upgrades to pay-as-you-go. Free account is new-customers-only — anyone who has already used one goes pay-as-you-go and leans harder on the budget alert at the end of this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ÉSTIAM or employer account is very often blocked by tenant policy from creating its own subscription, and even when it works the admin owns the subscription, not the student. Personal Microsoft account only.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fork in the road. Students who already have an @outlook.com / @hotmail.com address skip the next four slides and go straight to the Azure free account form.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Either works. Registering an existing address avoids a second inbox to remember, which matters because Azure billing alerts land there.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flagging the distinction now so nobody assumes this is the billing country.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Mismatched name and card is a common cause of the sign-up being rejected at step 3 of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who put a school address here get locked out later when that account is deprovisioned at the end of the year.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Ireland here means euro billing, which is why the budget later is in €. Steps 2 and 3 are phone verification and the card.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one or two students with no usable card. Options: Azure for Students (USD100, no card, needs an eligible school email), or pairing up with a classmate for the hands-on labs. Do not let this block the session — keep moving and sort it at the break.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moment to run the Day 1 experience poll while the slower sign-ups catch up.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is in the deck because it happened live during authoring. It looks alarming and it is not. Private window is the fastest fix in a classroom.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thing that looks broken but isn't. Tell them to close the welcome dialog and carry on; the credits banner resolves itself.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point explicitly: the guardrail goes up before the first resource, not after the first surprise.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is the vocabulary to plant now; it comes back in Module 3 with RBAC.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30-day expiry: the course runs inside that window, but their credit does not last the semester.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 small number works. What matters is that the budget exists and is scoped to the billing account so it catches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twice: a budget is a notification, not a cap. The only real cap on a free account is the spending protection, which stops at the credit. Anyone on pay-as-you-go needs to treat this alert as their early warning and delete resource groups when a module ends.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into Module 1. Before moving on, check by show of hands that every student reached the budget-alert screen — this is the only session where a straggler blocks everything that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761"/>
        </a:solidFill>
      </p:bgPr>
    </p:bg>
    <p:spTree>
      <p:nvGrpSpPr>
        <p:cNvPr id="1" name=""/>
        <p:cNvGrpSpPr/>
        <p:nvPr/>
      </p:nvGrpSpPr>
      <p:grpSpPr/>
      <p:sp>
        <p:nvSpPr>
          <p:cNvPr id="2" name="Shape 0"/>
          <p:cNvSpPr/>
          <p:nvPr/>
        </p:nvSpPr>
        <p:spPr>
          <a:xfrm>
            <a:off x="9418320" y="4206240"/>
            <a:ext cx="3840480" cy="3840480"/>
          </a:xfrm>
          <a:prstGeom prst="ellipse">
            <a:avLst/>
          </a:prstGeom>
          <a:solidFill>
            <a:srgbClr val="141B47"/>
          </a:solidFill>
          <a:ln/>
        </p:spPr>
      </p:sp>
      <p:sp>
        <p:nvSpPr>
          <p:cNvPr id="3" name="Shape 1"/>
          <p:cNvSpPr/>
          <p:nvPr/>
        </p:nvSpPr>
        <p:spPr>
          <a:xfrm>
            <a:off x="10149840" y="4937760"/>
            <a:ext cx="2377440" cy="2377440"/>
          </a:xfrm>
          <a:prstGeom prst="ellipse">
            <a:avLst/>
          </a:prstGeom>
          <a:solidFill>
            <a:srgbClr val="F2A93B">
              <a:alpha val="15000"/>
            </a:srgbClr>
          </a:solidFill>
          <a:ln/>
        </p:spPr>
      </p:sp>
      <p:sp>
        <p:nvSpPr>
          <p:cNvPr id="4" name="Text 2"/>
          <p:cNvSpPr txBox="1"/>
          <p:nvPr/>
        </p:nvSpPr>
        <p:spPr>
          <a:xfrm>
            <a:off x="640080" y="1965960"/>
            <a:ext cx="9144000" cy="457200"/>
          </a:xfrm>
          <a:prstGeom prst="rect">
            <a:avLst/>
          </a:prstGeom>
          <a:noFill/>
          <a:ln/>
        </p:spPr>
        <p:txBody>
          <a:bodyPr wrap="square" lIns="0" tIns="0" rIns="0" bIns="0" rtlCol="0" anchor="ctr"/>
          <a:lstStyle/>
          <a:p>
            <a:pPr indent="0" marL="0">
              <a:buNone/>
            </a:pPr>
            <a:r>
              <a:rPr lang="en-US" sz="1500" b="1" spc="300" kern="0" dirty="0">
                <a:solidFill>
                  <a:srgbClr val="F2A93B"/>
                </a:solidFill>
                <a:latin typeface="Calibri" pitchFamily="34" charset="0"/>
                <a:ea typeface="Calibri" pitchFamily="34" charset="-122"/>
                <a:cs typeface="Calibri" pitchFamily="34" charset="-120"/>
              </a:rPr>
              <a:t>INTRODUCTION</a:t>
            </a:r>
            <a:endParaRPr lang="en-US" sz="1500" dirty="0"/>
          </a:p>
        </p:txBody>
      </p:sp>
      <p:sp>
        <p:nvSpPr>
          <p:cNvPr id="5" name="Text 3"/>
          <p:cNvSpPr txBox="1"/>
          <p:nvPr/>
        </p:nvSpPr>
        <p:spPr>
          <a:xfrm>
            <a:off x="594360" y="2331720"/>
            <a:ext cx="9601200"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Getting Set Up</a:t>
            </a:r>
            <a:endParaRPr lang="en-US" sz="4400" dirty="0"/>
          </a:p>
        </p:txBody>
      </p:sp>
      <p:sp>
        <p:nvSpPr>
          <p:cNvPr id="6" name="Text 4"/>
          <p:cNvSpPr txBox="1"/>
          <p:nvPr/>
        </p:nvSpPr>
        <p:spPr>
          <a:xfrm>
            <a:off x="640080" y="3429000"/>
            <a:ext cx="91440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Your own Azure account — and a spending guardrail before anything else</a:t>
            </a:r>
            <a:endParaRPr lang="en-US" sz="2200" dirty="0"/>
          </a:p>
        </p:txBody>
      </p:sp>
      <p:sp>
        <p:nvSpPr>
          <p:cNvPr id="7" name="Text 5"/>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AAB2D5"/>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57200"/>
            <a:ext cx="10058400" cy="365760"/>
          </a:xfrm>
          <a:prstGeom prst="rect">
            <a:avLst/>
          </a:prstGeom>
          <a:noFill/>
          <a:ln/>
        </p:spPr>
        <p:txBody>
          <a:bodyPr wrap="square" lIns="0" tIns="0" rIns="0" bIns="0" rtlCol="0" anchor="ctr"/>
          <a:lstStyle/>
          <a:p>
            <a:pPr indent="0" marL="0">
              <a:buNone/>
            </a:pPr>
            <a:r>
              <a:rPr lang="en-US" sz="1300" b="1" spc="200" kern="0" dirty="0">
                <a:solidFill>
                  <a:srgbClr val="F2A93B"/>
                </a:solidFill>
                <a:latin typeface="Calibri" pitchFamily="34" charset="0"/>
                <a:ea typeface="Calibri" pitchFamily="34" charset="-122"/>
                <a:cs typeface="Calibri" pitchFamily="34" charset="-120"/>
              </a:rPr>
              <a:t>AGENDA</a:t>
            </a:r>
            <a:endParaRPr lang="en-US" sz="1300" dirty="0"/>
          </a:p>
        </p:txBody>
      </p:sp>
      <p:sp>
        <p:nvSpPr>
          <p:cNvPr id="3" name="Text 1"/>
          <p:cNvSpPr txBox="1"/>
          <p:nvPr/>
        </p:nvSpPr>
        <p:spPr>
          <a:xfrm>
            <a:off x="548640" y="822960"/>
            <a:ext cx="10058400" cy="64008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What we'll set up</a:t>
            </a:r>
            <a:endParaRPr lang="en-US" sz="3200" dirty="0"/>
          </a:p>
        </p:txBody>
      </p:sp>
      <p:sp>
        <p:nvSpPr>
          <p:cNvPr id="4" name="Shape 2"/>
          <p:cNvSpPr/>
          <p:nvPr/>
        </p:nvSpPr>
        <p:spPr>
          <a:xfrm>
            <a:off x="594360" y="1810512"/>
            <a:ext cx="329184" cy="329184"/>
          </a:xfrm>
          <a:prstGeom prst="ellipse">
            <a:avLst/>
          </a:prstGeom>
          <a:solidFill>
            <a:srgbClr val="F2A93B"/>
          </a:solidFill>
          <a:ln/>
        </p:spPr>
      </p:sp>
      <p:sp>
        <p:nvSpPr>
          <p:cNvPr id="5" name="Text 3"/>
          <p:cNvSpPr txBox="1"/>
          <p:nvPr/>
        </p:nvSpPr>
        <p:spPr>
          <a:xfrm>
            <a:off x="594360" y="1810512"/>
            <a:ext cx="329184" cy="329184"/>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43000" y="1764792"/>
            <a:ext cx="9692640" cy="457200"/>
          </a:xfrm>
          <a:prstGeom prst="rect">
            <a:avLst/>
          </a:prstGeom>
          <a:noFill/>
          <a:ln/>
        </p:spPr>
        <p:txBody>
          <a:bodyPr wrap="square" lIns="0" tIns="0" rIns="0" bIns="0" rtlCol="0" anchor="ctr"/>
          <a:lstStyle/>
          <a:p>
            <a:pPr indent="0" marL="0">
              <a:buNone/>
            </a:pPr>
            <a:r>
              <a:rPr lang="en-US" sz="1600" dirty="0">
                <a:solidFill>
                  <a:srgbClr val="1F2430"/>
                </a:solidFill>
                <a:latin typeface="Calibri" pitchFamily="34" charset="0"/>
                <a:ea typeface="Calibri" pitchFamily="34" charset="-122"/>
                <a:cs typeface="Calibri" pitchFamily="34" charset="-120"/>
              </a:rPr>
              <a:t>Choosing an account type — free account vs. pay as you go, and why it matters here</a:t>
            </a:r>
            <a:endParaRPr lang="en-US" sz="1600" dirty="0"/>
          </a:p>
        </p:txBody>
      </p:sp>
      <p:sp>
        <p:nvSpPr>
          <p:cNvPr id="7" name="Shape 5"/>
          <p:cNvSpPr/>
          <p:nvPr/>
        </p:nvSpPr>
        <p:spPr>
          <a:xfrm>
            <a:off x="594360" y="2468880"/>
            <a:ext cx="329184" cy="329184"/>
          </a:xfrm>
          <a:prstGeom prst="ellipse">
            <a:avLst/>
          </a:prstGeom>
          <a:solidFill>
            <a:srgbClr val="F2A93B"/>
          </a:solidFill>
          <a:ln/>
        </p:spPr>
      </p:sp>
      <p:sp>
        <p:nvSpPr>
          <p:cNvPr id="8" name="Text 6"/>
          <p:cNvSpPr txBox="1"/>
          <p:nvPr/>
        </p:nvSpPr>
        <p:spPr>
          <a:xfrm>
            <a:off x="594360" y="2468880"/>
            <a:ext cx="329184" cy="329184"/>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143000" y="2423160"/>
            <a:ext cx="9692640" cy="457200"/>
          </a:xfrm>
          <a:prstGeom prst="rect">
            <a:avLst/>
          </a:prstGeom>
          <a:noFill/>
          <a:ln/>
        </p:spPr>
        <p:txBody>
          <a:bodyPr wrap="square" lIns="0" tIns="0" rIns="0" bIns="0" rtlCol="0" anchor="ctr"/>
          <a:lstStyle/>
          <a:p>
            <a:pPr indent="0" marL="0">
              <a:buNone/>
            </a:pPr>
            <a:r>
              <a:rPr lang="en-US" sz="1600" dirty="0">
                <a:solidFill>
                  <a:srgbClr val="1F2430"/>
                </a:solidFill>
                <a:latin typeface="Calibri" pitchFamily="34" charset="0"/>
                <a:ea typeface="Calibri" pitchFamily="34" charset="-122"/>
                <a:cs typeface="Calibri" pitchFamily="34" charset="-120"/>
              </a:rPr>
              <a:t>Creating the personal Microsoft account the subscription will sit on</a:t>
            </a:r>
            <a:endParaRPr lang="en-US" sz="1600" dirty="0"/>
          </a:p>
        </p:txBody>
      </p:sp>
      <p:sp>
        <p:nvSpPr>
          <p:cNvPr id="10" name="Shape 8"/>
          <p:cNvSpPr/>
          <p:nvPr/>
        </p:nvSpPr>
        <p:spPr>
          <a:xfrm>
            <a:off x="594360" y="3127248"/>
            <a:ext cx="329184" cy="329184"/>
          </a:xfrm>
          <a:prstGeom prst="ellipse">
            <a:avLst/>
          </a:prstGeom>
          <a:solidFill>
            <a:srgbClr val="F2A93B"/>
          </a:solidFill>
          <a:ln/>
        </p:spPr>
      </p:sp>
      <p:sp>
        <p:nvSpPr>
          <p:cNvPr id="11" name="Text 9"/>
          <p:cNvSpPr txBox="1"/>
          <p:nvPr/>
        </p:nvSpPr>
        <p:spPr>
          <a:xfrm>
            <a:off x="594360" y="3127248"/>
            <a:ext cx="329184" cy="329184"/>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3</a:t>
            </a:r>
            <a:endParaRPr lang="en-US" sz="1400" dirty="0"/>
          </a:p>
        </p:txBody>
      </p:sp>
      <p:sp>
        <p:nvSpPr>
          <p:cNvPr id="12" name="Text 10"/>
          <p:cNvSpPr txBox="1"/>
          <p:nvPr/>
        </p:nvSpPr>
        <p:spPr>
          <a:xfrm>
            <a:off x="1143000" y="3081528"/>
            <a:ext cx="9692640" cy="457200"/>
          </a:xfrm>
          <a:prstGeom prst="rect">
            <a:avLst/>
          </a:prstGeom>
          <a:noFill/>
          <a:ln/>
        </p:spPr>
        <p:txBody>
          <a:bodyPr wrap="square" lIns="0" tIns="0" rIns="0" bIns="0" rtlCol="0" anchor="ctr"/>
          <a:lstStyle/>
          <a:p>
            <a:pPr indent="0" marL="0">
              <a:buNone/>
            </a:pPr>
            <a:r>
              <a:rPr lang="en-US" sz="1600" dirty="0">
                <a:solidFill>
                  <a:srgbClr val="1F2430"/>
                </a:solidFill>
                <a:latin typeface="Calibri" pitchFamily="34" charset="0"/>
                <a:ea typeface="Calibri" pitchFamily="34" charset="-122"/>
                <a:cs typeface="Calibri" pitchFamily="34" charset="-120"/>
              </a:rPr>
              <a:t>Azure free account sign-up — profile, identity, and the card that won't be charged</a:t>
            </a:r>
            <a:endParaRPr lang="en-US" sz="1600" dirty="0"/>
          </a:p>
        </p:txBody>
      </p:sp>
      <p:sp>
        <p:nvSpPr>
          <p:cNvPr id="13" name="Shape 11"/>
          <p:cNvSpPr/>
          <p:nvPr/>
        </p:nvSpPr>
        <p:spPr>
          <a:xfrm>
            <a:off x="594360" y="3785616"/>
            <a:ext cx="329184" cy="329184"/>
          </a:xfrm>
          <a:prstGeom prst="ellipse">
            <a:avLst/>
          </a:prstGeom>
          <a:solidFill>
            <a:srgbClr val="F2A93B"/>
          </a:solidFill>
          <a:ln/>
        </p:spPr>
      </p:sp>
      <p:sp>
        <p:nvSpPr>
          <p:cNvPr id="14" name="Text 12"/>
          <p:cNvSpPr txBox="1"/>
          <p:nvPr/>
        </p:nvSpPr>
        <p:spPr>
          <a:xfrm>
            <a:off x="594360" y="3785616"/>
            <a:ext cx="329184" cy="329184"/>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4</a:t>
            </a:r>
            <a:endParaRPr lang="en-US" sz="1400" dirty="0"/>
          </a:p>
        </p:txBody>
      </p:sp>
      <p:sp>
        <p:nvSpPr>
          <p:cNvPr id="15" name="Text 13"/>
          <p:cNvSpPr txBox="1"/>
          <p:nvPr/>
        </p:nvSpPr>
        <p:spPr>
          <a:xfrm>
            <a:off x="1143000" y="3739896"/>
            <a:ext cx="9692640" cy="457200"/>
          </a:xfrm>
          <a:prstGeom prst="rect">
            <a:avLst/>
          </a:prstGeom>
          <a:noFill/>
          <a:ln/>
        </p:spPr>
        <p:txBody>
          <a:bodyPr wrap="square" lIns="0" tIns="0" rIns="0" bIns="0" rtlCol="0" anchor="ctr"/>
          <a:lstStyle/>
          <a:p>
            <a:pPr indent="0" marL="0">
              <a:buNone/>
            </a:pPr>
            <a:r>
              <a:rPr lang="en-US" sz="1600" dirty="0">
                <a:solidFill>
                  <a:srgbClr val="1F2430"/>
                </a:solidFill>
                <a:latin typeface="Calibri" pitchFamily="34" charset="0"/>
                <a:ea typeface="Calibri" pitchFamily="34" charset="-122"/>
                <a:cs typeface="Calibri" pitchFamily="34" charset="-120"/>
              </a:rPr>
              <a:t>First sign-in — and the two things that look broken but aren't</a:t>
            </a:r>
            <a:endParaRPr lang="en-US" sz="1600" dirty="0"/>
          </a:p>
        </p:txBody>
      </p:sp>
      <p:sp>
        <p:nvSpPr>
          <p:cNvPr id="16" name="Shape 14"/>
          <p:cNvSpPr/>
          <p:nvPr/>
        </p:nvSpPr>
        <p:spPr>
          <a:xfrm>
            <a:off x="594360" y="4443984"/>
            <a:ext cx="329184" cy="329184"/>
          </a:xfrm>
          <a:prstGeom prst="ellipse">
            <a:avLst/>
          </a:prstGeom>
          <a:solidFill>
            <a:srgbClr val="F2A93B"/>
          </a:solidFill>
          <a:ln/>
        </p:spPr>
      </p:sp>
      <p:sp>
        <p:nvSpPr>
          <p:cNvPr id="17" name="Text 15"/>
          <p:cNvSpPr txBox="1"/>
          <p:nvPr/>
        </p:nvSpPr>
        <p:spPr>
          <a:xfrm>
            <a:off x="594360" y="4443984"/>
            <a:ext cx="329184" cy="329184"/>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5</a:t>
            </a:r>
            <a:endParaRPr lang="en-US" sz="1400" dirty="0"/>
          </a:p>
        </p:txBody>
      </p:sp>
      <p:sp>
        <p:nvSpPr>
          <p:cNvPr id="18" name="Text 16"/>
          <p:cNvSpPr txBox="1"/>
          <p:nvPr/>
        </p:nvSpPr>
        <p:spPr>
          <a:xfrm>
            <a:off x="1143000" y="4398264"/>
            <a:ext cx="9692640" cy="457200"/>
          </a:xfrm>
          <a:prstGeom prst="rect">
            <a:avLst/>
          </a:prstGeom>
          <a:noFill/>
          <a:ln/>
        </p:spPr>
        <p:txBody>
          <a:bodyPr wrap="square" lIns="0" tIns="0" rIns="0" bIns="0" rtlCol="0" anchor="ctr"/>
          <a:lstStyle/>
          <a:p>
            <a:pPr indent="0" marL="0">
              <a:buNone/>
            </a:pPr>
            <a:r>
              <a:rPr lang="en-US" sz="1600" dirty="0">
                <a:solidFill>
                  <a:srgbClr val="1F2430"/>
                </a:solidFill>
                <a:latin typeface="Calibri" pitchFamily="34" charset="0"/>
                <a:ea typeface="Calibri" pitchFamily="34" charset="-122"/>
                <a:cs typeface="Calibri" pitchFamily="34" charset="-120"/>
              </a:rPr>
              <a:t>Cost Management + Billing — finding your billing scope in the portal</a:t>
            </a:r>
            <a:endParaRPr lang="en-US" sz="1600" dirty="0"/>
          </a:p>
        </p:txBody>
      </p:sp>
      <p:sp>
        <p:nvSpPr>
          <p:cNvPr id="19" name="Shape 17"/>
          <p:cNvSpPr/>
          <p:nvPr/>
        </p:nvSpPr>
        <p:spPr>
          <a:xfrm>
            <a:off x="594360" y="5102352"/>
            <a:ext cx="329184" cy="329184"/>
          </a:xfrm>
          <a:prstGeom prst="ellipse">
            <a:avLst/>
          </a:prstGeom>
          <a:solidFill>
            <a:srgbClr val="F2A93B"/>
          </a:solidFill>
          <a:ln/>
        </p:spPr>
      </p:sp>
      <p:sp>
        <p:nvSpPr>
          <p:cNvPr id="20" name="Text 18"/>
          <p:cNvSpPr txBox="1"/>
          <p:nvPr/>
        </p:nvSpPr>
        <p:spPr>
          <a:xfrm>
            <a:off x="594360" y="5102352"/>
            <a:ext cx="329184" cy="329184"/>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6</a:t>
            </a:r>
            <a:endParaRPr lang="en-US" sz="1400" dirty="0"/>
          </a:p>
        </p:txBody>
      </p:sp>
      <p:sp>
        <p:nvSpPr>
          <p:cNvPr id="21" name="Text 19"/>
          <p:cNvSpPr txBox="1"/>
          <p:nvPr/>
        </p:nvSpPr>
        <p:spPr>
          <a:xfrm>
            <a:off x="1143000" y="5056632"/>
            <a:ext cx="9692640" cy="457200"/>
          </a:xfrm>
          <a:prstGeom prst="rect">
            <a:avLst/>
          </a:prstGeom>
          <a:noFill/>
          <a:ln/>
        </p:spPr>
        <p:txBody>
          <a:bodyPr wrap="square" lIns="0" tIns="0" rIns="0" bIns="0" rtlCol="0" anchor="ctr"/>
          <a:lstStyle/>
          <a:p>
            <a:pPr indent="0" marL="0">
              <a:buNone/>
            </a:pPr>
            <a:r>
              <a:rPr lang="en-US" sz="1600" dirty="0">
                <a:solidFill>
                  <a:srgbClr val="1F2430"/>
                </a:solidFill>
                <a:latin typeface="Calibri" pitchFamily="34" charset="0"/>
                <a:ea typeface="Calibri" pitchFamily="34" charset="-122"/>
                <a:cs typeface="Calibri" pitchFamily="34" charset="-120"/>
              </a:rPr>
              <a:t>A budget and an alert — the guardrail to set before creating a single resource</a:t>
            </a:r>
            <a:endParaRPr lang="en-US" sz="1600" dirty="0"/>
          </a:p>
        </p:txBody>
      </p:sp>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01</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Start at azure.microsoft.com</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Two doors on the landing page: Pay as you go, or Try Azure for free. For this course, take the free account.</a:t>
            </a:r>
          </a:p>
        </p:txBody>
      </p:sp>
      <p:pic>
        <p:nvPicPr>
          <p:cNvPr id="5" name="Picture 4" descr="01_Landing.jpeg"/>
          <p:cNvPicPr>
            <a:picLocks noChangeAspect="1"/>
          </p:cNvPicPr>
          <p:nvPr/>
        </p:nvPicPr>
        <p:blipFill>
          <a:blip r:embed="rId2"/>
          <a:stretch>
            <a:fillRect/>
          </a:stretch>
        </p:blipFill>
        <p:spPr>
          <a:xfrm>
            <a:off x="2529420" y="2011680"/>
            <a:ext cx="7130110"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02</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Free account vs. pay as you go</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Free account: USD200 credit for 30 days, 12 months of popular services free, and spending protection — the card is not charged automatically.</a:t>
            </a:r>
          </a:p>
        </p:txBody>
      </p:sp>
      <p:pic>
        <p:nvPicPr>
          <p:cNvPr id="5" name="Picture 4" descr="02_Account.jpeg"/>
          <p:cNvPicPr>
            <a:picLocks noChangeAspect="1"/>
          </p:cNvPicPr>
          <p:nvPr/>
        </p:nvPicPr>
        <p:blipFill>
          <a:blip r:embed="rId2"/>
          <a:stretch>
            <a:fillRect/>
          </a:stretch>
        </p:blipFill>
        <p:spPr>
          <a:xfrm>
            <a:off x="2928842" y="2011680"/>
            <a:ext cx="6331266"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03</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Pick an account — carefully</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Windows offers accounts you are already signed in to. Do not use a work or school account here — choose 'Use another account'.</a:t>
            </a:r>
          </a:p>
        </p:txBody>
      </p:sp>
      <p:pic>
        <p:nvPicPr>
          <p:cNvPr id="5" name="Picture 4" descr="03_Select_Account.png"/>
          <p:cNvPicPr>
            <a:picLocks noChangeAspect="1"/>
          </p:cNvPicPr>
          <p:nvPr/>
        </p:nvPicPr>
        <p:blipFill>
          <a:blip r:embed="rId2"/>
          <a:stretch>
            <a:fillRect/>
          </a:stretch>
        </p:blipFill>
        <p:spPr>
          <a:xfrm>
            <a:off x="3817124" y="2011680"/>
            <a:ext cx="4554703"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04</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Sign in, or create one</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No personal Microsoft account yet? 'Create one!' branches into account creation before the Azure sign-up resumes.</a:t>
            </a:r>
          </a:p>
        </p:txBody>
      </p:sp>
      <p:pic>
        <p:nvPicPr>
          <p:cNvPr id="5" name="Picture 4" descr="04_Enter_Credentials.png"/>
          <p:cNvPicPr>
            <a:picLocks noChangeAspect="1"/>
          </p:cNvPicPr>
          <p:nvPr/>
        </p:nvPicPr>
        <p:blipFill>
          <a:blip r:embed="rId2"/>
          <a:stretch>
            <a:fillRect/>
          </a:stretch>
        </p:blipFill>
        <p:spPr>
          <a:xfrm>
            <a:off x="3959499" y="2011680"/>
            <a:ext cx="4269953"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05</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Create your Microsoft account</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Pick a new @outlook.com address, or use the dropdown to register an email you already own.</a:t>
            </a:r>
          </a:p>
        </p:txBody>
      </p:sp>
      <p:pic>
        <p:nvPicPr>
          <p:cNvPr id="5" name="Picture 4" descr="05_Creating_New_Account.png"/>
          <p:cNvPicPr>
            <a:picLocks noChangeAspect="1"/>
          </p:cNvPicPr>
          <p:nvPr/>
        </p:nvPicPr>
        <p:blipFill>
          <a:blip r:embed="rId2"/>
          <a:stretch>
            <a:fillRect/>
          </a:stretch>
        </p:blipFill>
        <p:spPr>
          <a:xfrm>
            <a:off x="3018209" y="2011680"/>
            <a:ext cx="6152532"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06</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Country/region and date of birth</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This country setting is about age-appropriate defaults. The billing country comes later — and that one cannot be changed afterwards.</a:t>
            </a:r>
          </a:p>
        </p:txBody>
      </p:sp>
      <p:pic>
        <p:nvPicPr>
          <p:cNvPr id="5" name="Picture 4" descr="06_Add_Details_1.png"/>
          <p:cNvPicPr>
            <a:picLocks noChangeAspect="1"/>
          </p:cNvPicPr>
          <p:nvPr/>
        </p:nvPicPr>
        <p:blipFill>
          <a:blip r:embed="rId2"/>
          <a:stretch>
            <a:fillRect/>
          </a:stretch>
        </p:blipFill>
        <p:spPr>
          <a:xfrm>
            <a:off x="4138614" y="2011680"/>
            <a:ext cx="3911723"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07</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Name on the account</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Use the real name — it has to match the card details entered at the payment step.</a:t>
            </a:r>
          </a:p>
        </p:txBody>
      </p:sp>
      <p:pic>
        <p:nvPicPr>
          <p:cNvPr id="5" name="Picture 4" descr="07_Add_Details_2.png"/>
          <p:cNvPicPr>
            <a:picLocks noChangeAspect="1"/>
          </p:cNvPicPr>
          <p:nvPr/>
        </p:nvPicPr>
        <p:blipFill>
          <a:blip r:embed="rId2"/>
          <a:stretch>
            <a:fillRect/>
          </a:stretch>
        </p:blipFill>
        <p:spPr>
          <a:xfrm>
            <a:off x="3796305" y="2011680"/>
            <a:ext cx="4596340"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08</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Add a recovery email</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An alternate personal address. Microsoft sends a security code there in the next step — again, not a work or school email.</a:t>
            </a:r>
          </a:p>
        </p:txBody>
      </p:sp>
      <p:pic>
        <p:nvPicPr>
          <p:cNvPr id="5" name="Picture 4" descr="08_Account_Protection.png"/>
          <p:cNvPicPr>
            <a:picLocks noChangeAspect="1"/>
          </p:cNvPicPr>
          <p:nvPr/>
        </p:nvPicPr>
        <p:blipFill>
          <a:blip r:embed="rId2"/>
          <a:stretch>
            <a:fillRect/>
          </a:stretch>
        </p:blipFill>
        <p:spPr>
          <a:xfrm>
            <a:off x="3240595" y="2011680"/>
            <a:ext cx="5707760"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09</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Azure free account — step 1 of 3</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Profile information: personal use, country/region, name, notification email, phone. The country/region choice is permanent and sets the billing currency.</a:t>
            </a:r>
          </a:p>
        </p:txBody>
      </p:sp>
      <p:pic>
        <p:nvPicPr>
          <p:cNvPr id="5" name="Picture 4" descr="09_Complete_Account_Creation.png"/>
          <p:cNvPicPr>
            <a:picLocks noChangeAspect="1"/>
          </p:cNvPicPr>
          <p:nvPr/>
        </p:nvPicPr>
        <p:blipFill>
          <a:blip r:embed="rId2"/>
          <a:stretch>
            <a:fillRect/>
          </a:stretch>
        </p:blipFill>
        <p:spPr>
          <a:xfrm>
            <a:off x="2764518" y="2011680"/>
            <a:ext cx="6659915"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10</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Step 3 of 3 — card verification</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A real card is required for identity verification. It is not charged unless you move to pay-as-you-go; a small temporary authorisation may appear and reverse.</a:t>
            </a:r>
          </a:p>
        </p:txBody>
      </p:sp>
      <p:pic>
        <p:nvPicPr>
          <p:cNvPr id="5" name="Picture 4" descr="10_Credit_Card_Details.png"/>
          <p:cNvPicPr>
            <a:picLocks noChangeAspect="1"/>
          </p:cNvPicPr>
          <p:nvPr/>
        </p:nvPicPr>
        <p:blipFill>
          <a:blip r:embed="rId2"/>
          <a:stretch>
            <a:fillRect/>
          </a:stretch>
        </p:blipFill>
        <p:spPr>
          <a:xfrm>
            <a:off x="3087984" y="2011680"/>
            <a:ext cx="6012982"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11</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Provisioning the account</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Takes a couple of minutes. Check email — some accounts need an extra verification step before Azure finishes.</a:t>
            </a:r>
          </a:p>
        </p:txBody>
      </p:sp>
      <p:pic>
        <p:nvPicPr>
          <p:cNvPr id="5" name="Picture 4" descr="11_Creation_In_Progress.png"/>
          <p:cNvPicPr>
            <a:picLocks noChangeAspect="1"/>
          </p:cNvPicPr>
          <p:nvPr/>
        </p:nvPicPr>
        <p:blipFill>
          <a:blip r:embed="rId2"/>
          <a:stretch>
            <a:fillRect/>
          </a:stretch>
        </p:blipFill>
        <p:spPr>
          <a:xfrm>
            <a:off x="2693555" y="2011680"/>
            <a:ext cx="6801840"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12</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When sign-in fails: state_mismatch</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Not a broken account — a stale auth state in the browser. Fix: sign out, clear cookies for the site, or reopen in a private window.</a:t>
            </a:r>
          </a:p>
        </p:txBody>
      </p:sp>
      <p:pic>
        <p:nvPicPr>
          <p:cNvPr id="5" name="Picture 4" descr="12_SignIn_Failed.png"/>
          <p:cNvPicPr>
            <a:picLocks noChangeAspect="1"/>
          </p:cNvPicPr>
          <p:nvPr/>
        </p:nvPicPr>
        <p:blipFill>
          <a:blip r:embed="rId2"/>
          <a:stretch>
            <a:fillRect/>
          </a:stretch>
        </p:blipFill>
        <p:spPr>
          <a:xfrm>
            <a:off x="3106350" y="2011680"/>
            <a:ext cx="5976250"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13</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First sign-in to the portal</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'You don't have permission to view credits' right after sign-up is normal — billing takes a few minutes to propagate. Refresh later.</a:t>
            </a:r>
          </a:p>
        </p:txBody>
      </p:sp>
      <p:pic>
        <p:nvPicPr>
          <p:cNvPr id="5" name="Picture 4" descr="13_Azure_Initial_Page.png"/>
          <p:cNvPicPr>
            <a:picLocks noChangeAspect="1"/>
          </p:cNvPicPr>
          <p:nvPr/>
        </p:nvPicPr>
        <p:blipFill>
          <a:blip r:embed="rId2"/>
          <a:stretch>
            <a:fillRect/>
          </a:stretch>
        </p:blipFill>
        <p:spPr>
          <a:xfrm>
            <a:off x="2327118" y="2011680"/>
            <a:ext cx="7534714"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14</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Find Cost Management + Billing</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Portal menu, left-hand rail. This is the first thing to configure — before creating a single resource.</a:t>
            </a:r>
          </a:p>
        </p:txBody>
      </p:sp>
      <p:pic>
        <p:nvPicPr>
          <p:cNvPr id="5" name="Picture 4" descr="14_Cost_Management.png"/>
          <p:cNvPicPr>
            <a:picLocks noChangeAspect="1"/>
          </p:cNvPicPr>
          <p:nvPr/>
        </p:nvPicPr>
        <p:blipFill>
          <a:blip r:embed="rId2"/>
          <a:stretch>
            <a:fillRect/>
          </a:stretch>
        </p:blipFill>
        <p:spPr>
          <a:xfrm>
            <a:off x="2593406" y="2011680"/>
            <a:ext cx="7002139"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15</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Billing scopes</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Your billing account appears here. Open it — budgets are set on a scope, not on an individual resource.</a:t>
            </a:r>
          </a:p>
        </p:txBody>
      </p:sp>
      <p:pic>
        <p:nvPicPr>
          <p:cNvPr id="5" name="Picture 4" descr="15_Billing_Scope_List.png"/>
          <p:cNvPicPr>
            <a:picLocks noChangeAspect="1"/>
          </p:cNvPicPr>
          <p:nvPr/>
        </p:nvPicPr>
        <p:blipFill>
          <a:blip r:embed="rId2"/>
          <a:stretch>
            <a:fillRect/>
          </a:stretch>
        </p:blipFill>
        <p:spPr>
          <a:xfrm>
            <a:off x="2852797" y="2011680"/>
            <a:ext cx="6483357"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16</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Billing account overview</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€0.00 due, free credit expiring in 30 days. Cost management → Budgets is where the guardrail goes.</a:t>
            </a:r>
          </a:p>
        </p:txBody>
      </p:sp>
      <p:pic>
        <p:nvPicPr>
          <p:cNvPr id="5" name="Picture 4" descr="16_Billing_Scope_Summay.png"/>
          <p:cNvPicPr>
            <a:picLocks noChangeAspect="1"/>
          </p:cNvPicPr>
          <p:nvPr/>
        </p:nvPicPr>
        <p:blipFill>
          <a:blip r:embed="rId2"/>
          <a:stretch>
            <a:fillRect/>
          </a:stretch>
        </p:blipFill>
        <p:spPr>
          <a:xfrm>
            <a:off x="4003462" y="2011680"/>
            <a:ext cx="4182026"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17</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Create a budget</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Name it, choose a reset period, set a low amount. This one is annual, €10 — on a free account the point is the alert, not the ceiling.</a:t>
            </a:r>
          </a:p>
        </p:txBody>
      </p:sp>
      <p:pic>
        <p:nvPicPr>
          <p:cNvPr id="5" name="Picture 4" descr="17_Create_Budget.png"/>
          <p:cNvPicPr>
            <a:picLocks noChangeAspect="1"/>
          </p:cNvPicPr>
          <p:nvPr/>
        </p:nvPicPr>
        <p:blipFill>
          <a:blip r:embed="rId2"/>
          <a:stretch>
            <a:fillRect/>
          </a:stretch>
        </p:blipFill>
        <p:spPr>
          <a:xfrm>
            <a:off x="4099923" y="2011680"/>
            <a:ext cx="3989105"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48640" y="457200"/>
            <a:ext cx="10058400" cy="365760"/>
          </a:xfrm>
          <a:prstGeom prst="rect">
            <a:avLst/>
          </a:prstGeom>
          <a:noFill/>
        </p:spPr>
        <p:txBody>
          <a:bodyPr wrap="square" lIns="0" rIns="0" tIns="0" bIns="0">
            <a:spAutoFit/>
          </a:bodyPr>
          <a:lstStyle/>
          <a:p>
            <a:r>
              <a:rPr sz="1300" b="1" spc="200">
                <a:solidFill>
                  <a:srgbClr val="F2A93B"/>
                </a:solidFill>
                <a:latin typeface="Calibri"/>
              </a:rPr>
              <a:t>STEP 18</a:t>
            </a:r>
          </a:p>
        </p:txBody>
      </p:sp>
      <p:sp>
        <p:nvSpPr>
          <p:cNvPr id="3" name="TextBox 2"/>
          <p:cNvSpPr txBox="1"/>
          <p:nvPr/>
        </p:nvSpPr>
        <p:spPr>
          <a:xfrm>
            <a:off x="548640" y="822960"/>
            <a:ext cx="10607040" cy="502920"/>
          </a:xfrm>
          <a:prstGeom prst="rect">
            <a:avLst/>
          </a:prstGeom>
          <a:noFill/>
        </p:spPr>
        <p:txBody>
          <a:bodyPr wrap="square" lIns="0" rIns="0" tIns="0" bIns="0">
            <a:spAutoFit/>
          </a:bodyPr>
          <a:lstStyle/>
          <a:p>
            <a:r>
              <a:rPr sz="3000" b="1">
                <a:solidFill>
                  <a:srgbClr val="1E2761"/>
                </a:solidFill>
                <a:latin typeface="Cambria"/>
              </a:rPr>
              <a:t>Set the alert</a:t>
            </a:r>
          </a:p>
        </p:txBody>
      </p:sp>
      <p:sp>
        <p:nvSpPr>
          <p:cNvPr id="4" name="TextBox 3"/>
          <p:cNvSpPr txBox="1"/>
          <p:nvPr/>
        </p:nvSpPr>
        <p:spPr>
          <a:xfrm>
            <a:off x="548640" y="1389888"/>
            <a:ext cx="11064240" cy="548640"/>
          </a:xfrm>
          <a:prstGeom prst="rect">
            <a:avLst/>
          </a:prstGeom>
          <a:noFill/>
        </p:spPr>
        <p:txBody>
          <a:bodyPr wrap="square" lIns="0" rIns="0" tIns="0" bIns="0">
            <a:spAutoFit/>
          </a:bodyPr>
          <a:lstStyle/>
          <a:p>
            <a:r>
              <a:rPr sz="1400" b="0">
                <a:solidFill>
                  <a:srgbClr val="1F2430"/>
                </a:solidFill>
                <a:latin typeface="Calibri"/>
              </a:rPr>
              <a:t>Actual cost at 50% of budget, emailed to you. A budget does not stop spending — it tells you. Allow-list azure-noreply@microsoft.com.</a:t>
            </a:r>
          </a:p>
        </p:txBody>
      </p:sp>
      <p:pic>
        <p:nvPicPr>
          <p:cNvPr id="5" name="Picture 4" descr="18_Budget_Alert.png"/>
          <p:cNvPicPr>
            <a:picLocks noChangeAspect="1"/>
          </p:cNvPicPr>
          <p:nvPr/>
        </p:nvPicPr>
        <p:blipFill>
          <a:blip r:embed="rId2"/>
          <a:stretch>
            <a:fillRect/>
          </a:stretch>
        </p:blipFill>
        <p:spPr>
          <a:xfrm>
            <a:off x="3722946" y="2011680"/>
            <a:ext cx="4743059" cy="4297680"/>
          </a:xfrm>
          <a:prstGeom prst="rect">
            <a:avLst/>
          </a:prstGeom>
          <a:ln w="9525">
            <a:solidFill>
              <a:srgbClr val="D8DCE3"/>
            </a:solidFill>
          </a:ln>
        </p:spPr>
      </p:pic>
      <p:sp>
        <p:nvSpPr>
          <p:cNvPr id="22" name="Text 20"/>
          <p:cNvSpPr txBox="1"/>
          <p:nvPr/>
        </p:nvSpPr>
        <p:spPr>
          <a:xfrm>
            <a:off x="457200" y="6473952"/>
            <a:ext cx="11274552"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Modern Enterprise Software Engineering  |  ÉSTIAM  |  Day 1</a:t>
            </a:r>
            <a:endParaRPr lang="en-US" sz="10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E2761"/>
        </a:solidFill>
      </p:bgPr>
    </p:bg>
    <p:spTree>
      <p:nvGrpSpPr>
        <p:cNvPr id="1" name=""/>
        <p:cNvGrpSpPr/>
        <p:nvPr/>
      </p:nvGrpSpPr>
      <p:grpSpPr/>
      <p:sp>
        <p:nvSpPr>
          <p:cNvPr id="2" name="Shape 0"/>
          <p:cNvSpPr/>
          <p:nvPr/>
        </p:nvSpPr>
        <p:spPr>
          <a:xfrm>
            <a:off x="10698480" y="457200"/>
            <a:ext cx="914400" cy="914400"/>
          </a:xfrm>
          <a:prstGeom prst="ellipse">
            <a:avLst/>
          </a:prstGeom>
          <a:solidFill>
            <a:srgbClr val="F2A93B"/>
          </a:solidFill>
          <a:ln/>
        </p:spPr>
      </p:sp>
      <p:sp>
        <p:nvSpPr>
          <p:cNvPr id="3" name="Text 1"/>
          <p:cNvSpPr txBox="1"/>
          <p:nvPr/>
        </p:nvSpPr>
        <p:spPr>
          <a:xfrm>
            <a:off x="731520" y="2926080"/>
            <a:ext cx="102412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Next: Module 1 — Develop Azure Computing Solutions</a:t>
            </a:r>
            <a:endParaRPr lang="en-US" sz="3000" dirty="0"/>
          </a:p>
        </p:txBody>
      </p:sp>
      <p:sp>
        <p:nvSpPr>
          <p:cNvPr id="4" name="Text 2"/>
          <p:cNvSpPr txBox="1"/>
          <p:nvPr/>
        </p:nvSpPr>
        <p:spPr>
          <a:xfrm>
            <a:off x="731520" y="3794760"/>
            <a:ext cx="9601200" cy="640080"/>
          </a:xfrm>
          <a:prstGeom prst="rect">
            <a:avLst/>
          </a:prstGeom>
          <a:noFill/>
          <a:ln/>
        </p:spPr>
        <p:txBody>
          <a:bodyPr wrap="square" lIns="0" tIns="0" rIns="0" bIns="0" rtlCol="0" anchor="ctr"/>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Everyone has a subscription and a budget alert on it. Now let's put something in it — and start paying attention to what that something costs.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2026-08-29T12:04:23Z</dcterms:created>
  <dcterms:modified xsi:type="dcterms:W3CDTF">2026-08-29T12:04:23Z</dcterms:modified>
</cp:coreProperties>
</file>