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3" name="Shape 1"/>
          <p:cNvSpPr/>
          <p:nvPr/>
        </p:nvSpPr>
        <p:spPr>
          <a:xfrm>
            <a:off x="10149840" y="4937760"/>
            <a:ext cx="2377440" cy="2377440"/>
          </a:xfrm>
          <a:prstGeom prst="ellipse">
            <a:avLst/>
          </a:prstGeom>
          <a:solidFill>
            <a:srgbClr val="F2A93B">
              <a:alpha val="1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Getting Set Up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own Azure account — and a spending guardrail before anything else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2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set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 txBox="1"/>
          <p:nvPr/>
        </p:nvSpPr>
        <p:spPr>
          <a:xfrm>
            <a:off x="594360" y="18105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an account type — free account vs. pay as you go, and why it matters here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2316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Creating the personal Microsoft account the subscription will sit 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 txBox="1"/>
          <p:nvPr/>
        </p:nvSpPr>
        <p:spPr>
          <a:xfrm>
            <a:off x="594360" y="3127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815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free account sign-up — profile, identity, and the card that won't be charged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785616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4" name="Text 12"/>
          <p:cNvSpPr txBox="1"/>
          <p:nvPr/>
        </p:nvSpPr>
        <p:spPr>
          <a:xfrm>
            <a:off x="594360" y="3785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3989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sign-in — and the two things that look broken but aren't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443984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7" name="Text 15"/>
          <p:cNvSpPr txBox="1"/>
          <p:nvPr/>
        </p:nvSpPr>
        <p:spPr>
          <a:xfrm>
            <a:off x="594360" y="44439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98264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Management + Billing — finding your billing scope in the portal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5102352"/>
            <a:ext cx="329184" cy="329184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0" name="Text 18"/>
          <p:cNvSpPr txBox="1"/>
          <p:nvPr/>
        </p:nvSpPr>
        <p:spPr>
          <a:xfrm>
            <a:off x="594360" y="51023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056632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budget and an alert — the guardrail to set before creating a single resource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01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Start at azure.microsoft.com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Two doors on the landing page: Pay as you go, or Try Azure for free. For this course, take the free account.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1_Landin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420" y="2011680"/>
            <a:ext cx="7130110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02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Free account vs. pay as you go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Free account: USD200 credit for 30 days, 12 months of popular services free, and spending protection — the card is not charged automatically.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2_Account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842" y="2011680"/>
            <a:ext cx="6331266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03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Pick an account — carefully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Windows offers accounts you are already signed in to. Do not use a work or school account here — choose 'Use another account'.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3_Select_Accou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7124" y="2011680"/>
            <a:ext cx="4554703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04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Sign in, or create one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No personal Microsoft account yet? 'Create one!' branches into account creation before the Azure sign-up resumes.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4_Enter_Credenti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499" y="2011680"/>
            <a:ext cx="4269953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05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Create your Microsoft account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Pick a new @outlook.com address, or use the dropdown to register an email you already own.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5_Creating_New_Accou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209" y="2011680"/>
            <a:ext cx="6152532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06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Country/region and date of birth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This country setting is about age-appropriate defaults. The billing country comes later — and that one cannot be changed afterwards.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6_Add_Details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8614" y="2011680"/>
            <a:ext cx="3911723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07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Name on the account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Use the real name — it has to match the card details entered at the payment step.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7_Add_Details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6305" y="2011680"/>
            <a:ext cx="4596340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08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Add a recovery email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An alternate personal address. Microsoft sends a security code there in the next step — again, not a work or school email.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8_Account_Prote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0595" y="2011680"/>
            <a:ext cx="5707760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09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Azure free account — step 1 of 3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Profile information: personal use, country/region, name, notification email, phone. The country/region choice is permanent and sets the billing currency.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09_Complete_Account_Cre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4518" y="2011680"/>
            <a:ext cx="6659915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10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Step 3 of 3 — card verification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A real card is required for identity verification. It is not charged unless you move to pay-as-you-go; a small temporary authorisation may appear and reverse.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0_Credit_Card_Detai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984" y="2011680"/>
            <a:ext cx="6012982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11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Provisioning the account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Takes a couple of minutes. Check email — some accounts need an extra verification step before Azure finishes.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1_Creation_In_Pro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3555" y="2011680"/>
            <a:ext cx="6801840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12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When sign-in fails: state_mismatch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Not a broken account — a stale auth state in the browser. Fix: sign out, clear cookies for the site, or reopen in a private window.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2_SignIn_Fail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6350" y="2011680"/>
            <a:ext cx="5976250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13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First sign-in to the portal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'You don't have permission to view credits' right after sign-up is normal — billing takes a few minutes to propagate. Refresh later.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3_Azure_Initial_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118" y="2011680"/>
            <a:ext cx="7534714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14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Find Cost Management + Billing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Portal menu, left-hand rail. This is the first thing to configure — before creating a single resource.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4_Cost_Manage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3406" y="2011680"/>
            <a:ext cx="7002139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15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Billing scopes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Your billing account appears here. Open it — budgets are set on a scope, not on an individual resource.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5_Billing_Scope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797" y="2011680"/>
            <a:ext cx="6483357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16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Billing account overview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€0.00 due, free credit expiring in 30 days. Cost management → Budgets is where the guardrail goes.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6_Billing_Scope_Summa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3462" y="2011680"/>
            <a:ext cx="4182026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17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Create a budget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Name it, choose a reset period, set a low amount. This one is annual, €10 — on a free account the point is the alert, not the ceiling.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7_Create_Bud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9923" y="2011680"/>
            <a:ext cx="3989105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200">
                <a:solidFill>
                  <a:srgbClr val="F2A93B"/>
                </a:solidFill>
                <a:latin typeface="Calibri" panose="020F0502020204030204"/>
              </a:rPr>
              <a:t>STEP 18</a:t>
            </a:r>
            <a:endParaRPr sz="1300" b="1" spc="200">
              <a:solidFill>
                <a:srgbClr val="F2A93B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 panose="02040503050406030204"/>
              </a:rPr>
              <a:t>Set the alert</a:t>
            </a:r>
            <a:endParaRPr sz="3000" b="1">
              <a:solidFill>
                <a:srgbClr val="1E2761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430"/>
                </a:solidFill>
                <a:latin typeface="Calibri" panose="020F0502020204030204"/>
              </a:rPr>
              <a:t>Actual cost at 50% of budget, emailed to you. A budget does not stop spending — it tells you. Allow-list azure-noreply@microsoft.com.</a:t>
            </a:r>
            <a:endParaRPr sz="1400" b="0">
              <a:solidFill>
                <a:srgbClr val="1F2430"/>
              </a:solidFill>
              <a:latin typeface="Calibri" panose="020F0502020204030204"/>
            </a:endParaRPr>
          </a:p>
        </p:txBody>
      </p:sp>
      <p:pic>
        <p:nvPicPr>
          <p:cNvPr id="5" name="Picture 4" descr="18_Budget_Ale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2946" y="2011680"/>
            <a:ext cx="4743059" cy="4297680"/>
          </a:xfrm>
          <a:prstGeom prst="rect">
            <a:avLst/>
          </a:prstGeom>
          <a:ln w="9525">
            <a:solidFill>
              <a:srgbClr val="D8DCE3"/>
            </a:solidFill>
          </a:ln>
        </p:spPr>
      </p:pic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Enterprise Software Engineering  |  ÉSTIAM  |  Day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3" name="Text 1"/>
          <p:cNvSpPr txBox="1"/>
          <p:nvPr/>
        </p:nvSpPr>
        <p:spPr>
          <a:xfrm>
            <a:off x="731520" y="292608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Next: Module 1 — Develop Azure Computing 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has a subscription and a budget alert on it. Now let's put something in it — and start paying attention to what that something costs.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4680</Words>
  <Application>WPS Presentation</Application>
  <PresentationFormat>On-screen Show (16:9)</PresentationFormat>
  <Paragraphs>186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Guilherme Sonego Neto</cp:lastModifiedBy>
  <cp:revision>2</cp:revision>
  <dcterms:created xsi:type="dcterms:W3CDTF">2026-08-29T12:04:00Z</dcterms:created>
  <dcterms:modified xsi:type="dcterms:W3CDTF">2026-08-31T16:02:09Z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02608C62C9E74FC28BE61732A51E398E_12</vt:lpwstr>
  </property>
  <property fmtid="{D5CDD505-2E9C-101B-9397-08002B2CF9AE}" pid="3" name="KSOProductBuildVer">
    <vt:lpwstr>1033-12.1.0.28485</vt:lpwstr>
  </property>
</Properties>
</file>