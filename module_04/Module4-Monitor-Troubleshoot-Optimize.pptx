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0" r:id="rId21"/>
    <p:sldId id="267" r:id="rId13"/>
    <p:sldId id="271" r:id="rId22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3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2.xml"/><Relationship Id="rId22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1.5h module. Two live demos today: caching on catalog-api-v7 (+ a matching pill in catalog-ui), Application Insights on catalog-api-v8 (+ catalog-ui, correlated by one Operation Id). Both already tested end-to-end before class -- see the Module 4 manual for exact commands.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Caching is required to be UNDERSTOOD, not required in the project -- the live demo is on catalog-api/catalog-ui, not a required project pattern. Application Insights IS required in the project. Say this distinction out loud early so students aren't confused about what they need to 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 hook, same pattern as Module 3's cliffhanger slide. Ask the class: with only what we've built through Module 3, how would YOU find out which dependency broke? Let them sit with 'we're blind' for a second before moving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Core framing slide. RU cost point: a GET /titles/count query on the Titles container costs a few RUs (2.89 in the live test); multiply by every student's dashboard clicking around and it adds up. The Redis mention here is a teaser for slide 8 -- don't over-explain it yet, just plant the flag that AZ-204's real answer is different from what we're building.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each row left to right. The 'today's build' row is the punchline -- IMemoryCache for the demo/project, Redis stays a concept. Ask before revealing: given catalog-api can scale out to several replicas, which column would you pick for a shared, durable cache? Leads into the scenario check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Let students answer before revealing the box. This is exactly why today's live demo is worth watching closely on catalog-api's own Container App replicas -- ask the class to picture the count going stale on one replica while another just wrote the new title. Real, current mechanism, not a hypothetical -- catalog-api's scale rule already allows up to 10 replicas.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 -- full command sequence in the Trainer Runbook section 1.3. This is also a callback to Module 1's deployment slots demo: production is already running the plain teacher-dashboard image from Day 1, so the swap here carries real before/after meaning instead of two arbitrary sample images.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break slide. Say the required-vs-not distinction out loud again here -- students will remember this slide more than the earlier mention.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'Traces' naming confusion trips people up every time -- spend a beat on it. It's not distributed tracing in the OpenTelemetry sense, it's literally _logger.LogInformation(...) already sitting in catalog-api/catalog-ui, just shipped somewhere new. TrackEvent gets one sentence only per Guilherme's call -- don't over-invest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actual answer to the 'student is blind' hook from slide 3. Say it plainly: one Operation Id, one screen, the whole story -- and it spans catalog-ui AND catalog-api, not just one app. Sets up the live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command sequence in Trainer Runbook section 2.3. Warn students up front that step 6 (Cosmos dependency missing) is a KNOWN gotcha, covered on the next slide -- don't let them think they broke something.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Real gotcha hit while testing this module -- Requests/Traces/Exceptions all worked, only Cosmos was missing. Good general lesson beyond Cosmos specifically: 'instrumented' at one layer doesn't mean every dependency's SDK is traced by default -- always check per-SDK. Full source in the module manual's Issues &amp; Fixes.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Wrap-up. Last bullet is the one students most need to leave with: Application Insights required, caching not. Good moment to point at the project brief for the exact App Insights setup steps they'll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Teaser slide for Module 5, same pattern as Module 3's closer.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didn't exist before -- the manual's stated payoff for Topic 2 is exactly this cross-app correlation, and slide 10 promised it in words. Show it landing for real: open the catalog-ui transaction in Transaction Search, point at operation_Id, then show the same id on the catalog-api and Cosmos DB rows underneath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gotcha, hit while wiring catalog-api-v8 for this module, documented in the project's own gotcha list. Not in the manual's Issues &amp; Fixes section yet -- worth folding back in there too. Good general lesson: a transitive dependency bump from an unrelated package can break local auth even when you didn't touch any credential code yourself.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98480" y="457200"/>
            <a:ext cx="914400" cy="914400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2468880"/>
            <a:ext cx="10241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4 — Monitor, Troubleshoot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Optimize Azure Solutions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947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Caching &amp; Application Insights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6126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Enterprise Software Engineering  |  ÉSTIAM  |  Day 2, Morning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cover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05156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1C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Caching — the rate-of-change bet, and where a cache should actually live</a:t>
            </a:r>
          </a:p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1C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caching /titles/count on catalog-api, then showing it live in catalog-ui</a:t>
            </a:r>
          </a:p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1C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Insights — auto-captured telemetry vs. what you have to opt into</a:t>
            </a:r>
          </a:p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1C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wiring catalog-api + catalog-ui for real, correlated, end-to-end telemetry</a:t>
            </a:r>
          </a:p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1C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TrackEvent — the custom-events layer (mention only)</a:t>
            </a:r>
          </a:p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1C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means for your own project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54864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Enterprise Software Engineering  |  ÉSTIAM  |  Day 2, Morning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3, SOUTENANCE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student is blind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0698480" cy="29260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FE2E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9202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calls ?action=create. It hangs, then times out with a generic 500.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65176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now, their only options are dotnet run's console or az containerapp logs show — and both only show what they thought to log ahead of time. If the failure is inside Cosmos, Blob, or Key Vault, they get a generic 500 with no idea which one broke.</a:t>
            </a:r>
          </a:p>
        </p:txBody>
      </p:sp>
      <p:sp>
        <p:nvSpPr>
          <p:cNvPr id="7" name="Text 5"/>
          <p:cNvSpPr txBox="1"/>
          <p:nvPr/>
        </p:nvSpPr>
        <p:spPr>
          <a:xfrm>
            <a:off x="91440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blindness is expensive precisely when it matters most — during the soutenance, in front of you, with the clock running.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Enterprise Software Engineering  |  ÉSTIAM  |  Day 2, Morning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— CACHING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bet on the rate of change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120640" cy="4023360"/>
          </a:xfrm>
          <a:prstGeom prst="roundRect">
            <a:avLst>
              <a:gd name="adj" fmla="val 2273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8745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data changes every second...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24028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...caching just serves stale garbage. There's nothing to gain.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2461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barely changes...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61188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...you can safely serve a slightly-old copy and skip the round-trip entirely. Staleness traded for speed — on purpose.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484632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data doesn't change every second — a good candidate.</a:t>
            </a:r>
          </a:p>
        </p:txBody>
      </p:sp>
      <p:sp>
        <p:nvSpPr>
          <p:cNvPr id="10" name="Shape 8"/>
          <p:cNvSpPr/>
          <p:nvPr/>
        </p:nvSpPr>
        <p:spPr>
          <a:xfrm>
            <a:off x="5943600" y="1645920"/>
            <a:ext cx="5349240" cy="1874520"/>
          </a:xfrm>
          <a:prstGeom prst="roundRect">
            <a:avLst>
              <a:gd name="adj" fmla="val 4878"/>
            </a:avLst>
          </a:prstGeom>
          <a:solidFill>
            <a:srgbClr val="F5F6FA"/>
          </a:solidFill>
          <a:ln w="12700">
            <a:solidFill>
              <a:srgbClr val="DFE2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63640" y="1828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Cost, not just latency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19456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Cosmos DB read consumes Request Units (RUs). 50 list-reads a minute from one dashboard click-fest is small — multiply by 25-30 students, each polling their own container, and it adds up in both latency and cost.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943600" y="3703320"/>
            <a:ext cx="5349240" cy="1965960"/>
          </a:xfrm>
          <a:prstGeom prst="roundRect">
            <a:avLst>
              <a:gd name="adj" fmla="val 4651"/>
            </a:avLst>
          </a:prstGeom>
          <a:solidFill>
            <a:srgbClr val="F5F6FA"/>
          </a:solidFill>
          <a:ln w="12700">
            <a:solidFill>
              <a:srgbClr val="DFE2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63640" y="38862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AZ-204's actual answer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425196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caching was trimmed from the exam outline: “Configure cache and expiration policies for Azure Cache for Redis.” A dedicated resource — not what we build today (see slide 8).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Enterprise Software Engineering  |  ÉSTIAM  |  Day 2, Morning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— CACHING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should the cache live?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617720" y="1600200"/>
            <a:ext cx="3566160" cy="594360"/>
          </a:xfrm>
          <a:prstGeom prst="roundRect">
            <a:avLst>
              <a:gd name="adj" fmla="val 12308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617720" y="16002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IMemoryCache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366760" y="1600200"/>
            <a:ext cx="3429000" cy="594360"/>
          </a:xfrm>
          <a:prstGeom prst="roundRect">
            <a:avLst>
              <a:gd name="adj" fmla="val 12308"/>
            </a:avLst>
          </a:prstGeom>
          <a:solidFill>
            <a:srgbClr val="F5F6FA"/>
          </a:solidFill>
          <a:ln w="12700">
            <a:solidFill>
              <a:srgbClr val="DFE2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366760" y="1600200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Cache for Redis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496312"/>
            <a:ext cx="3931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C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across instances?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617720" y="2423160"/>
            <a:ext cx="3566160" cy="822960"/>
          </a:xfrm>
          <a:prstGeom prst="roundRect">
            <a:avLst>
              <a:gd name="adj" fmla="val 6667"/>
            </a:avLst>
          </a:prstGeom>
          <a:solidFill>
            <a:srgbClr val="EF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54880" y="242316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— each instance has its own copy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366760" y="2423160"/>
            <a:ext cx="3429000" cy="822960"/>
          </a:xfrm>
          <a:prstGeom prst="roundRect">
            <a:avLst>
              <a:gd name="adj" fmla="val 6667"/>
            </a:avLst>
          </a:prstGeom>
          <a:solidFill>
            <a:srgbClr val="F5F6F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503920" y="242316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one shared cache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429000"/>
            <a:ext cx="3931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C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Survives a restart / new revision?</a:t>
            </a:r>
          </a:p>
        </p:txBody>
      </p:sp>
      <p:sp>
        <p:nvSpPr>
          <p:cNvPr id="14" name="Shape 12"/>
          <p:cNvSpPr/>
          <p:nvPr/>
        </p:nvSpPr>
        <p:spPr>
          <a:xfrm>
            <a:off x="4617720" y="3355848"/>
            <a:ext cx="3566160" cy="822960"/>
          </a:xfrm>
          <a:prstGeom prst="roundRect">
            <a:avLst>
              <a:gd name="adj" fmla="val 6667"/>
            </a:avLst>
          </a:prstGeom>
          <a:solidFill>
            <a:srgbClr val="E4E9F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754880" y="3355848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— wiped completely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366760" y="3355848"/>
            <a:ext cx="3429000" cy="822960"/>
          </a:xfrm>
          <a:prstGeom prst="roundRect">
            <a:avLst>
              <a:gd name="adj" fmla="val 6667"/>
            </a:avLst>
          </a:prstGeom>
          <a:solidFill>
            <a:srgbClr val="F5F6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03920" y="3355848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lives outside the app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361688"/>
            <a:ext cx="3931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C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Azure resource needed?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617720" y="4288536"/>
            <a:ext cx="3566160" cy="822960"/>
          </a:xfrm>
          <a:prstGeom prst="roundRect">
            <a:avLst>
              <a:gd name="adj" fmla="val 6667"/>
            </a:avLst>
          </a:prstGeom>
          <a:solidFill>
            <a:srgbClr val="EFF2F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754880" y="4288536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366760" y="4288536"/>
            <a:ext cx="3429000" cy="822960"/>
          </a:xfrm>
          <a:prstGeom prst="roundRect">
            <a:avLst>
              <a:gd name="adj" fmla="val 6667"/>
            </a:avLst>
          </a:prstGeom>
          <a:solidFill>
            <a:srgbClr val="F5F6F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503920" y="4288536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provisioning, RBAC, cost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294376"/>
            <a:ext cx="3931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C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build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4617720" y="5221224"/>
            <a:ext cx="3566160" cy="822960"/>
          </a:xfrm>
          <a:prstGeom prst="roundRect">
            <a:avLst>
              <a:gd name="adj" fmla="val 6667"/>
            </a:avLst>
          </a:prstGeom>
          <a:solidFill>
            <a:srgbClr val="E4E9F9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754880" y="5221224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one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366760" y="5221224"/>
            <a:ext cx="3429000" cy="822960"/>
          </a:xfrm>
          <a:prstGeom prst="roundRect">
            <a:avLst>
              <a:gd name="adj" fmla="val 6667"/>
            </a:avLst>
          </a:prstGeom>
          <a:solidFill>
            <a:srgbClr val="F5F6F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503920" y="5221224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only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Enterprise Software Engineering  |  ÉSTIAM  |  Day 2, Morning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CHECK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instances, two caches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C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Container App scales out to two replicas under load. A student adds a title, then reads the count from a different replica than the one that served their last read. What do they see?</a:t>
            </a:r>
          </a:p>
        </p:txBody>
      </p:sp>
      <p:sp>
        <p:nvSpPr>
          <p:cNvPr id="5" name="Shape 3"/>
          <p:cNvSpPr/>
          <p:nvPr/>
        </p:nvSpPr>
        <p:spPr>
          <a:xfrm>
            <a:off x="822960" y="2697480"/>
            <a:ext cx="5029200" cy="1920240"/>
          </a:xfrm>
          <a:prstGeom prst="roundRect">
            <a:avLst>
              <a:gd name="adj" fmla="val 4762"/>
            </a:avLst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2834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A</a:t>
            </a:r>
          </a:p>
        </p:txBody>
      </p:sp>
      <p:sp>
        <p:nvSpPr>
          <p:cNvPr id="7" name="Text 5"/>
          <p:cNvSpPr txBox="1"/>
          <p:nvPr/>
        </p:nvSpPr>
        <p:spPr>
          <a:xfrm>
            <a:off x="1097280" y="320040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own IMemoryCache.</a:t>
            </a:r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served the new title — cache is fresh.</a:t>
            </a:r>
          </a:p>
        </p:txBody>
      </p:sp>
      <p:sp>
        <p:nvSpPr>
          <p:cNvPr id="8" name="Shape 6"/>
          <p:cNvSpPr/>
          <p:nvPr/>
        </p:nvSpPr>
        <p:spPr>
          <a:xfrm>
            <a:off x="6309360" y="2697480"/>
            <a:ext cx="5029200" cy="1920240"/>
          </a:xfrm>
          <a:prstGeom prst="roundRect">
            <a:avLst>
              <a:gd name="adj" fmla="val 4762"/>
            </a:avLst>
          </a:prstGeom>
          <a:solidFill>
            <a:srgbClr val="3A448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0" y="2834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B</a:t>
            </a:r>
          </a:p>
        </p:txBody>
      </p:sp>
      <p:sp>
        <p:nvSpPr>
          <p:cNvPr id="10" name="Text 8"/>
          <p:cNvSpPr txBox="1"/>
          <p:nvPr/>
        </p:nvSpPr>
        <p:spPr>
          <a:xfrm>
            <a:off x="6583680" y="320040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completely separate IMemoryCache, in a separate process.</a:t>
            </a:r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Might still hold the OLD count.</a:t>
            </a:r>
          </a:p>
        </p:txBody>
      </p:sp>
      <p:sp>
        <p:nvSpPr>
          <p:cNvPr id="11" name="Shape 9"/>
          <p:cNvSpPr/>
          <p:nvPr/>
        </p:nvSpPr>
        <p:spPr>
          <a:xfrm>
            <a:off x="548640" y="4846320"/>
            <a:ext cx="10698480" cy="1234440"/>
          </a:xfrm>
          <a:prstGeom prst="roundRect">
            <a:avLst>
              <a:gd name="adj" fmla="val 7407"/>
            </a:avLst>
          </a:prstGeom>
          <a:solidFill>
            <a:srgbClr val="FDF1DE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680" y="4956048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5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bug — the fundamental trade-off of in-process caching under scale-out. Real production systems needing cross-instance consistency reach for Redis instead. Same trade-off applies across a new revision: a fresh replica's cache starts empty, so the first request after any redeploy is a guaranteed miss.</a:t>
            </a:r>
          </a:p>
        </p:txBody>
      </p:sp>
      <p:sp>
        <p:nvSpPr>
          <p:cNvPr id="13" name="Text 11"/>
          <p:cNvSpPr txBox="1"/>
          <p:nvPr/>
        </p:nvSpPr>
        <p:spPr>
          <a:xfrm>
            <a:off x="54864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Enterprise Software Engineering  |  ÉSTIAM  |  Day 2, Morning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— LIVE DEMO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Build, push, verify, shift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Reuses Module 1's Container App revisions -- production is already running catalog-api without the count endpoint. Today we build the caching version, verify it on its own revision, then shift traffic.</a:t>
            </a:r>
          </a:p>
        </p:txBody>
      </p:sp>
      <p:sp>
        <p:nvSpPr>
          <p:cNvPr id="5" name="Shape 3"/>
          <p:cNvSpPr/>
          <p:nvPr/>
        </p:nvSpPr>
        <p:spPr>
          <a:xfrm>
            <a:off x="548640" y="2651760"/>
            <a:ext cx="2377440" cy="2103120"/>
          </a:xfrm>
          <a:prstGeom prst="roundRect">
            <a:avLst>
              <a:gd name="adj" fmla="val 4348"/>
            </a:avLst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8803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Build</a:t>
            </a:r>
          </a:p>
        </p:txBody>
      </p:sp>
      <p:sp>
        <p:nvSpPr>
          <p:cNvPr id="7" name="Text 5"/>
          <p:cNvSpPr txBox="1"/>
          <p:nvPr/>
        </p:nvSpPr>
        <p:spPr>
          <a:xfrm>
            <a:off x="731520" y="34290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build</a:t>
            </a:r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GET /titles/count</a:t>
            </a:r>
          </a:p>
        </p:txBody>
      </p:sp>
      <p:sp>
        <p:nvSpPr>
          <p:cNvPr id="8" name="Text 6"/>
          <p:cNvSpPr txBox="1"/>
          <p:nvPr/>
        </p:nvSpPr>
        <p:spPr>
          <a:xfrm>
            <a:off x="2926080" y="34290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246120" y="2651760"/>
            <a:ext cx="2377440" cy="2103120"/>
          </a:xfrm>
          <a:prstGeom prst="roundRect">
            <a:avLst>
              <a:gd name="adj" fmla="val 4348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29000" y="28803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Push</a:t>
            </a:r>
          </a:p>
        </p:txBody>
      </p:sp>
      <p:sp>
        <p:nvSpPr>
          <p:cNvPr id="11" name="Text 9"/>
          <p:cNvSpPr txBox="1"/>
          <p:nvPr/>
        </p:nvSpPr>
        <p:spPr>
          <a:xfrm>
            <a:off x="3429000" y="34290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push</a:t>
            </a:r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ACR</a:t>
            </a:r>
          </a:p>
        </p:txBody>
      </p:sp>
      <p:sp>
        <p:nvSpPr>
          <p:cNvPr id="12" name="Text 10"/>
          <p:cNvSpPr txBox="1"/>
          <p:nvPr/>
        </p:nvSpPr>
        <p:spPr>
          <a:xfrm>
            <a:off x="5623560" y="34290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943600" y="2651760"/>
            <a:ext cx="2377440" cy="2103120"/>
          </a:xfrm>
          <a:prstGeom prst="roundRect">
            <a:avLst>
              <a:gd name="adj" fmla="val 4348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126480" y="28803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Verify</a:t>
            </a:r>
          </a:p>
        </p:txBody>
      </p:sp>
      <p:sp>
        <p:nvSpPr>
          <p:cNvPr id="15" name="Text 13"/>
          <p:cNvSpPr txBox="1"/>
          <p:nvPr/>
        </p:nvSpPr>
        <p:spPr>
          <a:xfrm>
            <a:off x="6126480" y="34290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revision, 0% traffic</a:t>
            </a:r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HIT/MISS live</a:t>
            </a:r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641080" y="2651760"/>
            <a:ext cx="2377440" cy="2103120"/>
          </a:xfrm>
          <a:prstGeom prst="roundRect">
            <a:avLst>
              <a:gd name="adj" fmla="val 4348"/>
            </a:avLst>
          </a:prstGeom>
          <a:solidFill>
            <a:srgbClr val="F2A93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823960" y="28803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Shift traffic</a:t>
            </a:r>
          </a:p>
        </p:txBody>
      </p:sp>
      <p:sp>
        <p:nvSpPr>
          <p:cNvPr id="19" name="Text 17"/>
          <p:cNvSpPr txBox="1"/>
          <p:nvPr/>
        </p:nvSpPr>
        <p:spPr>
          <a:xfrm>
            <a:off x="8823960" y="34290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containerapp ingress</a:t>
            </a:r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set --weight 100</a:t>
            </a:r>
          </a:p>
        </p:txBody>
      </p:sp>
      <p:sp>
        <p:nvSpPr>
          <p:cNvPr id="20" name="Shape 18"/>
          <p:cNvSpPr/>
          <p:nvPr/>
        </p:nvSpPr>
        <p:spPr>
          <a:xfrm>
            <a:off x="548640" y="5074920"/>
            <a:ext cx="10698480" cy="1005840"/>
          </a:xfrm>
          <a:prstGeom prst="roundRect">
            <a:avLst>
              <a:gd name="adj" fmla="val 9091"/>
            </a:avLst>
          </a:prstGeom>
          <a:solidFill>
            <a:srgbClr val="F5F6FA"/>
          </a:solidFill>
          <a:ln w="12700">
            <a:solidFill>
              <a:srgbClr val="DFE2E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50749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/titles/count on the new revision's own FQDN: first load is a MISS with a real requestCharge (e.g. 2.89 RUs); reload immediately and it's a HIT with requestCharge 0. Then catalog-ui gets a matching pill in its top bar — green dot for HIT, amber for MISS, same 30s TTL, visible end to end.</a:t>
            </a:r>
          </a:p>
        </p:txBody>
      </p:sp>
      <p:sp>
        <p:nvSpPr>
          <p:cNvPr id="22" name="Text 20"/>
          <p:cNvSpPr txBox="1"/>
          <p:nvPr/>
        </p:nvSpPr>
        <p:spPr>
          <a:xfrm>
            <a:off x="54864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Enterprise Software Engineering  |  ÉSTIAM  |  Day 2, Morning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98480" y="457200"/>
            <a:ext cx="914400" cy="914400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2331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2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743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 Insights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9476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Caching is REQUIRED to be understood, not required in the project. Application Insights is required in the project — this is the part students actually build.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2 — APPLICATION INSIGHTS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 telemetry, and the opt-in kind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212080" cy="4160520"/>
          </a:xfrm>
          <a:prstGeom prst="roundRect">
            <a:avLst>
              <a:gd name="adj" fmla="val 2198"/>
            </a:avLst>
          </a:prstGeom>
          <a:solidFill>
            <a:srgbClr val="E5F5EC"/>
          </a:solidFill>
          <a:ln w="12700">
            <a:solidFill>
              <a:srgbClr val="1A7F4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— zero extra code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2860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6060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incoming call: which one, how long, success/fail.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4290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7490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outbound call your code makes — Cosmos, Blob, Key Vault. Timed and marked automatically.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45720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48920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unhandled exception, full stack trace, tied to the request that threw it.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035040" y="1600200"/>
            <a:ext cx="5257800" cy="4160520"/>
          </a:xfrm>
          <a:prstGeom prst="roundRect">
            <a:avLst>
              <a:gd name="adj" fmla="val 2198"/>
            </a:avLst>
          </a:prstGeom>
          <a:solidFill>
            <a:srgbClr val="FDF1DE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55080" y="17830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5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Opt-in — you write something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228600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355080" y="2606040"/>
            <a:ext cx="4663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Confusingly named — it's just your own ILogger.LogInformation/LogWarning/LogError calls, shipped to App Insights instead of only the console. Nothing new to write.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355080" y="40690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Events (TrackEvent)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43891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Business-meaning counters ("TitleAdded") via TelemetryClient. Mention only today — not built live, not required.</a:t>
            </a:r>
          </a:p>
        </p:txBody>
      </p:sp>
      <p:sp>
        <p:nvSpPr>
          <p:cNvPr id="18" name="Text 16"/>
          <p:cNvSpPr txBox="1"/>
          <p:nvPr/>
        </p:nvSpPr>
        <p:spPr>
          <a:xfrm>
            <a:off x="54864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Enterprise Software Engineering  |  ÉSTIAM  |  Day 2, Morning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2 — APPLICATION INSIGHTS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Operation Id, the whole story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2194560"/>
            <a:ext cx="2286000" cy="137160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9456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566160" y="2194560"/>
            <a:ext cx="2286000" cy="137160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566160" y="219456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09360" y="2194560"/>
            <a:ext cx="2286000" cy="137160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0" y="219456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9052560" y="2194560"/>
            <a:ext cx="2286000" cy="137160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052560" y="219456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965960" y="3703320"/>
            <a:ext cx="8229600" cy="0"/>
          </a:xfrm>
          <a:prstGeom prst="line">
            <a:avLst/>
          </a:prstGeom>
          <a:noFill/>
          <a:ln w="25400">
            <a:solidFill>
              <a:srgbClr val="F2A93B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822960" y="3840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tagged with the same Operation Id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572000"/>
            <a:ext cx="1069848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FE2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4754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payoff: open the failed request, see its full dependency chain and every log line — even across two separate apps — correlated on one screen.</a:t>
            </a:r>
          </a:p>
        </p:txBody>
      </p:sp>
      <p:sp>
        <p:nvSpPr>
          <p:cNvPr id="16" name="Text 14"/>
          <p:cNvSpPr txBox="1"/>
          <p:nvPr/>
        </p:nvSpPr>
        <p:spPr>
          <a:xfrm>
            <a:off x="868680" y="5212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"catalog-ui's call to catalog-api: 40ms, succeeded. catalog-api's Cosmos call: 5000ms, timeout." The wrong dependency now points right at itself — no more guessing, no matter which app it's in.</a:t>
            </a:r>
          </a:p>
        </p:txBody>
      </p:sp>
      <p:sp>
        <p:nvSpPr>
          <p:cNvPr id="17" name="Text 15"/>
          <p:cNvSpPr txBox="1"/>
          <p:nvPr/>
        </p:nvSpPr>
        <p:spPr>
          <a:xfrm>
            <a:off x="54864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Enterprise Software Engineering  |  ÉSTIAM  |  Day 2, Morning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2 — LIVE DEMO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Wiring up catalog-api and catalog-ui</a:t>
            </a:r>
          </a:p>
        </p:txBody>
      </p:sp>
      <p:sp>
        <p:nvSpPr>
          <p:cNvPr id="4" name="Shape 2"/>
          <p:cNvSpPr/>
          <p:nvPr/>
        </p:nvSpPr>
        <p:spPr>
          <a:xfrm>
            <a:off x="457200" y="1737360"/>
            <a:ext cx="1965960" cy="1737360"/>
          </a:xfrm>
          <a:prstGeom prst="roundRect">
            <a:avLst>
              <a:gd name="adj" fmla="val 5263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84708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2402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60604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Analytics workspace — telemetry storage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87752" y="1737360"/>
            <a:ext cx="1965960" cy="1737360"/>
          </a:xfrm>
          <a:prstGeom prst="roundRect">
            <a:avLst>
              <a:gd name="adj" fmla="val 5263"/>
            </a:avLst>
          </a:prstGeom>
          <a:solidFill>
            <a:srgbClr val="3A448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724912" y="184708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724912" y="22402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Insights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24912" y="260604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component, linked to the workspace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18304" y="1737360"/>
            <a:ext cx="1965960" cy="1737360"/>
          </a:xfrm>
          <a:prstGeom prst="roundRect">
            <a:avLst>
              <a:gd name="adj" fmla="val 5263"/>
            </a:avLst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55464" y="184708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855464" y="22402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string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855464" y="260604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setting on the Container App</a:t>
            </a:r>
          </a:p>
        </p:txBody>
      </p:sp>
      <p:sp>
        <p:nvSpPr>
          <p:cNvPr id="16" name="Shape 14"/>
          <p:cNvSpPr/>
          <p:nvPr/>
        </p:nvSpPr>
        <p:spPr>
          <a:xfrm>
            <a:off x="6848856" y="1737360"/>
            <a:ext cx="1965960" cy="1737360"/>
          </a:xfrm>
          <a:prstGeom prst="roundRect">
            <a:avLst>
              <a:gd name="adj" fmla="val 5263"/>
            </a:avLst>
          </a:prstGeom>
          <a:solidFill>
            <a:srgbClr val="3A448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86016" y="184708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986016" y="22402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</a:t>
            </a:r>
          </a:p>
        </p:txBody>
      </p:sp>
      <p:sp>
        <p:nvSpPr>
          <p:cNvPr id="19" name="Text 17"/>
          <p:cNvSpPr txBox="1"/>
          <p:nvPr/>
        </p:nvSpPr>
        <p:spPr>
          <a:xfrm>
            <a:off x="6986016" y="260604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package + Cosmos tracing fix, in both apps</a:t>
            </a:r>
          </a:p>
        </p:txBody>
      </p:sp>
      <p:sp>
        <p:nvSpPr>
          <p:cNvPr id="20" name="Shape 18"/>
          <p:cNvSpPr/>
          <p:nvPr/>
        </p:nvSpPr>
        <p:spPr>
          <a:xfrm>
            <a:off x="8979408" y="1737360"/>
            <a:ext cx="1965960" cy="1737360"/>
          </a:xfrm>
          <a:prstGeom prst="roundRect">
            <a:avLst>
              <a:gd name="adj" fmla="val 5263"/>
            </a:avLst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16568" y="184708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116568" y="22402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&amp; verify</a:t>
            </a:r>
          </a:p>
        </p:txBody>
      </p:sp>
      <p:sp>
        <p:nvSpPr>
          <p:cNvPr id="23" name="Text 21"/>
          <p:cNvSpPr txBox="1"/>
          <p:nvPr/>
        </p:nvSpPr>
        <p:spPr>
          <a:xfrm>
            <a:off x="9116568" y="260604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revision + catalog-ui restart</a:t>
            </a:r>
          </a:p>
        </p:txBody>
      </p:sp>
      <p:sp>
        <p:nvSpPr>
          <p:cNvPr id="24" name="Text 22"/>
          <p:cNvSpPr txBox="1"/>
          <p:nvPr/>
        </p:nvSpPr>
        <p:spPr>
          <a:xfrm>
            <a:off x="548640" y="379476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new, dedicated Log Analytics workspace + App Insights component for this module — separate from the Container Apps environment's own auto-generated one from Module 1. westus2, not westcentralus: microsoft.insights/components isn't offered in every region, confirmed live with LocationNotAvailableForResourceType.</a:t>
            </a:r>
          </a:p>
        </p:txBody>
      </p:sp>
      <p:sp>
        <p:nvSpPr>
          <p:cNvPr id="25" name="Shape 23"/>
          <p:cNvSpPr/>
          <p:nvPr/>
        </p:nvSpPr>
        <p:spPr>
          <a:xfrm>
            <a:off x="548640" y="4572000"/>
            <a:ext cx="5212080" cy="1600200"/>
          </a:xfrm>
          <a:prstGeom prst="roundRect">
            <a:avLst>
              <a:gd name="adj" fmla="val 5714"/>
            </a:avLst>
          </a:prstGeom>
          <a:solidFill>
            <a:srgbClr val="FCEAE8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6868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?fail=true</a:t>
            </a:r>
          </a:p>
        </p:txBody>
      </p:sp>
      <p:sp>
        <p:nvSpPr>
          <p:cNvPr id="27" name="Text 25"/>
          <p:cNvSpPr txBox="1"/>
          <p:nvPr/>
        </p:nvSpPr>
        <p:spPr>
          <a:xfrm>
            <a:off x="868680" y="507492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query-string demo hook on catalog-api-v8's /titles/count that throws a fake exception before touching Cosmos — trigger a failure on demand, live, without breaking real infrastructure.</a:t>
            </a:r>
          </a:p>
        </p:txBody>
      </p:sp>
      <p:sp>
        <p:nvSpPr>
          <p:cNvPr id="28" name="Shape 26"/>
          <p:cNvSpPr/>
          <p:nvPr/>
        </p:nvSpPr>
        <p:spPr>
          <a:xfrm>
            <a:off x="6035040" y="4572000"/>
            <a:ext cx="5257800" cy="1600200"/>
          </a:xfrm>
          <a:prstGeom prst="roundRect">
            <a:avLst>
              <a:gd name="adj" fmla="val 5714"/>
            </a:avLst>
          </a:prstGeom>
          <a:solidFill>
            <a:srgbClr val="E5F5EC"/>
          </a:solidFill>
          <a:ln w="12700">
            <a:solidFill>
              <a:srgbClr val="1A7F4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55080" y="47091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Metrics → Transaction Search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355080" y="5074920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F5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animate in within seconds. Click a trace to open the end-to-end transaction view — the actual payoff screen.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Enterprise Software Engineering  |  ÉSTIAM  |  Day 2, Morning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 spc="200">
                <a:solidFill>
                  <a:srgbClr val="F2A93B"/>
                </a:solidFill>
                <a:latin typeface="Calibri"/>
              </a:rPr>
              <a:t>TOPIC 2 — 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mbria"/>
              </a:rPr>
              <a:t>One correlated Operation Id, two apps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i="0">
                <a:solidFill>
                  <a:srgbClr val="5C6180"/>
                </a:solidFill>
                <a:latin typeface="Calibri"/>
              </a:rPr>
              <a:t>A single browser action, traced end to end across catalog-ui, catalog-api, and Cosmos DB.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379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5C6180"/>
                </a:solidFill>
                <a:latin typeface="Calibri"/>
              </a:rPr>
              <a:t>Modern Enterprise Software Engineering  |  ÉSTIAM  |  Day 2, Morning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8840"/>
            <a:ext cx="3246120" cy="16002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13232" y="2295144"/>
            <a:ext cx="2916936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F2A93B"/>
                </a:solidFill>
                <a:latin typeface="Calibri"/>
              </a:rPr>
              <a:t>App Service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51760"/>
            <a:ext cx="291693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mbria"/>
              </a:rPr>
              <a:t>catalog-ui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200400"/>
            <a:ext cx="291693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onsolas"/>
              </a:rPr>
              <a:t>webapp-estiam-dev-2</a:t>
            </a:r>
          </a:p>
          <a:p>
            <a:pPr algn="l"/>
            <a:r>
              <a:rPr sz="1050" b="0" i="0">
                <a:solidFill>
                  <a:srgbClr val="CADCFC"/>
                </a:solidFill>
                <a:latin typeface="Consolas"/>
              </a:rPr>
              <a:t>GET api/titles/count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58768" y="2697480"/>
            <a:ext cx="6858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0" i="0">
                <a:solidFill>
                  <a:srgbClr val="5C6180"/>
                </a:solidFill>
                <a:latin typeface="Calibr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1856232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 i="1">
                <a:solidFill>
                  <a:srgbClr val="5C6180"/>
                </a:solidFill>
                <a:latin typeface="Calibri"/>
              </a:rPr>
              <a:t>Dependency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148840"/>
            <a:ext cx="3246120" cy="1600200"/>
          </a:xfrm>
          <a:prstGeom prst="roundRect">
            <a:avLst>
              <a:gd name="adj" fmla="val 6000"/>
            </a:avLst>
          </a:prstGeom>
          <a:solidFill>
            <a:srgbClr val="3A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736592" y="2295144"/>
            <a:ext cx="2916936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F2A93B"/>
                </a:solidFill>
                <a:latin typeface="Calibri"/>
              </a:rPr>
              <a:t>Container App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2651760"/>
            <a:ext cx="291693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mbria"/>
              </a:rPr>
              <a:t>catalog-api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6592" y="3200400"/>
            <a:ext cx="291693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onsolas"/>
              </a:rPr>
              <a:t>app-estiam-dev-2</a:t>
            </a:r>
          </a:p>
          <a:p>
            <a:pPr algn="l"/>
            <a:r>
              <a:rPr sz="1050" b="0" i="0">
                <a:solidFill>
                  <a:srgbClr val="CADCFC"/>
                </a:solidFill>
                <a:latin typeface="Consolas"/>
              </a:rPr>
              <a:t>GET /titles/count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82128" y="2697480"/>
            <a:ext cx="6858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0" i="0">
                <a:solidFill>
                  <a:srgbClr val="5C6180"/>
                </a:solidFill>
                <a:latin typeface="Calibr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1856232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 i="1">
                <a:solidFill>
                  <a:srgbClr val="5C6180"/>
                </a:solidFill>
                <a:latin typeface="Calibri"/>
              </a:rPr>
              <a:t>Dependency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95360" y="2148840"/>
            <a:ext cx="3063240" cy="16002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759952" y="2295144"/>
            <a:ext cx="2734056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F2A93B"/>
                </a:solidFill>
                <a:latin typeface="Calibri"/>
              </a:rPr>
              <a:t>Cosmos DB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59952" y="2651760"/>
            <a:ext cx="273405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mbria"/>
              </a:rPr>
              <a:t>cosmos-estiam-dev-2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59952" y="3200400"/>
            <a:ext cx="273405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onsolas"/>
              </a:rPr>
              <a:t>query_items Titles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005072"/>
            <a:ext cx="11109960" cy="566928"/>
          </a:xfrm>
          <a:prstGeom prst="roundRect">
            <a:avLst>
              <a:gd name="adj" fmla="val 14000"/>
            </a:avLst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48640" y="4005072"/>
            <a:ext cx="111099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50" b="1" i="0">
                <a:solidFill>
                  <a:srgbClr val="141A47"/>
                </a:solidFill>
                <a:latin typeface="Calibri"/>
              </a:rPr>
              <a:t>one operation_Id tags all three — the whole story, on one screen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800600"/>
            <a:ext cx="11109960" cy="1417320"/>
          </a:xfrm>
          <a:prstGeom prst="roundRect">
            <a:avLst>
              <a:gd name="adj" fmla="val 5000"/>
            </a:avLst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68680" y="4956048"/>
            <a:ext cx="104698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Confirmed live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03520"/>
            <a:ext cx="104698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2223A"/>
                </a:solidFill>
                <a:latin typeface="Calibri"/>
              </a:rPr>
              <a:t>GET /titles/count (cloud_RoleName: app-estiam-dev-2) and GET api/titles/count (cloud_RoleName: webapp-estiam-dev-2) share the same operation_Id — real cross-service correlation. cloud_RoleName is populated automatically from each Azure resource's own name; nothing to configure by hand.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GOTCHA — HIT LIVE TESTING THIS MODULE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“Instrumented” isn't automatic for every SDK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C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worked — Requests, Traces, Exceptions all showed up. The Cosmos DB dependency call was still missing from the transaction view.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23160"/>
            <a:ext cx="1069848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42316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cause: the Cosmos .NET SDK ships with its own OpenTelemetry tracing OFF BY DEFAULT (SDK ≥ 3.36.0 -- catalog-api is on 3.46.1). Being instrumented at the ASP.NET Core/OpenTelemetry level doesn't automatically mean every SDK's calls get traced -- Cosmos needs its own separate opt-in.</a:t>
            </a:r>
          </a:p>
        </p:txBody>
      </p:sp>
      <p:sp>
        <p:nvSpPr>
          <p:cNvPr id="7" name="Shape 5"/>
          <p:cNvSpPr/>
          <p:nvPr/>
        </p:nvSpPr>
        <p:spPr>
          <a:xfrm>
            <a:off x="548640" y="3520440"/>
            <a:ext cx="52120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FE2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3657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Program.cs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406908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C1F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AppContext.SetSwitch("Azure.Experimental.EnableActivitySource", true);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C1F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...WithTracing(t =&gt; t.AddSource("Azure.Cosmos.Operation"));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35040" y="3520440"/>
            <a:ext cx="525780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FE2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55080" y="36576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CosmosClientOptions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355080" y="4069080"/>
            <a:ext cx="4663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C1F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CosmosClientTelemetryOptions = new CosmosClientTelemetryOptions {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C1F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DisableDistributedTracing = false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C1F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Enterprise Software Engineering  |  ÉSTIAM  |  Day 2, Morning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 spc="200">
                <a:solidFill>
                  <a:srgbClr val="F2A93B"/>
                </a:solidFill>
                <a:latin typeface="Calibri"/>
              </a:rPr>
              <a:t>GOTCHA — ALSO HIT LIVE TESTING THIS MODULE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mbria"/>
              </a:rPr>
              <a:t>A NuGet package can quietly break local sign-in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69848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2223A"/>
                </a:solidFill>
                <a:latin typeface="Calibri"/>
              </a:rPr>
              <a:t>Everything else about catalog-api worked fine locally — until Azure.Monitor.OpenTelemetry.AspNetCore was added for Application Insights. dotnet run started failing DefaultAzureCredential 100% of the time afterward, with zero changes to any actual credential or Cosmos code.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395728"/>
            <a:ext cx="10927080" cy="141732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2395728"/>
            <a:ext cx="10378440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FFFFFF"/>
                </a:solidFill>
                <a:latin typeface="Calibri"/>
              </a:rPr>
              <a:t>Root cause: that package pulls in Azure.Core ≥ 1.60.0, a jump from the 1.53.0 that Microsoft.Azure.Cosmos alone resolves to — and it can't be pinned back down. The newer Azure.Core reclassifies a failed Managed Identity probe: instead of the CredentialUnavailableException that lets DefaultAzureCredential quietly fall through to az login, it now throws a hard AuthenticationFailedException that stops the chain dead. Managed Identity genuinely IS available once deployed to Azure — this only bites local dev.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931920"/>
            <a:ext cx="5212080" cy="2057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8680" y="4059936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ourier New"/>
              </a:rPr>
              <a:t>Program.cs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443984"/>
            <a:ext cx="46177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2223A"/>
                </a:solidFill>
                <a:latin typeface="Courier New"/>
              </a:rPr>
              <a:t>new DefaultAzureCredential(</a:t>
            </a:r>
          </a:p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2223A"/>
                </a:solidFill>
                <a:latin typeface="Courier New"/>
              </a:rPr>
              <a:t>  new DefaultAzureCredentialOptions {</a:t>
            </a:r>
          </a:p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2223A"/>
                </a:solidFill>
                <a:latin typeface="Courier New"/>
              </a:rPr>
              <a:t>    ExcludeManagedIdentityCredential =</a:t>
            </a:r>
          </a:p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2223A"/>
                </a:solidFill>
                <a:latin typeface="Courier New"/>
              </a:rPr>
              <a:t>      Environment.GetEnvironmentVariable(</a:t>
            </a:r>
          </a:p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2223A"/>
                </a:solidFill>
                <a:latin typeface="Courier New"/>
              </a:rPr>
              <a:t>        "IDENTITY_ENDPOINT") is null</a:t>
            </a:r>
          </a:p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2223A"/>
                </a:solidFill>
                <a:latin typeface="Courier New"/>
              </a:rPr>
              <a:t>  });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3931920"/>
            <a:ext cx="5440680" cy="2057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55080" y="4059936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ourier New"/>
              </a:rPr>
              <a:t>Why this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4443984"/>
            <a:ext cx="48463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2223A"/>
                </a:solidFill>
                <a:latin typeface="Courier New"/>
              </a:rPr>
              <a:t>IDENTITY_ENDPOINT is set by both Container Apps</a:t>
            </a:r>
          </a:p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2223A"/>
                </a:solidFill>
                <a:latin typeface="Courier New"/>
              </a:rPr>
              <a:t>and App Service whenever Managed Identity is</a:t>
            </a:r>
          </a:p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2223A"/>
                </a:solidFill>
                <a:latin typeface="Courier New"/>
              </a:rPr>
              <a:t>actually available — its absence is a reliable</a:t>
            </a:r>
          </a:p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2223A"/>
                </a:solidFill>
                <a:latin typeface="Courier New"/>
              </a:rPr>
              <a:t>"not really running in Azure" signal. Skip the</a:t>
            </a:r>
          </a:p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2223A"/>
                </a:solidFill>
                <a:latin typeface="Courier New"/>
              </a:rPr>
              <a:t>(now-broken) probe locally, go straight to az</a:t>
            </a:r>
          </a:p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2223A"/>
                </a:solidFill>
                <a:latin typeface="Courier New"/>
              </a:rPr>
              <a:t>login. Azure keeps using the real identity,</a:t>
            </a:r>
          </a:p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2223A"/>
                </a:solidFill>
                <a:latin typeface="Courier New"/>
              </a:rPr>
              <a:t>unaffected.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144768"/>
            <a:ext cx="107442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5C6180"/>
                </a:solidFill>
                <a:latin typeface="Calibri"/>
              </a:rPr>
              <a:t>Worth checking whenever a new package is added to a project doing DefaultAzureCredential + local dev — dotnet list package --include-transitive, filtered to Azure.Core, spots a silent bump.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5379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5C6180"/>
                </a:solidFill>
                <a:latin typeface="Calibri"/>
              </a:rPr>
              <a:t>Modern Enterprise Software Engineering  |  ÉSTIAM  |  Day 2, Morning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06984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300"/>
              </a:spcAft>
              <a:buSzPct val="100000"/>
              <a:buChar char="●"/>
            </a:pPr>
            <a:r>
              <a:rPr lang="en-US" sz="1500" dirty="0">
                <a:solidFill>
                  <a:srgbClr val="1C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Caching trades staleness for speed — you decide, on purpose, how stale is acceptable</a:t>
            </a:r>
          </a:p>
          <a:p>
            <a:pPr marL="342900" indent="-342900">
              <a:spcAft>
                <a:spcPts val="1300"/>
              </a:spcAft>
              <a:buSzPct val="100000"/>
              <a:buChar char="●"/>
            </a:pPr>
            <a:r>
              <a:rPr lang="en-US" sz="1500" dirty="0">
                <a:solidFill>
                  <a:srgbClr val="1C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IMemoryCache is per-instance and wiped on every new revision — fine for this project, not for cross-instance consistency</a:t>
            </a:r>
          </a:p>
          <a:p>
            <a:pPr marL="342900" indent="-342900">
              <a:spcAft>
                <a:spcPts val="1300"/>
              </a:spcAft>
              <a:buSzPct val="100000"/>
              <a:buChar char="●"/>
            </a:pPr>
            <a:r>
              <a:rPr lang="en-US" sz="1500" dirty="0">
                <a:solidFill>
                  <a:srgbClr val="1C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AZ-204's official caching answer is Azure Cache for Redis — concept only here, given the cost/complexity for 25-30 fresh subscriptions</a:t>
            </a:r>
          </a:p>
          <a:p>
            <a:pPr marL="342900" indent="-342900">
              <a:spcAft>
                <a:spcPts val="1300"/>
              </a:spcAft>
              <a:buSzPct val="100000"/>
              <a:buChar char="●"/>
            </a:pPr>
            <a:r>
              <a:rPr lang="en-US" sz="1500" dirty="0">
                <a:solidFill>
                  <a:srgbClr val="1C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Requests, Dependencies, and Exceptions are captured automatically once instrumented — but some SDKs (Cosmos) need their own separate opt-in</a:t>
            </a:r>
          </a:p>
          <a:p>
            <a:pPr marL="342900" indent="-342900">
              <a:spcAft>
                <a:spcPts val="1300"/>
              </a:spcAft>
              <a:buSzPct val="100000"/>
              <a:buChar char="●"/>
            </a:pPr>
            <a:r>
              <a:rPr lang="en-US" sz="1500" dirty="0">
                <a:solidFill>
                  <a:srgbClr val="1C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browser action can span two apps — catalog-ui and catalog-api share one Operation Id when both are instrumented</a:t>
            </a:r>
          </a:p>
          <a:p>
            <a:pPr marL="342900" indent="-342900">
              <a:spcAft>
                <a:spcPts val="1300"/>
              </a:spcAft>
              <a:buSzPct val="100000"/>
              <a:buChar char="●"/>
            </a:pPr>
            <a:r>
              <a:rPr lang="en-US" sz="1500" dirty="0">
                <a:solidFill>
                  <a:srgbClr val="1C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Insights is REQUIRED for your project; caching is not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54864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Enterprise Software Engineering  |  ÉSTIAM  |  Day 2, Morning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98480" y="457200"/>
            <a:ext cx="914400" cy="914400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292608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Next: Module 5 — Connect &amp; Consume Services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9476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that we can see inside our app and optimize its reads — how do we front it properly and connect it to other services?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2026-08-26T18:02:52Z</dcterms:created>
  <dcterms:modified xsi:type="dcterms:W3CDTF">2026-08-26T18:02:52Z</dcterms:modified>
</cp:coreProperties>
</file>