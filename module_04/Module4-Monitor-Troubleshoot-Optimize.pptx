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9" r:id="rId6"/>
    <p:sldId id="260" r:id="rId7"/>
    <p:sldId id="272" r:id="rId8"/>
    <p:sldId id="261" r:id="rId9"/>
    <p:sldId id="262" r:id="rId10"/>
    <p:sldId id="263" r:id="rId11"/>
    <p:sldId id="258" r:id="rId12"/>
    <p:sldId id="264" r:id="rId13"/>
    <p:sldId id="265" r:id="rId14"/>
    <p:sldId id="266" r:id="rId15"/>
    <p:sldId id="270" r:id="rId16"/>
    <p:sldId id="267" r:id="rId17"/>
    <p:sldId id="271" r:id="rId18"/>
    <p:sldId id="268" r:id="rId19"/>
    <p:sldId id="269"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1.5h module. Two live demos today: caching on catalog-api-v7 (+ a matching pill in catalog-ui), Application Insights on catalog-api-v8 (+ catalog-ui, correlated by one Operation Id). Both already tested end-to-end before class -- see the Module 4 manual for exact commands.</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Caching is required to be UNDERSTOOD, not required in the project -- the live demo is on catalog-api/catalog-ui, not a required project pattern. Application Insights IS required in the project. Say this distinction out loud early so students aren't confused about what they need to build.</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Core framing slide. RU cost point: a GET /titles/count query on the Titles container costs a few RUs (2.89 in the live test); multiply by every student's dashboard clicking around and it adds up. The Redis mention here is a teaser for slide 8 -- don't over-explain it yet, just plant the flag that AZ-204's real answer is different from what we're building.</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each row left to right. The 'today's build' row is the punchline -- IMemoryCache for the demo/project, Redis stays a concept. Ask before revealing: given catalog-api can scale out to several replicas, which column would you pick for a shared, durable cache? Leads into the scenario check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IMemoryCache lives inside the application. It is simple and fast, but each replica has its own cache, and the data disappears after a restart or a new revision. Redis is outside the application, so all replicas can share it. Redis is better for larger systems, but it also adds another Azure resource, configuration, and cost. Today we will use IMemoryCache.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 students answer before revealing the box. This is exactly why today's live demo is worth watching closely on catalog-api's own Container App replicas -- ask the class to picture the count going stale on one replica while another just wrote the new title. Real, current mechanism, not a hypothetical -- catalog-api's scale rule already allows up to 10 replicas.</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 full command sequence in the Trainer Runbook section 1.3. This is also a callback to Module 1's deployment slots demo: production is already running the plain teacher-dashboard image from Day 1, so the swap here carries real before/after meaning instead of two arbitrary sample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slide. Say the required-vs-not distinction out loud again here -- students will remember this slide more than the earlier mention.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hook, same pattern as Module 3's cliffhanger slide. Ask the class: with only what we've built through Module 3, how would YOU find out which dependency broke? Let them sit with 'we're blind' for a second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'Traces' naming confusion trips people up every time -- spend a beat on it. It's not distributed tracing in the OpenTelemetry sense, it's literally _logger.LogInformation(...) already sitting in catalog-api/catalog-ui, just shipped somewhere new. TrackEvent gets one sentence only per Guilherme's call -- don't over-invest here.</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actual answer to the 'student is blind' hook from slide 3. Say it plainly: one Operation Id, one screen, the whole story -- and it spans catalog-ui AND catalog-api, not just one app. Sets up the live demo.</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command sequence in Trainer Runbook section 2.3. Warn students up front that step 6 (Cosmos dependency missing) is a KNOWN gotcha, covered on the next slide -- don't let them think they broke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slide didn't exist before -- the manual's stated payoff for Topic 2 is exactly this cross-app correlation, and slide 10 promised it in words. Show it landing for real: open the catalog-ui transaction in Transaction Search, point at operation_Id, then show the same id on the catalog-api and Cosmos DB rows underneath it.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gotcha hit while testing this module -- Requests/Traces/Exceptions all worked, only Cosmos was missing. Good general lesson beyond Cosmos specifically: 'instrumented' at one layer doesn't mean every dependency's SDK is traced by default -- always check per-SDK. Full source in the module manual's Issues &amp; Fixes.</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Real gotcha, hit while wiring catalog-api-v8 for this module, documented in the project's own gotcha list. Not in the manual's Issues &amp; Fixes section yet -- worth folding back in there too. Good general lesson: a transitive dependency bump from an unrelated package can break local auth even when you didn't touch any credential code yourself.</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Wrap-up. Last bullet is the one students most need to leave with: Application Insights required, caching not. Good moment to point at the project brief for the exact App Insights setup steps they'll need.</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Teaser slide for Module 5, same pattern as Module 3's closer.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0698480" y="457200"/>
            <a:ext cx="914400" cy="914400"/>
          </a:xfrm>
          <a:prstGeom prst="ellipse">
            <a:avLst/>
          </a:prstGeom>
          <a:solidFill>
            <a:srgbClr val="F2A93B"/>
          </a:solidFill>
        </p:spPr>
      </p:sp>
      <p:sp>
        <p:nvSpPr>
          <p:cNvPr id="3" name="Text 1"/>
          <p:cNvSpPr txBox="1"/>
          <p:nvPr/>
        </p:nvSpPr>
        <p:spPr>
          <a:xfrm>
            <a:off x="731520" y="2468880"/>
            <a:ext cx="10241280" cy="1463040"/>
          </a:xfrm>
          <a:prstGeom prst="rect">
            <a:avLst/>
          </a:prstGeom>
          <a:noFill/>
        </p:spPr>
        <p:txBody>
          <a:bodyPr wrap="square" lIns="0" tIns="0" rIns="0" bIns="0" rtlCol="0" anchor="ctr"/>
          <a:lstStyle/>
          <a:p>
            <a:pPr marL="0" indent="0">
              <a:lnSpc>
                <a:spcPct val="110000"/>
              </a:lnSpc>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Module 4 — Monitor, Troubleshoot</a:t>
            </a:r>
            <a:endParaRPr lang="en-US" sz="3400" dirty="0"/>
          </a:p>
          <a:p>
            <a:pPr marL="0" indent="0">
              <a:lnSpc>
                <a:spcPct val="110000"/>
              </a:lnSpc>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&amp; Optimize Azure Solutions</a:t>
            </a:r>
            <a:endParaRPr lang="en-US" sz="3400" dirty="0"/>
          </a:p>
        </p:txBody>
      </p:sp>
      <p:sp>
        <p:nvSpPr>
          <p:cNvPr id="4" name="Text 2"/>
          <p:cNvSpPr txBox="1"/>
          <p:nvPr/>
        </p:nvSpPr>
        <p:spPr>
          <a:xfrm>
            <a:off x="731520" y="3794760"/>
            <a:ext cx="10241280" cy="457200"/>
          </a:xfrm>
          <a:prstGeom prst="rect">
            <a:avLst/>
          </a:prstGeom>
          <a:noFill/>
        </p:spPr>
        <p:txBody>
          <a:bodyPr wrap="square" lIns="0" tIns="0" rIns="0" bIns="0" rtlCol="0" anchor="ctr"/>
          <a:lstStyle/>
          <a:p>
            <a:pPr marL="0" indent="0">
              <a:buNone/>
            </a:pPr>
            <a:r>
              <a:rPr lang="en-US" sz="1800" dirty="0">
                <a:solidFill>
                  <a:srgbClr val="CADCFC"/>
                </a:solidFill>
                <a:latin typeface="Calibri" panose="020F0502020204030204" pitchFamily="34" charset="0"/>
                <a:ea typeface="Calibri" panose="020F0502020204030204" pitchFamily="34" charset="-122"/>
                <a:cs typeface="Calibri" panose="020F0502020204030204" pitchFamily="34" charset="-120"/>
              </a:rPr>
              <a:t>Caching &amp; Application Insights</a:t>
            </a:r>
            <a:endParaRPr lang="en-US" sz="1800" dirty="0"/>
          </a:p>
        </p:txBody>
      </p:sp>
      <p:sp>
        <p:nvSpPr>
          <p:cNvPr id="5" name="Text 3"/>
          <p:cNvSpPr txBox="1"/>
          <p:nvPr/>
        </p:nvSpPr>
        <p:spPr>
          <a:xfrm>
            <a:off x="731520" y="6126480"/>
            <a:ext cx="7315200" cy="365760"/>
          </a:xfrm>
          <a:prstGeom prst="rect">
            <a:avLst/>
          </a:prstGeom>
          <a:noFill/>
        </p:spPr>
        <p:txBody>
          <a:bodyPr wrap="square" lIns="0" tIns="0" rIns="0" bIns="0" rtlCol="0" anchor="ctr"/>
          <a:lstStyle/>
          <a:p>
            <a:pPr marL="0" indent="0">
              <a:buNone/>
            </a:pPr>
            <a:r>
              <a:rPr lang="en-US" sz="1100" dirty="0">
                <a:solidFill>
                  <a:srgbClr val="8A93C0"/>
                </a:solidFill>
                <a:latin typeface="Calibri" panose="020F0502020204030204" pitchFamily="34" charset="0"/>
                <a:ea typeface="Calibri" panose="020F0502020204030204" pitchFamily="34" charset="-122"/>
                <a:cs typeface="Calibri" panose="020F0502020204030204" pitchFamily="34" charset="-120"/>
              </a:rPr>
              <a:t>Modern Enterprise Software Engineering  |  ÉSTIAM  |  Day 2, Morning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365760"/>
          </a:xfrm>
          <a:prstGeom prst="rect">
            <a:avLst/>
          </a:prstGeom>
          <a:noFill/>
        </p:spPr>
        <p:txBody>
          <a:bodyPr wrap="square" lIns="0" tIns="0" rIns="0" bIns="0" rtlCol="0" anchor="ctr"/>
          <a:lstStyle/>
          <a:p>
            <a:pPr marL="0" indent="0">
              <a:buNone/>
            </a:pPr>
            <a:r>
              <a:rPr lang="en-US" sz="1200" b="1" kern="0" spc="100" dirty="0">
                <a:solidFill>
                  <a:srgbClr val="F2A93B"/>
                </a:solidFill>
                <a:latin typeface="Calibri" panose="020F0502020204030204" pitchFamily="34" charset="0"/>
                <a:ea typeface="Calibri" panose="020F0502020204030204" pitchFamily="34" charset="-122"/>
                <a:cs typeface="Calibri" panose="020F0502020204030204" pitchFamily="34" charset="-120"/>
              </a:rPr>
              <a:t>AGENDA</a:t>
            </a:r>
            <a:endParaRPr lang="en-US" sz="1200" dirty="0"/>
          </a:p>
        </p:txBody>
      </p:sp>
      <p:sp>
        <p:nvSpPr>
          <p:cNvPr id="3" name="Text 1"/>
          <p:cNvSpPr txBox="1"/>
          <p:nvPr/>
        </p:nvSpPr>
        <p:spPr>
          <a:xfrm>
            <a:off x="548640" y="685800"/>
            <a:ext cx="10972800" cy="640080"/>
          </a:xfrm>
          <a:prstGeom prst="rect">
            <a:avLst/>
          </a:prstGeom>
          <a:noFill/>
        </p:spPr>
        <p:txBody>
          <a:bodyPr wrap="square" lIns="0" tIns="0" rIns="0" bIns="0" rtlCol="0" anchor="ctr"/>
          <a:lstStyle/>
          <a:p>
            <a:pPr marL="0" indent="0">
              <a:buNone/>
            </a:pPr>
            <a:r>
              <a:rPr lang="en-US" sz="2800" b="1" dirty="0">
                <a:solidFill>
                  <a:srgbClr val="1E2761"/>
                </a:solidFill>
                <a:latin typeface="Cambria" panose="02040503050406030204" pitchFamily="34" charset="0"/>
                <a:ea typeface="Cambria" panose="02040503050406030204" pitchFamily="34" charset="-122"/>
                <a:cs typeface="Cambria" panose="02040503050406030204" pitchFamily="34" charset="-120"/>
              </a:rPr>
              <a:t>What we'll cover</a:t>
            </a:r>
            <a:endParaRPr lang="en-US" sz="2800" dirty="0"/>
          </a:p>
        </p:txBody>
      </p:sp>
      <p:sp>
        <p:nvSpPr>
          <p:cNvPr id="4" name="Text 2"/>
          <p:cNvSpPr txBox="1"/>
          <p:nvPr/>
        </p:nvSpPr>
        <p:spPr>
          <a:xfrm>
            <a:off x="548640" y="1554480"/>
            <a:ext cx="10515600" cy="4389120"/>
          </a:xfrm>
          <a:prstGeom prst="rect">
            <a:avLst/>
          </a:prstGeom>
          <a:noFill/>
        </p:spPr>
        <p:txBody>
          <a:bodyPr wrap="square" lIns="0" tIns="0" rIns="0" bIns="0" rtlCol="0" anchor="ctr"/>
          <a:lstStyle/>
          <a:p>
            <a:pPr marL="342900" indent="-342900">
              <a:spcAft>
                <a:spcPts val="1400"/>
              </a:spcAft>
              <a:buSzPct val="100000"/>
              <a:buChar char="●"/>
            </a:pPr>
            <a:r>
              <a:rPr lang="en-US" sz="1600" dirty="0">
                <a:solidFill>
                  <a:srgbClr val="1C1F2A"/>
                </a:solidFill>
                <a:latin typeface="Calibri" panose="020F0502020204030204" pitchFamily="34" charset="0"/>
                <a:ea typeface="Calibri" panose="020F0502020204030204" pitchFamily="34" charset="-122"/>
                <a:cs typeface="Calibri" panose="020F0502020204030204" pitchFamily="34" charset="-120"/>
              </a:rPr>
              <a:t>Caching — the rate-of-change bet, and where a cache should actually live</a:t>
            </a:r>
            <a:endParaRPr lang="en-US" sz="1600" dirty="0">
              <a:solidFill>
                <a:srgbClr val="1C1F2A"/>
              </a:solidFill>
              <a:latin typeface="Calibri" panose="020F0502020204030204" pitchFamily="34" charset="0"/>
              <a:ea typeface="Calibri" panose="020F0502020204030204" pitchFamily="34" charset="-122"/>
              <a:cs typeface="Calibri" panose="020F0502020204030204" pitchFamily="34" charset="-120"/>
            </a:endParaRPr>
          </a:p>
          <a:p>
            <a:pPr marL="342900" indent="-342900">
              <a:spcAft>
                <a:spcPts val="1400"/>
              </a:spcAft>
              <a:buSzPct val="100000"/>
              <a:buChar char="●"/>
            </a:pPr>
            <a:r>
              <a:rPr lang="en-US" sz="1600" dirty="0">
                <a:solidFill>
                  <a:srgbClr val="1C1F2A"/>
                </a:solidFill>
                <a:latin typeface="Calibri" panose="020F0502020204030204" pitchFamily="34" charset="0"/>
                <a:ea typeface="Calibri" panose="020F0502020204030204" pitchFamily="34" charset="-122"/>
                <a:cs typeface="Calibri" panose="020F0502020204030204" pitchFamily="34" charset="-120"/>
              </a:rPr>
              <a:t>Live demo: caching /titles/count on catalog-api, then showing it live in catalog-ui</a:t>
            </a:r>
            <a:endParaRPr lang="en-US" sz="1600" dirty="0">
              <a:solidFill>
                <a:srgbClr val="1C1F2A"/>
              </a:solidFill>
              <a:latin typeface="Calibri" panose="020F0502020204030204" pitchFamily="34" charset="0"/>
              <a:ea typeface="Calibri" panose="020F0502020204030204" pitchFamily="34" charset="-122"/>
              <a:cs typeface="Calibri" panose="020F0502020204030204" pitchFamily="34" charset="-120"/>
            </a:endParaRPr>
          </a:p>
          <a:p>
            <a:pPr marL="342900" indent="-342900">
              <a:spcAft>
                <a:spcPts val="1400"/>
              </a:spcAft>
              <a:buSzPct val="100000"/>
              <a:buChar char="●"/>
            </a:pPr>
            <a:r>
              <a:rPr lang="en-US" sz="1600" dirty="0">
                <a:solidFill>
                  <a:srgbClr val="1C1F2A"/>
                </a:solidFill>
                <a:latin typeface="Calibri" panose="020F0502020204030204" pitchFamily="34" charset="0"/>
                <a:ea typeface="Calibri" panose="020F0502020204030204" pitchFamily="34" charset="-122"/>
                <a:cs typeface="Calibri" panose="020F0502020204030204" pitchFamily="34" charset="-120"/>
              </a:rPr>
              <a:t>Application Insights — auto-captured telemetry vs. what you have to opt into</a:t>
            </a:r>
            <a:endParaRPr lang="en-US" sz="1600" dirty="0">
              <a:solidFill>
                <a:srgbClr val="1C1F2A"/>
              </a:solidFill>
              <a:latin typeface="Calibri" panose="020F0502020204030204" pitchFamily="34" charset="0"/>
              <a:ea typeface="Calibri" panose="020F0502020204030204" pitchFamily="34" charset="-122"/>
              <a:cs typeface="Calibri" panose="020F0502020204030204" pitchFamily="34" charset="-120"/>
            </a:endParaRPr>
          </a:p>
          <a:p>
            <a:pPr marL="342900" indent="-342900">
              <a:spcAft>
                <a:spcPts val="1400"/>
              </a:spcAft>
              <a:buSzPct val="100000"/>
              <a:buChar char="●"/>
            </a:pPr>
            <a:r>
              <a:rPr lang="en-US" sz="1600" dirty="0">
                <a:solidFill>
                  <a:srgbClr val="1C1F2A"/>
                </a:solidFill>
                <a:latin typeface="Calibri" panose="020F0502020204030204" pitchFamily="34" charset="0"/>
                <a:ea typeface="Calibri" panose="020F0502020204030204" pitchFamily="34" charset="-122"/>
                <a:cs typeface="Calibri" panose="020F0502020204030204" pitchFamily="34" charset="-120"/>
              </a:rPr>
              <a:t>Live demo: wiring catalog-api + catalog-ui for real, correlated, end-to-end telemetry</a:t>
            </a:r>
            <a:endParaRPr lang="en-US" sz="1600" dirty="0">
              <a:solidFill>
                <a:srgbClr val="1C1F2A"/>
              </a:solidFill>
              <a:latin typeface="Calibri" panose="020F0502020204030204" pitchFamily="34" charset="0"/>
              <a:ea typeface="Calibri" panose="020F0502020204030204" pitchFamily="34" charset="-122"/>
              <a:cs typeface="Calibri" panose="020F0502020204030204" pitchFamily="34" charset="-120"/>
            </a:endParaRPr>
          </a:p>
          <a:p>
            <a:pPr marL="342900" indent="-342900">
              <a:spcAft>
                <a:spcPts val="1400"/>
              </a:spcAft>
              <a:buSzPct val="100000"/>
              <a:buChar char="●"/>
            </a:pPr>
            <a:r>
              <a:rPr lang="en-US" sz="1600" dirty="0">
                <a:solidFill>
                  <a:srgbClr val="1C1F2A"/>
                </a:solidFill>
                <a:latin typeface="Calibri" panose="020F0502020204030204" pitchFamily="34" charset="0"/>
                <a:ea typeface="Calibri" panose="020F0502020204030204" pitchFamily="34" charset="-122"/>
                <a:cs typeface="Calibri" panose="020F0502020204030204" pitchFamily="34" charset="-120"/>
              </a:rPr>
              <a:t>TrackEvent — the custom-events layer (mention only)</a:t>
            </a:r>
            <a:endParaRPr lang="en-US" sz="1600" dirty="0">
              <a:solidFill>
                <a:srgbClr val="1C1F2A"/>
              </a:solidFill>
              <a:latin typeface="Calibri" panose="020F0502020204030204" pitchFamily="34" charset="0"/>
              <a:ea typeface="Calibri" panose="020F0502020204030204" pitchFamily="34" charset="-122"/>
              <a:cs typeface="Calibri" panose="020F0502020204030204" pitchFamily="34" charset="-120"/>
            </a:endParaRPr>
          </a:p>
          <a:p>
            <a:pPr marL="342900" indent="-342900">
              <a:spcAft>
                <a:spcPts val="1400"/>
              </a:spcAft>
              <a:buSzPct val="100000"/>
              <a:buChar char="●"/>
            </a:pPr>
            <a:r>
              <a:rPr lang="en-US" sz="1600" dirty="0">
                <a:solidFill>
                  <a:srgbClr val="1C1F2A"/>
                </a:solidFill>
                <a:latin typeface="Calibri" panose="020F0502020204030204" pitchFamily="34" charset="0"/>
                <a:ea typeface="Calibri" panose="020F0502020204030204" pitchFamily="34" charset="-122"/>
                <a:cs typeface="Calibri" panose="020F0502020204030204" pitchFamily="34" charset="-120"/>
              </a:rPr>
              <a:t>What this means for your own project</a:t>
            </a:r>
            <a:endParaRPr lang="en-US" sz="1600" dirty="0">
              <a:solidFill>
                <a:srgbClr val="1C1F2A"/>
              </a:solidFill>
              <a:latin typeface="Calibri" panose="020F0502020204030204" pitchFamily="34" charset="0"/>
              <a:ea typeface="Calibri" panose="020F0502020204030204" pitchFamily="34" charset="-122"/>
              <a:cs typeface="Calibri" panose="020F0502020204030204" pitchFamily="34" charset="-120"/>
            </a:endParaRPr>
          </a:p>
        </p:txBody>
      </p:sp>
      <p:sp>
        <p:nvSpPr>
          <p:cNvPr id="5" name="Text 3"/>
          <p:cNvSpPr txBox="1"/>
          <p:nvPr/>
        </p:nvSpPr>
        <p:spPr>
          <a:xfrm>
            <a:off x="548640" y="6537960"/>
            <a:ext cx="9144000" cy="274320"/>
          </a:xfrm>
          <a:prstGeom prst="rect">
            <a:avLst/>
          </a:prstGeom>
          <a:noFill/>
        </p:spPr>
        <p:txBody>
          <a:bodyPr wrap="square" lIns="0" tIns="0" rIns="0" bIns="0" rtlCol="0" anchor="ctr"/>
          <a:lstStyle/>
          <a:p>
            <a:pPr marL="0" indent="0">
              <a:buNone/>
            </a:pPr>
            <a:r>
              <a:rPr lang="en-US" sz="900" dirty="0">
                <a:solidFill>
                  <a:srgbClr val="9AA0AE"/>
                </a:solidFill>
                <a:latin typeface="Calibri" panose="020F0502020204030204" pitchFamily="34" charset="0"/>
                <a:ea typeface="Calibri" panose="020F0502020204030204" pitchFamily="34" charset="-122"/>
                <a:cs typeface="Calibri" panose="020F0502020204030204" pitchFamily="34" charset="-120"/>
              </a:rPr>
              <a:t>Modern Enterprise Software Engineering  |  ÉSTIAM  |  Day 2, Morning</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365760"/>
          </a:xfrm>
          <a:prstGeom prst="rect">
            <a:avLst/>
          </a:prstGeom>
          <a:noFill/>
        </p:spPr>
        <p:txBody>
          <a:bodyPr wrap="square" lIns="0" tIns="0" rIns="0" bIns="0" rtlCol="0" anchor="ctr"/>
          <a:lstStyle/>
          <a:p>
            <a:pPr marL="0" indent="0">
              <a:buNone/>
            </a:pPr>
            <a:r>
              <a:rPr lang="en-US" sz="1200" b="1" kern="0" spc="100" dirty="0">
                <a:solidFill>
                  <a:srgbClr val="F2A93B"/>
                </a:solidFill>
                <a:latin typeface="Calibri" panose="020F0502020204030204" pitchFamily="34" charset="0"/>
                <a:ea typeface="Calibri" panose="020F0502020204030204" pitchFamily="34" charset="-122"/>
                <a:cs typeface="Calibri" panose="020F0502020204030204" pitchFamily="34" charset="-120"/>
              </a:rPr>
              <a:t>TOPIC 1 — CACHING</a:t>
            </a:r>
            <a:endParaRPr lang="en-US" sz="1200" dirty="0"/>
          </a:p>
        </p:txBody>
      </p:sp>
      <p:sp>
        <p:nvSpPr>
          <p:cNvPr id="3" name="Text 1"/>
          <p:cNvSpPr txBox="1"/>
          <p:nvPr/>
        </p:nvSpPr>
        <p:spPr>
          <a:xfrm>
            <a:off x="548640" y="685800"/>
            <a:ext cx="10972800" cy="640080"/>
          </a:xfrm>
          <a:prstGeom prst="rect">
            <a:avLst/>
          </a:prstGeom>
          <a:noFill/>
        </p:spPr>
        <p:txBody>
          <a:bodyPr wrap="square" lIns="0" tIns="0" rIns="0" bIns="0" rtlCol="0" anchor="ctr"/>
          <a:lstStyle/>
          <a:p>
            <a:pPr marL="0" indent="0">
              <a:buNone/>
            </a:pPr>
            <a:r>
              <a:rPr lang="en-US" sz="2800" b="1" dirty="0">
                <a:solidFill>
                  <a:srgbClr val="1E2761"/>
                </a:solidFill>
                <a:latin typeface="Cambria" panose="02040503050406030204" pitchFamily="34" charset="0"/>
                <a:ea typeface="Cambria" panose="02040503050406030204" pitchFamily="34" charset="-122"/>
                <a:cs typeface="Cambria" panose="02040503050406030204" pitchFamily="34" charset="-120"/>
              </a:rPr>
              <a:t>A bet on the rate of change</a:t>
            </a:r>
            <a:endParaRPr lang="en-US" sz="2800" dirty="0"/>
          </a:p>
        </p:txBody>
      </p:sp>
      <p:sp>
        <p:nvSpPr>
          <p:cNvPr id="4" name="Shape 2"/>
          <p:cNvSpPr/>
          <p:nvPr/>
        </p:nvSpPr>
        <p:spPr>
          <a:xfrm>
            <a:off x="548640" y="1645920"/>
            <a:ext cx="5120640" cy="4023360"/>
          </a:xfrm>
          <a:prstGeom prst="roundRect">
            <a:avLst>
              <a:gd name="adj" fmla="val 2273"/>
            </a:avLst>
          </a:prstGeom>
          <a:solidFill>
            <a:srgbClr val="1E2761"/>
          </a:solidFill>
        </p:spPr>
      </p:sp>
      <p:sp>
        <p:nvSpPr>
          <p:cNvPr id="5" name="Text 3"/>
          <p:cNvSpPr txBox="1"/>
          <p:nvPr/>
        </p:nvSpPr>
        <p:spPr>
          <a:xfrm>
            <a:off x="868680" y="1874520"/>
            <a:ext cx="4480560" cy="365760"/>
          </a:xfrm>
          <a:prstGeom prst="rect">
            <a:avLst/>
          </a:prstGeom>
          <a:noFill/>
        </p:spPr>
        <p:txBody>
          <a:bodyPr wrap="square" lIns="0" tIns="0" rIns="0" bIns="0" rtlCol="0" anchor="ctr"/>
          <a:lstStyle/>
          <a:p>
            <a:pPr marL="0" indent="0">
              <a:buNone/>
            </a:pPr>
            <a:r>
              <a:rPr lang="en-US" sz="1300" b="1" dirty="0">
                <a:solidFill>
                  <a:srgbClr val="F2A93B"/>
                </a:solidFill>
                <a:latin typeface="Calibri" panose="020F0502020204030204" pitchFamily="34" charset="0"/>
                <a:ea typeface="Calibri" panose="020F0502020204030204" pitchFamily="34" charset="-122"/>
                <a:cs typeface="Calibri" panose="020F0502020204030204" pitchFamily="34" charset="-120"/>
              </a:rPr>
              <a:t>If data changes every second...</a:t>
            </a:r>
            <a:endParaRPr lang="en-US" sz="1300" dirty="0"/>
          </a:p>
        </p:txBody>
      </p:sp>
      <p:sp>
        <p:nvSpPr>
          <p:cNvPr id="6" name="Text 4"/>
          <p:cNvSpPr txBox="1"/>
          <p:nvPr/>
        </p:nvSpPr>
        <p:spPr>
          <a:xfrm>
            <a:off x="868680" y="2240280"/>
            <a:ext cx="4480560" cy="822960"/>
          </a:xfrm>
          <a:prstGeom prst="rect">
            <a:avLst/>
          </a:prstGeom>
          <a:noFill/>
        </p:spPr>
        <p:txBody>
          <a:bodyPr wrap="square" lIns="0" tIns="0" rIns="0" bIns="0" rtlCol="0" anchor="ctr"/>
          <a:lstStyle/>
          <a:p>
            <a:pPr marL="0" indent="0">
              <a:lnSpc>
                <a:spcPct val="120000"/>
              </a:lnSpc>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...caching just serves stale garbage. There's nothing to gain.</a:t>
            </a:r>
            <a:endParaRPr lang="en-US" sz="1400" dirty="0"/>
          </a:p>
        </p:txBody>
      </p:sp>
      <p:sp>
        <p:nvSpPr>
          <p:cNvPr id="7" name="Text 5"/>
          <p:cNvSpPr txBox="1"/>
          <p:nvPr/>
        </p:nvSpPr>
        <p:spPr>
          <a:xfrm>
            <a:off x="868680" y="3246120"/>
            <a:ext cx="4480560" cy="365760"/>
          </a:xfrm>
          <a:prstGeom prst="rect">
            <a:avLst/>
          </a:prstGeom>
          <a:noFill/>
        </p:spPr>
        <p:txBody>
          <a:bodyPr wrap="square" lIns="0" tIns="0" rIns="0" bIns="0" rtlCol="0" anchor="ctr"/>
          <a:lstStyle/>
          <a:p>
            <a:pPr marL="0" indent="0">
              <a:buNone/>
            </a:pPr>
            <a:r>
              <a:rPr lang="en-US" sz="1300" b="1" dirty="0">
                <a:solidFill>
                  <a:srgbClr val="F2A93B"/>
                </a:solidFill>
                <a:latin typeface="Calibri" panose="020F0502020204030204" pitchFamily="34" charset="0"/>
                <a:ea typeface="Calibri" panose="020F0502020204030204" pitchFamily="34" charset="-122"/>
                <a:cs typeface="Calibri" panose="020F0502020204030204" pitchFamily="34" charset="-120"/>
              </a:rPr>
              <a:t>If it barely changes...</a:t>
            </a:r>
            <a:endParaRPr lang="en-US" sz="1300" dirty="0"/>
          </a:p>
        </p:txBody>
      </p:sp>
      <p:sp>
        <p:nvSpPr>
          <p:cNvPr id="8" name="Text 6"/>
          <p:cNvSpPr txBox="1"/>
          <p:nvPr/>
        </p:nvSpPr>
        <p:spPr>
          <a:xfrm>
            <a:off x="868680" y="3611880"/>
            <a:ext cx="4480560" cy="1005840"/>
          </a:xfrm>
          <a:prstGeom prst="rect">
            <a:avLst/>
          </a:prstGeom>
          <a:noFill/>
        </p:spPr>
        <p:txBody>
          <a:bodyPr wrap="square" lIns="0" tIns="0" rIns="0" bIns="0" rtlCol="0" anchor="ctr"/>
          <a:lstStyle/>
          <a:p>
            <a:pPr marL="0" indent="0">
              <a:lnSpc>
                <a:spcPct val="120000"/>
              </a:lnSpc>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...you can safely serve a slightly-old copy and skip the round-trip entirely. Staleness traded for speed — on purpose.</a:t>
            </a:r>
            <a:endParaRPr lang="en-US" sz="1400" dirty="0"/>
          </a:p>
        </p:txBody>
      </p:sp>
      <p:sp>
        <p:nvSpPr>
          <p:cNvPr id="9" name="Text 7"/>
          <p:cNvSpPr txBox="1"/>
          <p:nvPr/>
        </p:nvSpPr>
        <p:spPr>
          <a:xfrm>
            <a:off x="868680" y="4846320"/>
            <a:ext cx="4480560" cy="640080"/>
          </a:xfrm>
          <a:prstGeom prst="rect">
            <a:avLst/>
          </a:prstGeom>
          <a:noFill/>
        </p:spPr>
        <p:txBody>
          <a:bodyPr wrap="square" lIns="0" tIns="0" rIns="0" bIns="0" rtlCol="0" anchor="ctr"/>
          <a:lstStyle/>
          <a:p>
            <a:pPr marL="0" indent="0">
              <a:buNone/>
            </a:pPr>
            <a:r>
              <a:rPr lang="en-US" sz="1300" i="1" dirty="0">
                <a:solidFill>
                  <a:srgbClr val="CADCFC"/>
                </a:solidFill>
                <a:latin typeface="Calibri" panose="020F0502020204030204" pitchFamily="34" charset="0"/>
                <a:ea typeface="Calibri" panose="020F0502020204030204" pitchFamily="34" charset="-122"/>
                <a:cs typeface="Calibri" panose="020F0502020204030204" pitchFamily="34" charset="-120"/>
              </a:rPr>
              <a:t>Catalog data doesn't change every second — a good candidate.</a:t>
            </a:r>
            <a:endParaRPr lang="en-US" sz="1300" i="1" dirty="0">
              <a:solidFill>
                <a:srgbClr val="CADCFC"/>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Shape 8"/>
          <p:cNvSpPr/>
          <p:nvPr/>
        </p:nvSpPr>
        <p:spPr>
          <a:xfrm>
            <a:off x="5943600" y="1645920"/>
            <a:ext cx="5349240" cy="1874520"/>
          </a:xfrm>
          <a:prstGeom prst="roundRect">
            <a:avLst>
              <a:gd name="adj" fmla="val 4878"/>
            </a:avLst>
          </a:prstGeom>
          <a:solidFill>
            <a:srgbClr val="F5F6FA"/>
          </a:solidFill>
          <a:ln w="12700">
            <a:solidFill>
              <a:srgbClr val="DFE2EA"/>
            </a:solidFill>
            <a:prstDash val="solid"/>
          </a:ln>
        </p:spPr>
      </p:sp>
      <p:sp>
        <p:nvSpPr>
          <p:cNvPr id="11" name="Text 9"/>
          <p:cNvSpPr txBox="1"/>
          <p:nvPr/>
        </p:nvSpPr>
        <p:spPr>
          <a:xfrm>
            <a:off x="6263640" y="1828800"/>
            <a:ext cx="4754880" cy="36576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Cost, not just latency</a:t>
            </a:r>
            <a:endParaRPr lang="en-US" sz="1400" dirty="0"/>
          </a:p>
        </p:txBody>
      </p:sp>
      <p:sp>
        <p:nvSpPr>
          <p:cNvPr id="12" name="Text 10"/>
          <p:cNvSpPr txBox="1"/>
          <p:nvPr/>
        </p:nvSpPr>
        <p:spPr>
          <a:xfrm>
            <a:off x="6263640" y="2194560"/>
            <a:ext cx="4754880" cy="1234440"/>
          </a:xfrm>
          <a:prstGeom prst="rect">
            <a:avLst/>
          </a:prstGeom>
          <a:noFill/>
        </p:spPr>
        <p:txBody>
          <a:bodyPr wrap="square" lIns="0" tIns="0" rIns="0" bIns="0" rtlCol="0" anchor="ctr"/>
          <a:lstStyle/>
          <a:p>
            <a:pPr marL="0" indent="0">
              <a:lnSpc>
                <a:spcPct val="122000"/>
              </a:lnSpc>
              <a:buNone/>
            </a:pPr>
            <a:r>
              <a:rPr lang="en-US" sz="1300" dirty="0">
                <a:solidFill>
                  <a:srgbClr val="5A5F73"/>
                </a:solidFill>
                <a:latin typeface="Calibri" panose="020F0502020204030204" pitchFamily="34" charset="0"/>
                <a:ea typeface="Calibri" panose="020F0502020204030204" pitchFamily="34" charset="-122"/>
                <a:cs typeface="Calibri" panose="020F0502020204030204" pitchFamily="34" charset="-120"/>
              </a:rPr>
              <a:t>Every Cosmos DB read consumes Request Units (RUs). 50 list-reads a minute from one dashboard click-fest is small — multiply by 25-30 students, each polling their own container, and it adds up in both latency and cost.</a:t>
            </a:r>
            <a:endParaRPr lang="en-US" sz="1300" dirty="0"/>
          </a:p>
        </p:txBody>
      </p:sp>
      <p:sp>
        <p:nvSpPr>
          <p:cNvPr id="13" name="Shape 11"/>
          <p:cNvSpPr/>
          <p:nvPr/>
        </p:nvSpPr>
        <p:spPr>
          <a:xfrm>
            <a:off x="5943600" y="3703320"/>
            <a:ext cx="5349240" cy="1965960"/>
          </a:xfrm>
          <a:prstGeom prst="roundRect">
            <a:avLst>
              <a:gd name="adj" fmla="val 4651"/>
            </a:avLst>
          </a:prstGeom>
          <a:solidFill>
            <a:srgbClr val="F5F6FA"/>
          </a:solidFill>
          <a:ln w="12700">
            <a:solidFill>
              <a:srgbClr val="DFE2EA"/>
            </a:solidFill>
            <a:prstDash val="solid"/>
          </a:ln>
        </p:spPr>
      </p:sp>
      <p:sp>
        <p:nvSpPr>
          <p:cNvPr id="14" name="Text 12"/>
          <p:cNvSpPr txBox="1"/>
          <p:nvPr/>
        </p:nvSpPr>
        <p:spPr>
          <a:xfrm>
            <a:off x="6263640" y="3886200"/>
            <a:ext cx="4754880" cy="36576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AZ-204's actual answer</a:t>
            </a:r>
            <a:endParaRPr lang="en-US" sz="1400" dirty="0"/>
          </a:p>
        </p:txBody>
      </p:sp>
      <p:sp>
        <p:nvSpPr>
          <p:cNvPr id="15" name="Text 13"/>
          <p:cNvSpPr txBox="1"/>
          <p:nvPr/>
        </p:nvSpPr>
        <p:spPr>
          <a:xfrm>
            <a:off x="6263640" y="4251960"/>
            <a:ext cx="4754880" cy="1280160"/>
          </a:xfrm>
          <a:prstGeom prst="rect">
            <a:avLst/>
          </a:prstGeom>
          <a:noFill/>
        </p:spPr>
        <p:txBody>
          <a:bodyPr wrap="square" lIns="0" tIns="0" rIns="0" bIns="0" rtlCol="0" anchor="ctr"/>
          <a:lstStyle/>
          <a:p>
            <a:pPr marL="0" indent="0">
              <a:lnSpc>
                <a:spcPct val="122000"/>
              </a:lnSpc>
              <a:buNone/>
            </a:pPr>
            <a:r>
              <a:rPr lang="en-US" sz="1300" dirty="0">
                <a:solidFill>
                  <a:srgbClr val="5A5F73"/>
                </a:solidFill>
                <a:latin typeface="Calibri" panose="020F0502020204030204" pitchFamily="34" charset="0"/>
                <a:ea typeface="Calibri" panose="020F0502020204030204" pitchFamily="34" charset="-122"/>
                <a:cs typeface="Calibri" panose="020F0502020204030204" pitchFamily="34" charset="-120"/>
              </a:rPr>
              <a:t>Before caching was trimmed from the exam outline: “Configure cache and expiration policies for Azure Cache for Redis.” A dedicated resource — not what we build today (see slide 8).</a:t>
            </a:r>
            <a:endParaRPr lang="en-US" sz="1300" dirty="0"/>
          </a:p>
        </p:txBody>
      </p:sp>
      <p:sp>
        <p:nvSpPr>
          <p:cNvPr id="16" name="Text 14"/>
          <p:cNvSpPr txBox="1"/>
          <p:nvPr/>
        </p:nvSpPr>
        <p:spPr>
          <a:xfrm>
            <a:off x="548640" y="6537960"/>
            <a:ext cx="9144000" cy="274320"/>
          </a:xfrm>
          <a:prstGeom prst="rect">
            <a:avLst/>
          </a:prstGeom>
          <a:noFill/>
        </p:spPr>
        <p:txBody>
          <a:bodyPr wrap="square" lIns="0" tIns="0" rIns="0" bIns="0" rtlCol="0" anchor="ctr"/>
          <a:lstStyle/>
          <a:p>
            <a:pPr marL="0" indent="0">
              <a:buNone/>
            </a:pPr>
            <a:r>
              <a:rPr lang="en-US" sz="900" dirty="0">
                <a:solidFill>
                  <a:srgbClr val="9AA0AE"/>
                </a:solidFill>
                <a:latin typeface="Calibri" panose="020F0502020204030204" pitchFamily="34" charset="0"/>
                <a:ea typeface="Calibri" panose="020F0502020204030204" pitchFamily="34" charset="-122"/>
                <a:cs typeface="Calibri" panose="020F0502020204030204" pitchFamily="34" charset="-120"/>
              </a:rPr>
              <a:t>Modern Enterprise Software Engineering  |  ÉSTIAM  |  Day 2, Morning</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365760"/>
          </a:xfrm>
          <a:prstGeom prst="rect">
            <a:avLst/>
          </a:prstGeom>
          <a:noFill/>
        </p:spPr>
        <p:txBody>
          <a:bodyPr wrap="square" lIns="0" tIns="0" rIns="0" bIns="0" rtlCol="0" anchor="ctr"/>
          <a:lstStyle/>
          <a:p>
            <a:pPr marL="0" indent="0">
              <a:buNone/>
            </a:pPr>
            <a:r>
              <a:rPr lang="en-US" sz="1200" b="1" kern="0" spc="100" dirty="0">
                <a:solidFill>
                  <a:srgbClr val="F2A93B"/>
                </a:solidFill>
                <a:latin typeface="Calibri" panose="020F0502020204030204" pitchFamily="34" charset="0"/>
                <a:ea typeface="Calibri" panose="020F0502020204030204" pitchFamily="34" charset="-122"/>
                <a:cs typeface="Calibri" panose="020F0502020204030204" pitchFamily="34" charset="-120"/>
              </a:rPr>
              <a:t>TOPIC 1 — CACHING</a:t>
            </a:r>
            <a:endParaRPr lang="en-US" sz="1200" dirty="0"/>
          </a:p>
        </p:txBody>
      </p:sp>
      <p:sp>
        <p:nvSpPr>
          <p:cNvPr id="3" name="Text 1"/>
          <p:cNvSpPr txBox="1"/>
          <p:nvPr/>
        </p:nvSpPr>
        <p:spPr>
          <a:xfrm>
            <a:off x="548640" y="685800"/>
            <a:ext cx="10972800" cy="640080"/>
          </a:xfrm>
          <a:prstGeom prst="rect">
            <a:avLst/>
          </a:prstGeom>
          <a:noFill/>
        </p:spPr>
        <p:txBody>
          <a:bodyPr wrap="square" lIns="0" tIns="0" rIns="0" bIns="0" rtlCol="0" anchor="ctr"/>
          <a:lstStyle/>
          <a:p>
            <a:pPr marL="0" indent="0">
              <a:buNone/>
            </a:pPr>
            <a:r>
              <a:rPr lang="en-US" sz="2800" b="1" dirty="0">
                <a:solidFill>
                  <a:srgbClr val="1E2761"/>
                </a:solidFill>
                <a:latin typeface="Cambria" panose="02040503050406030204" pitchFamily="34" charset="0"/>
                <a:ea typeface="Cambria" panose="02040503050406030204" pitchFamily="34" charset="-122"/>
                <a:cs typeface="Cambria" panose="02040503050406030204" pitchFamily="34" charset="-120"/>
              </a:rPr>
              <a:t>Where should the cache live?</a:t>
            </a:r>
            <a:endParaRPr lang="en-US" sz="2800" dirty="0"/>
          </a:p>
        </p:txBody>
      </p:sp>
      <p:sp>
        <p:nvSpPr>
          <p:cNvPr id="4" name="Shape 2"/>
          <p:cNvSpPr/>
          <p:nvPr/>
        </p:nvSpPr>
        <p:spPr>
          <a:xfrm>
            <a:off x="4617720" y="1600200"/>
            <a:ext cx="3566160" cy="594360"/>
          </a:xfrm>
          <a:prstGeom prst="roundRect">
            <a:avLst>
              <a:gd name="adj" fmla="val 12308"/>
            </a:avLst>
          </a:prstGeom>
          <a:solidFill>
            <a:srgbClr val="1E2761"/>
          </a:solidFill>
        </p:spPr>
      </p:sp>
      <p:sp>
        <p:nvSpPr>
          <p:cNvPr id="5" name="Text 3"/>
          <p:cNvSpPr txBox="1"/>
          <p:nvPr/>
        </p:nvSpPr>
        <p:spPr>
          <a:xfrm>
            <a:off x="4617720" y="1600200"/>
            <a:ext cx="3566160" cy="59436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IMemoryCache</a:t>
            </a:r>
            <a:endParaRPr lang="en-US" sz="1500" dirty="0"/>
          </a:p>
        </p:txBody>
      </p:sp>
      <p:sp>
        <p:nvSpPr>
          <p:cNvPr id="6" name="Shape 4"/>
          <p:cNvSpPr/>
          <p:nvPr/>
        </p:nvSpPr>
        <p:spPr>
          <a:xfrm>
            <a:off x="8366760" y="1600200"/>
            <a:ext cx="3429000" cy="594360"/>
          </a:xfrm>
          <a:prstGeom prst="roundRect">
            <a:avLst>
              <a:gd name="adj" fmla="val 12308"/>
            </a:avLst>
          </a:prstGeom>
          <a:solidFill>
            <a:srgbClr val="F5F6FA"/>
          </a:solidFill>
          <a:ln w="12700">
            <a:solidFill>
              <a:srgbClr val="DFE2EA"/>
            </a:solidFill>
            <a:prstDash val="solid"/>
          </a:ln>
        </p:spPr>
      </p:sp>
      <p:sp>
        <p:nvSpPr>
          <p:cNvPr id="7" name="Text 5"/>
          <p:cNvSpPr txBox="1"/>
          <p:nvPr/>
        </p:nvSpPr>
        <p:spPr>
          <a:xfrm>
            <a:off x="8366760" y="1600200"/>
            <a:ext cx="3429000" cy="594360"/>
          </a:xfrm>
          <a:prstGeom prst="rect">
            <a:avLst/>
          </a:prstGeom>
          <a:noFill/>
        </p:spPr>
        <p:txBody>
          <a:bodyPr wrap="square" lIns="0" tIns="0" rIns="0" bIns="0" rtlCol="0" anchor="ctr"/>
          <a:lstStyle/>
          <a:p>
            <a:pPr marL="0" indent="0" algn="ctr">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Azure Cache for Redis</a:t>
            </a:r>
            <a:endParaRPr lang="en-US" sz="1500" dirty="0"/>
          </a:p>
        </p:txBody>
      </p:sp>
      <p:sp>
        <p:nvSpPr>
          <p:cNvPr id="8" name="Text 6"/>
          <p:cNvSpPr txBox="1"/>
          <p:nvPr/>
        </p:nvSpPr>
        <p:spPr>
          <a:xfrm>
            <a:off x="548640" y="2496312"/>
            <a:ext cx="3931920" cy="786384"/>
          </a:xfrm>
          <a:prstGeom prst="rect">
            <a:avLst/>
          </a:prstGeom>
          <a:noFill/>
        </p:spPr>
        <p:txBody>
          <a:bodyPr wrap="square" lIns="0" tIns="0" rIns="0" bIns="0" rtlCol="0" anchor="ctr"/>
          <a:lstStyle/>
          <a:p>
            <a:pPr marL="0" indent="0">
              <a:lnSpc>
                <a:spcPct val="115000"/>
              </a:lnSpc>
              <a:buNone/>
            </a:pPr>
            <a:r>
              <a:rPr lang="en-US" sz="1350" b="1" dirty="0">
                <a:solidFill>
                  <a:srgbClr val="1C1F2A"/>
                </a:solidFill>
                <a:latin typeface="Calibri" panose="020F0502020204030204" pitchFamily="34" charset="0"/>
                <a:ea typeface="Calibri" panose="020F0502020204030204" pitchFamily="34" charset="-122"/>
                <a:cs typeface="Calibri" panose="020F0502020204030204" pitchFamily="34" charset="-120"/>
              </a:rPr>
              <a:t>Shared across instances?</a:t>
            </a:r>
            <a:endParaRPr lang="en-US" sz="1350" dirty="0"/>
          </a:p>
        </p:txBody>
      </p:sp>
      <p:sp>
        <p:nvSpPr>
          <p:cNvPr id="9" name="Shape 7"/>
          <p:cNvSpPr/>
          <p:nvPr/>
        </p:nvSpPr>
        <p:spPr>
          <a:xfrm>
            <a:off x="4617720" y="2423160"/>
            <a:ext cx="3566160" cy="822960"/>
          </a:xfrm>
          <a:prstGeom prst="roundRect">
            <a:avLst>
              <a:gd name="adj" fmla="val 6667"/>
            </a:avLst>
          </a:prstGeom>
          <a:solidFill>
            <a:srgbClr val="EFF2FB"/>
          </a:solidFill>
        </p:spPr>
      </p:sp>
      <p:sp>
        <p:nvSpPr>
          <p:cNvPr id="10" name="Text 8"/>
          <p:cNvSpPr txBox="1"/>
          <p:nvPr/>
        </p:nvSpPr>
        <p:spPr>
          <a:xfrm>
            <a:off x="4754880" y="2423160"/>
            <a:ext cx="3291840" cy="822960"/>
          </a:xfrm>
          <a:prstGeom prst="rect">
            <a:avLst/>
          </a:prstGeom>
          <a:noFill/>
        </p:spPr>
        <p:txBody>
          <a:bodyPr wrap="square" lIns="0" tIns="0" rIns="0" bIns="0" rtlCol="0" anchor="ctr"/>
          <a:lstStyle/>
          <a:p>
            <a:pPr marL="0" indent="0">
              <a:lnSpc>
                <a:spcPct val="110000"/>
              </a:lnSpc>
              <a:buNone/>
            </a:pPr>
            <a:r>
              <a:rPr lang="en-US" sz="1250" dirty="0">
                <a:solidFill>
                  <a:srgbClr val="1E2761"/>
                </a:solidFill>
                <a:latin typeface="Calibri" panose="020F0502020204030204" pitchFamily="34" charset="0"/>
                <a:ea typeface="Calibri" panose="020F0502020204030204" pitchFamily="34" charset="-122"/>
                <a:cs typeface="Calibri" panose="020F0502020204030204" pitchFamily="34" charset="-120"/>
              </a:rPr>
              <a:t>No — each instance has its own copy</a:t>
            </a:r>
            <a:endParaRPr lang="en-US" sz="1250" dirty="0"/>
          </a:p>
        </p:txBody>
      </p:sp>
      <p:sp>
        <p:nvSpPr>
          <p:cNvPr id="11" name="Shape 9"/>
          <p:cNvSpPr/>
          <p:nvPr/>
        </p:nvSpPr>
        <p:spPr>
          <a:xfrm>
            <a:off x="8366760" y="2423160"/>
            <a:ext cx="3429000" cy="822960"/>
          </a:xfrm>
          <a:prstGeom prst="roundRect">
            <a:avLst>
              <a:gd name="adj" fmla="val 6667"/>
            </a:avLst>
          </a:prstGeom>
          <a:solidFill>
            <a:srgbClr val="F5F6FA"/>
          </a:solidFill>
        </p:spPr>
      </p:sp>
      <p:sp>
        <p:nvSpPr>
          <p:cNvPr id="12" name="Text 10"/>
          <p:cNvSpPr txBox="1"/>
          <p:nvPr/>
        </p:nvSpPr>
        <p:spPr>
          <a:xfrm>
            <a:off x="8503920" y="2423160"/>
            <a:ext cx="3154680" cy="822960"/>
          </a:xfrm>
          <a:prstGeom prst="rect">
            <a:avLst/>
          </a:prstGeom>
          <a:noFill/>
        </p:spPr>
        <p:txBody>
          <a:bodyPr wrap="square" lIns="0" tIns="0" rIns="0" bIns="0" rtlCol="0" anchor="ctr"/>
          <a:lstStyle/>
          <a:p>
            <a:pPr marL="0" indent="0">
              <a:lnSpc>
                <a:spcPct val="110000"/>
              </a:lnSpc>
              <a:buNone/>
            </a:pPr>
            <a:r>
              <a:rPr lang="en-US" sz="1250" dirty="0">
                <a:solidFill>
                  <a:srgbClr val="5A5F73"/>
                </a:solidFill>
                <a:latin typeface="Calibri" panose="020F0502020204030204" pitchFamily="34" charset="0"/>
                <a:ea typeface="Calibri" panose="020F0502020204030204" pitchFamily="34" charset="-122"/>
                <a:cs typeface="Calibri" panose="020F0502020204030204" pitchFamily="34" charset="-120"/>
              </a:rPr>
              <a:t>Yes — one shared cache</a:t>
            </a:r>
            <a:endParaRPr lang="en-US" sz="1250" dirty="0"/>
          </a:p>
        </p:txBody>
      </p:sp>
      <p:sp>
        <p:nvSpPr>
          <p:cNvPr id="13" name="Text 11"/>
          <p:cNvSpPr txBox="1"/>
          <p:nvPr/>
        </p:nvSpPr>
        <p:spPr>
          <a:xfrm>
            <a:off x="548640" y="3429000"/>
            <a:ext cx="3931920" cy="786384"/>
          </a:xfrm>
          <a:prstGeom prst="rect">
            <a:avLst/>
          </a:prstGeom>
          <a:noFill/>
        </p:spPr>
        <p:txBody>
          <a:bodyPr wrap="square" lIns="0" tIns="0" rIns="0" bIns="0" rtlCol="0" anchor="ctr"/>
          <a:lstStyle/>
          <a:p>
            <a:pPr marL="0" indent="0">
              <a:lnSpc>
                <a:spcPct val="115000"/>
              </a:lnSpc>
              <a:buNone/>
            </a:pPr>
            <a:r>
              <a:rPr lang="en-US" sz="1350" b="1" dirty="0">
                <a:solidFill>
                  <a:srgbClr val="1C1F2A"/>
                </a:solidFill>
                <a:latin typeface="Calibri" panose="020F0502020204030204" pitchFamily="34" charset="0"/>
                <a:ea typeface="Calibri" panose="020F0502020204030204" pitchFamily="34" charset="-122"/>
                <a:cs typeface="Calibri" panose="020F0502020204030204" pitchFamily="34" charset="-120"/>
              </a:rPr>
              <a:t>Survives a restart / new revision?</a:t>
            </a:r>
            <a:endParaRPr lang="en-US" sz="1350" b="1" dirty="0">
              <a:solidFill>
                <a:srgbClr val="1C1F2A"/>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Shape 12"/>
          <p:cNvSpPr/>
          <p:nvPr/>
        </p:nvSpPr>
        <p:spPr>
          <a:xfrm>
            <a:off x="4617720" y="3355848"/>
            <a:ext cx="3566160" cy="822960"/>
          </a:xfrm>
          <a:prstGeom prst="roundRect">
            <a:avLst>
              <a:gd name="adj" fmla="val 6667"/>
            </a:avLst>
          </a:prstGeom>
          <a:solidFill>
            <a:srgbClr val="E4E9F9"/>
          </a:solidFill>
        </p:spPr>
      </p:sp>
      <p:sp>
        <p:nvSpPr>
          <p:cNvPr id="15" name="Text 13"/>
          <p:cNvSpPr txBox="1"/>
          <p:nvPr/>
        </p:nvSpPr>
        <p:spPr>
          <a:xfrm>
            <a:off x="4754880" y="3355848"/>
            <a:ext cx="3291840" cy="822960"/>
          </a:xfrm>
          <a:prstGeom prst="rect">
            <a:avLst/>
          </a:prstGeom>
          <a:noFill/>
        </p:spPr>
        <p:txBody>
          <a:bodyPr wrap="square" lIns="0" tIns="0" rIns="0" bIns="0" rtlCol="0" anchor="ctr"/>
          <a:lstStyle/>
          <a:p>
            <a:pPr marL="0" indent="0">
              <a:lnSpc>
                <a:spcPct val="110000"/>
              </a:lnSpc>
              <a:buNone/>
            </a:pPr>
            <a:r>
              <a:rPr lang="en-US" sz="1250" dirty="0">
                <a:solidFill>
                  <a:srgbClr val="1E2761"/>
                </a:solidFill>
                <a:latin typeface="Calibri" panose="020F0502020204030204" pitchFamily="34" charset="0"/>
                <a:ea typeface="Calibri" panose="020F0502020204030204" pitchFamily="34" charset="-122"/>
                <a:cs typeface="Calibri" panose="020F0502020204030204" pitchFamily="34" charset="-120"/>
              </a:rPr>
              <a:t>No — wiped completely</a:t>
            </a:r>
            <a:endParaRPr lang="en-US" sz="1250" dirty="0"/>
          </a:p>
        </p:txBody>
      </p:sp>
      <p:sp>
        <p:nvSpPr>
          <p:cNvPr id="16" name="Shape 14"/>
          <p:cNvSpPr/>
          <p:nvPr/>
        </p:nvSpPr>
        <p:spPr>
          <a:xfrm>
            <a:off x="8366760" y="3355848"/>
            <a:ext cx="3429000" cy="822960"/>
          </a:xfrm>
          <a:prstGeom prst="roundRect">
            <a:avLst>
              <a:gd name="adj" fmla="val 6667"/>
            </a:avLst>
          </a:prstGeom>
          <a:solidFill>
            <a:srgbClr val="F5F6FA"/>
          </a:solidFill>
        </p:spPr>
      </p:sp>
      <p:sp>
        <p:nvSpPr>
          <p:cNvPr id="17" name="Text 15"/>
          <p:cNvSpPr txBox="1"/>
          <p:nvPr/>
        </p:nvSpPr>
        <p:spPr>
          <a:xfrm>
            <a:off x="8503920" y="3355848"/>
            <a:ext cx="3154680" cy="822960"/>
          </a:xfrm>
          <a:prstGeom prst="rect">
            <a:avLst/>
          </a:prstGeom>
          <a:noFill/>
        </p:spPr>
        <p:txBody>
          <a:bodyPr wrap="square" lIns="0" tIns="0" rIns="0" bIns="0" rtlCol="0" anchor="ctr"/>
          <a:lstStyle/>
          <a:p>
            <a:pPr marL="0" indent="0">
              <a:lnSpc>
                <a:spcPct val="110000"/>
              </a:lnSpc>
              <a:buNone/>
            </a:pPr>
            <a:r>
              <a:rPr lang="en-US" sz="1250" dirty="0">
                <a:solidFill>
                  <a:srgbClr val="5A5F73"/>
                </a:solidFill>
                <a:latin typeface="Calibri" panose="020F0502020204030204" pitchFamily="34" charset="0"/>
                <a:ea typeface="Calibri" panose="020F0502020204030204" pitchFamily="34" charset="-122"/>
                <a:cs typeface="Calibri" panose="020F0502020204030204" pitchFamily="34" charset="-120"/>
              </a:rPr>
              <a:t>Yes — lives outside the app</a:t>
            </a:r>
            <a:endParaRPr lang="en-US" sz="1250" dirty="0"/>
          </a:p>
        </p:txBody>
      </p:sp>
      <p:sp>
        <p:nvSpPr>
          <p:cNvPr id="18" name="Text 16"/>
          <p:cNvSpPr txBox="1"/>
          <p:nvPr/>
        </p:nvSpPr>
        <p:spPr>
          <a:xfrm>
            <a:off x="548640" y="4361688"/>
            <a:ext cx="3931920" cy="786384"/>
          </a:xfrm>
          <a:prstGeom prst="rect">
            <a:avLst/>
          </a:prstGeom>
          <a:noFill/>
        </p:spPr>
        <p:txBody>
          <a:bodyPr wrap="square" lIns="0" tIns="0" rIns="0" bIns="0" rtlCol="0" anchor="ctr"/>
          <a:lstStyle/>
          <a:p>
            <a:pPr marL="0" indent="0">
              <a:lnSpc>
                <a:spcPct val="115000"/>
              </a:lnSpc>
              <a:buNone/>
            </a:pPr>
            <a:r>
              <a:rPr lang="en-US" sz="1350" b="1" dirty="0">
                <a:solidFill>
                  <a:srgbClr val="1C1F2A"/>
                </a:solidFill>
                <a:latin typeface="Calibri" panose="020F0502020204030204" pitchFamily="34" charset="0"/>
                <a:ea typeface="Calibri" panose="020F0502020204030204" pitchFamily="34" charset="-122"/>
                <a:cs typeface="Calibri" panose="020F0502020204030204" pitchFamily="34" charset="-120"/>
              </a:rPr>
              <a:t>New Azure resource needed?</a:t>
            </a:r>
            <a:endParaRPr lang="en-US" sz="1350" dirty="0"/>
          </a:p>
        </p:txBody>
      </p:sp>
      <p:sp>
        <p:nvSpPr>
          <p:cNvPr id="19" name="Shape 17"/>
          <p:cNvSpPr/>
          <p:nvPr/>
        </p:nvSpPr>
        <p:spPr>
          <a:xfrm>
            <a:off x="4617720" y="4288536"/>
            <a:ext cx="3566160" cy="822960"/>
          </a:xfrm>
          <a:prstGeom prst="roundRect">
            <a:avLst>
              <a:gd name="adj" fmla="val 6667"/>
            </a:avLst>
          </a:prstGeom>
          <a:solidFill>
            <a:srgbClr val="EFF2FB"/>
          </a:solidFill>
        </p:spPr>
      </p:sp>
      <p:sp>
        <p:nvSpPr>
          <p:cNvPr id="20" name="Text 18"/>
          <p:cNvSpPr txBox="1"/>
          <p:nvPr/>
        </p:nvSpPr>
        <p:spPr>
          <a:xfrm>
            <a:off x="4754880" y="4288536"/>
            <a:ext cx="3291840" cy="822960"/>
          </a:xfrm>
          <a:prstGeom prst="rect">
            <a:avLst/>
          </a:prstGeom>
          <a:noFill/>
        </p:spPr>
        <p:txBody>
          <a:bodyPr wrap="square" lIns="0" tIns="0" rIns="0" bIns="0" rtlCol="0" anchor="ctr"/>
          <a:lstStyle/>
          <a:p>
            <a:pPr marL="0" indent="0">
              <a:lnSpc>
                <a:spcPct val="110000"/>
              </a:lnSpc>
              <a:buNone/>
            </a:pPr>
            <a:r>
              <a:rPr lang="en-US" sz="1250" dirty="0">
                <a:solidFill>
                  <a:srgbClr val="1E2761"/>
                </a:solidFill>
                <a:latin typeface="Calibri" panose="020F0502020204030204" pitchFamily="34" charset="0"/>
                <a:ea typeface="Calibri" panose="020F0502020204030204" pitchFamily="34" charset="-122"/>
                <a:cs typeface="Calibri" panose="020F0502020204030204" pitchFamily="34" charset="-120"/>
              </a:rPr>
              <a:t>No</a:t>
            </a:r>
            <a:endParaRPr lang="en-US" sz="1250" dirty="0"/>
          </a:p>
        </p:txBody>
      </p:sp>
      <p:sp>
        <p:nvSpPr>
          <p:cNvPr id="21" name="Shape 19"/>
          <p:cNvSpPr/>
          <p:nvPr/>
        </p:nvSpPr>
        <p:spPr>
          <a:xfrm>
            <a:off x="8366760" y="4288536"/>
            <a:ext cx="3429000" cy="822960"/>
          </a:xfrm>
          <a:prstGeom prst="roundRect">
            <a:avLst>
              <a:gd name="adj" fmla="val 6667"/>
            </a:avLst>
          </a:prstGeom>
          <a:solidFill>
            <a:srgbClr val="F5F6FA"/>
          </a:solidFill>
        </p:spPr>
      </p:sp>
      <p:sp>
        <p:nvSpPr>
          <p:cNvPr id="22" name="Text 20"/>
          <p:cNvSpPr txBox="1"/>
          <p:nvPr/>
        </p:nvSpPr>
        <p:spPr>
          <a:xfrm>
            <a:off x="8503920" y="4288536"/>
            <a:ext cx="3154680" cy="822960"/>
          </a:xfrm>
          <a:prstGeom prst="rect">
            <a:avLst/>
          </a:prstGeom>
          <a:noFill/>
        </p:spPr>
        <p:txBody>
          <a:bodyPr wrap="square" lIns="0" tIns="0" rIns="0" bIns="0" rtlCol="0" anchor="ctr"/>
          <a:lstStyle/>
          <a:p>
            <a:pPr marL="0" indent="0">
              <a:lnSpc>
                <a:spcPct val="110000"/>
              </a:lnSpc>
              <a:buNone/>
            </a:pPr>
            <a:r>
              <a:rPr lang="en-US" sz="1250" dirty="0">
                <a:solidFill>
                  <a:srgbClr val="5A5F73"/>
                </a:solidFill>
                <a:latin typeface="Calibri" panose="020F0502020204030204" pitchFamily="34" charset="0"/>
                <a:ea typeface="Calibri" panose="020F0502020204030204" pitchFamily="34" charset="-122"/>
                <a:cs typeface="Calibri" panose="020F0502020204030204" pitchFamily="34" charset="-120"/>
              </a:rPr>
              <a:t>Yes — provisioning, RBAC, cost</a:t>
            </a:r>
            <a:endParaRPr lang="en-US" sz="1250" dirty="0"/>
          </a:p>
        </p:txBody>
      </p:sp>
      <p:sp>
        <p:nvSpPr>
          <p:cNvPr id="23" name="Text 21"/>
          <p:cNvSpPr txBox="1"/>
          <p:nvPr/>
        </p:nvSpPr>
        <p:spPr>
          <a:xfrm>
            <a:off x="548640" y="5294376"/>
            <a:ext cx="3931920" cy="786384"/>
          </a:xfrm>
          <a:prstGeom prst="rect">
            <a:avLst/>
          </a:prstGeom>
          <a:noFill/>
        </p:spPr>
        <p:txBody>
          <a:bodyPr wrap="square" lIns="0" tIns="0" rIns="0" bIns="0" rtlCol="0" anchor="ctr"/>
          <a:lstStyle/>
          <a:p>
            <a:pPr marL="0" indent="0">
              <a:lnSpc>
                <a:spcPct val="115000"/>
              </a:lnSpc>
              <a:buNone/>
            </a:pPr>
            <a:r>
              <a:rPr lang="en-US" sz="1350" b="1" dirty="0">
                <a:solidFill>
                  <a:srgbClr val="1C1F2A"/>
                </a:solidFill>
                <a:latin typeface="Calibri" panose="020F0502020204030204" pitchFamily="34" charset="0"/>
                <a:ea typeface="Calibri" panose="020F0502020204030204" pitchFamily="34" charset="-122"/>
                <a:cs typeface="Calibri" panose="020F0502020204030204" pitchFamily="34" charset="-120"/>
              </a:rPr>
              <a:t>Today's build</a:t>
            </a:r>
            <a:endParaRPr lang="en-US" sz="1350" dirty="0"/>
          </a:p>
        </p:txBody>
      </p:sp>
      <p:sp>
        <p:nvSpPr>
          <p:cNvPr id="24" name="Shape 22"/>
          <p:cNvSpPr/>
          <p:nvPr/>
        </p:nvSpPr>
        <p:spPr>
          <a:xfrm>
            <a:off x="4617720" y="5221224"/>
            <a:ext cx="3566160" cy="822960"/>
          </a:xfrm>
          <a:prstGeom prst="roundRect">
            <a:avLst>
              <a:gd name="adj" fmla="val 6667"/>
            </a:avLst>
          </a:prstGeom>
          <a:solidFill>
            <a:srgbClr val="E4E9F9"/>
          </a:solidFill>
        </p:spPr>
      </p:sp>
      <p:sp>
        <p:nvSpPr>
          <p:cNvPr id="25" name="Text 23"/>
          <p:cNvSpPr txBox="1"/>
          <p:nvPr/>
        </p:nvSpPr>
        <p:spPr>
          <a:xfrm>
            <a:off x="4754880" y="5221224"/>
            <a:ext cx="3291840" cy="822960"/>
          </a:xfrm>
          <a:prstGeom prst="rect">
            <a:avLst/>
          </a:prstGeom>
          <a:noFill/>
        </p:spPr>
        <p:txBody>
          <a:bodyPr wrap="square" lIns="0" tIns="0" rIns="0" bIns="0" rtlCol="0" anchor="ctr"/>
          <a:lstStyle/>
          <a:p>
            <a:pPr marL="0" indent="0">
              <a:lnSpc>
                <a:spcPct val="110000"/>
              </a:lnSpc>
              <a:buNone/>
            </a:pPr>
            <a:r>
              <a:rPr lang="en-US" sz="1250" dirty="0">
                <a:solidFill>
                  <a:srgbClr val="1E2761"/>
                </a:solidFill>
                <a:latin typeface="Calibri" panose="020F0502020204030204" pitchFamily="34" charset="0"/>
                <a:ea typeface="Calibri" panose="020F0502020204030204" pitchFamily="34" charset="-122"/>
                <a:cs typeface="Calibri" panose="020F0502020204030204" pitchFamily="34" charset="-120"/>
              </a:rPr>
              <a:t>This one</a:t>
            </a:r>
            <a:endParaRPr lang="en-US" sz="1250" dirty="0"/>
          </a:p>
        </p:txBody>
      </p:sp>
      <p:sp>
        <p:nvSpPr>
          <p:cNvPr id="26" name="Shape 24"/>
          <p:cNvSpPr/>
          <p:nvPr/>
        </p:nvSpPr>
        <p:spPr>
          <a:xfrm>
            <a:off x="8366760" y="5221224"/>
            <a:ext cx="3429000" cy="822960"/>
          </a:xfrm>
          <a:prstGeom prst="roundRect">
            <a:avLst>
              <a:gd name="adj" fmla="val 6667"/>
            </a:avLst>
          </a:prstGeom>
          <a:solidFill>
            <a:srgbClr val="F5F6FA"/>
          </a:solidFill>
        </p:spPr>
      </p:sp>
      <p:sp>
        <p:nvSpPr>
          <p:cNvPr id="27" name="Text 25"/>
          <p:cNvSpPr txBox="1"/>
          <p:nvPr/>
        </p:nvSpPr>
        <p:spPr>
          <a:xfrm>
            <a:off x="8503920" y="5221224"/>
            <a:ext cx="3154680" cy="822960"/>
          </a:xfrm>
          <a:prstGeom prst="rect">
            <a:avLst/>
          </a:prstGeom>
          <a:noFill/>
        </p:spPr>
        <p:txBody>
          <a:bodyPr wrap="square" lIns="0" tIns="0" rIns="0" bIns="0" rtlCol="0" anchor="ctr"/>
          <a:lstStyle/>
          <a:p>
            <a:pPr marL="0" indent="0">
              <a:lnSpc>
                <a:spcPct val="110000"/>
              </a:lnSpc>
              <a:buNone/>
            </a:pPr>
            <a:r>
              <a:rPr lang="en-US" sz="1250" dirty="0">
                <a:solidFill>
                  <a:srgbClr val="5A5F73"/>
                </a:solidFill>
                <a:latin typeface="Calibri" panose="020F0502020204030204" pitchFamily="34" charset="0"/>
                <a:ea typeface="Calibri" panose="020F0502020204030204" pitchFamily="34" charset="-122"/>
                <a:cs typeface="Calibri" panose="020F0502020204030204" pitchFamily="34" charset="-120"/>
              </a:rPr>
              <a:t>Concept only</a:t>
            </a:r>
            <a:endParaRPr lang="en-US" sz="1250" dirty="0"/>
          </a:p>
        </p:txBody>
      </p:sp>
      <p:sp>
        <p:nvSpPr>
          <p:cNvPr id="28" name="Text 26"/>
          <p:cNvSpPr txBox="1"/>
          <p:nvPr/>
        </p:nvSpPr>
        <p:spPr>
          <a:xfrm>
            <a:off x="548640" y="6537960"/>
            <a:ext cx="9144000" cy="274320"/>
          </a:xfrm>
          <a:prstGeom prst="rect">
            <a:avLst/>
          </a:prstGeom>
          <a:noFill/>
        </p:spPr>
        <p:txBody>
          <a:bodyPr wrap="square" lIns="0" tIns="0" rIns="0" bIns="0" rtlCol="0" anchor="ctr"/>
          <a:lstStyle/>
          <a:p>
            <a:pPr marL="0" indent="0">
              <a:buNone/>
            </a:pPr>
            <a:r>
              <a:rPr lang="en-US" sz="900" dirty="0">
                <a:solidFill>
                  <a:srgbClr val="9AA0AE"/>
                </a:solidFill>
                <a:latin typeface="Calibri" panose="020F0502020204030204" pitchFamily="34" charset="0"/>
                <a:ea typeface="Calibri" panose="020F0502020204030204" pitchFamily="34" charset="-122"/>
                <a:cs typeface="Calibri" panose="020F0502020204030204" pitchFamily="34" charset="-120"/>
              </a:rPr>
              <a:t>Modern Enterprise Software Engineering  |  ÉSTIAM  |  Day 2, Morning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0"/>
          <p:cNvSpPr>
            <a:spLocks noGrp="1"/>
          </p:cNvSpPr>
          <p:nvPr/>
        </p:nvSpPr>
        <p:spPr>
          <a:xfrm>
            <a:off x="548640" y="365760"/>
            <a:ext cx="10972800" cy="365760"/>
          </a:xfrm>
          <a:prstGeom prst="rect">
            <a:avLst/>
          </a:prstGeom>
          <a:noFill/>
        </p:spPr>
        <p:txBody>
          <a:bodyPr wrap="square" lIns="0" tIns="0" rIns="0" bIns="0" anchor="ctr"/>
          <a:lstStyle/>
          <a:p>
            <a:pPr marL="0" indent="0">
              <a:buNone/>
            </a:pPr>
            <a:r>
              <a:rPr sz="1200" b="1" spc="100">
                <a:solidFill>
                  <a:srgbClr val="F2A93B"/>
                </a:solidFill>
                <a:latin typeface="Calibri" panose="020F0502020204030204"/>
                <a:ea typeface="Calibri" panose="020F0502020204030204"/>
                <a:cs typeface="Calibri" panose="020F0502020204030204"/>
              </a:rPr>
              <a:t>TOPIC 1 — CACHING</a:t>
            </a:r>
            <a:endParaRPr sz="1200"/>
          </a:p>
        </p:txBody>
      </p:sp>
      <p:sp>
        <p:nvSpPr>
          <p:cNvPr id="3" name="Text 1"/>
          <p:cNvSpPr>
            <a:spLocks noGrp="1"/>
          </p:cNvSpPr>
          <p:nvPr/>
        </p:nvSpPr>
        <p:spPr>
          <a:xfrm>
            <a:off x="548640" y="685800"/>
            <a:ext cx="10972800" cy="640080"/>
          </a:xfrm>
          <a:prstGeom prst="rect">
            <a:avLst/>
          </a:prstGeom>
          <a:noFill/>
        </p:spPr>
        <p:txBody>
          <a:bodyPr wrap="square" lIns="0" tIns="0" rIns="0" bIns="0" anchor="ctr"/>
          <a:lstStyle/>
          <a:p>
            <a:pPr marL="0" indent="0">
              <a:buNone/>
            </a:pPr>
            <a:r>
              <a:rPr sz="2800" b="1">
                <a:solidFill>
                  <a:srgbClr val="1E2761"/>
                </a:solidFill>
                <a:latin typeface="Cambria" panose="02040503050406030204"/>
                <a:ea typeface="Cambria" panose="02040503050406030204"/>
                <a:cs typeface="Cambria" panose="02040503050406030204"/>
              </a:rPr>
              <a:t>Wh</a:t>
            </a:r>
            <a:r>
              <a:rPr lang="en-IE" sz="2800" b="1">
                <a:solidFill>
                  <a:srgbClr val="1E2761"/>
                </a:solidFill>
                <a:latin typeface="Cambria" panose="02040503050406030204"/>
                <a:ea typeface="Cambria" panose="02040503050406030204"/>
                <a:cs typeface="Cambria" panose="02040503050406030204"/>
              </a:rPr>
              <a:t>at is Redis </a:t>
            </a:r>
            <a:r>
              <a:rPr sz="2800" b="1">
                <a:solidFill>
                  <a:srgbClr val="1E2761"/>
                </a:solidFill>
                <a:latin typeface="Cambria" panose="02040503050406030204"/>
                <a:ea typeface="Cambria" panose="02040503050406030204"/>
                <a:cs typeface="Cambria" panose="02040503050406030204"/>
              </a:rPr>
              <a:t>?</a:t>
            </a:r>
            <a:endParaRPr sz="2800"/>
          </a:p>
        </p:txBody>
      </p:sp>
      <p:sp>
        <p:nvSpPr>
          <p:cNvPr id="5" name="Text 3"/>
          <p:cNvSpPr>
            <a:spLocks noGrp="1"/>
          </p:cNvSpPr>
          <p:nvPr/>
        </p:nvSpPr>
        <p:spPr>
          <a:xfrm>
            <a:off x="4617720" y="1600200"/>
            <a:ext cx="3566160" cy="594360"/>
          </a:xfrm>
          <a:prstGeom prst="rect">
            <a:avLst/>
          </a:prstGeom>
          <a:noFill/>
        </p:spPr>
        <p:txBody>
          <a:bodyPr wrap="square" lIns="0" tIns="0" rIns="0" bIns="0" anchor="ctr"/>
          <a:lstStyle/>
          <a:p>
            <a:pPr marL="0" indent="0" algn="ctr">
              <a:buNone/>
            </a:pPr>
            <a:r>
              <a:rPr sz="1500" b="1">
                <a:solidFill>
                  <a:srgbClr val="FFFFFF"/>
                </a:solidFill>
                <a:latin typeface="Calibri" panose="020F0502020204030204"/>
                <a:ea typeface="Calibri" panose="020F0502020204030204"/>
                <a:cs typeface="Calibri" panose="020F0502020204030204"/>
              </a:rPr>
              <a:t>IMemoryCache</a:t>
            </a:r>
            <a:endParaRPr sz="1500"/>
          </a:p>
        </p:txBody>
      </p:sp>
      <p:sp>
        <p:nvSpPr>
          <p:cNvPr id="28" name="Text 26"/>
          <p:cNvSpPr>
            <a:spLocks noGrp="1"/>
          </p:cNvSpPr>
          <p:nvPr/>
        </p:nvSpPr>
        <p:spPr>
          <a:xfrm>
            <a:off x="548640" y="6537960"/>
            <a:ext cx="9144000" cy="274320"/>
          </a:xfrm>
          <a:prstGeom prst="rect">
            <a:avLst/>
          </a:prstGeom>
          <a:noFill/>
        </p:spPr>
        <p:txBody>
          <a:bodyPr wrap="square" lIns="0" tIns="0" rIns="0" bIns="0" anchor="ctr"/>
          <a:lstStyle/>
          <a:p>
            <a:pPr marL="0" indent="0">
              <a:buNone/>
            </a:pPr>
            <a:r>
              <a:rPr sz="900">
                <a:solidFill>
                  <a:srgbClr val="9AA0AE"/>
                </a:solidFill>
                <a:latin typeface="Calibri" panose="020F0502020204030204"/>
                <a:ea typeface="Calibri" panose="020F0502020204030204"/>
                <a:cs typeface="Calibri" panose="020F0502020204030204"/>
              </a:rPr>
              <a:t>Modern Enterprise Software Engineering  |  ÉSTIAM  |  Day 2, Morning</a:t>
            </a:r>
            <a:endParaRPr sz="900"/>
          </a:p>
        </p:txBody>
      </p:sp>
      <p:sp>
        <p:nvSpPr>
          <p:cNvPr id="29" name="Text 2"/>
          <p:cNvSpPr>
            <a:spLocks noGrp="1"/>
          </p:cNvSpPr>
          <p:nvPr/>
        </p:nvSpPr>
        <p:spPr>
          <a:xfrm>
            <a:off x="548640" y="1554480"/>
            <a:ext cx="10698480" cy="640080"/>
          </a:xfrm>
          <a:prstGeom prst="rect">
            <a:avLst/>
          </a:prstGeom>
          <a:noFill/>
        </p:spPr>
        <p:txBody>
          <a:bodyPr wrap="square" lIns="0" tIns="0" rIns="0" bIns="0" anchor="ctr"/>
          <a:lstStyle/>
          <a:p>
            <a:pPr marL="0" indent="0">
              <a:lnSpc>
                <a:spcPct val="120000"/>
              </a:lnSpc>
              <a:buNone/>
            </a:pPr>
            <a:r>
              <a:rPr lang="en-US" altLang="en-US" sz="1400">
                <a:solidFill>
                  <a:srgbClr val="5A5F73"/>
                </a:solidFill>
                <a:latin typeface="Calibri" panose="020F0502020204030204"/>
                <a:ea typeface="Calibri" panose="020F0502020204030204"/>
                <a:cs typeface="Calibri" panose="020F0502020204030204"/>
              </a:rPr>
              <a:t>Redis is a very fast in-memory data store.</a:t>
            </a:r>
            <a:endParaRPr lang="en-US" altLang="en-US" sz="1400">
              <a:solidFill>
                <a:srgbClr val="5A5F73"/>
              </a:solidFill>
              <a:latin typeface="Calibri" panose="020F0502020204030204"/>
              <a:ea typeface="Calibri" panose="020F0502020204030204"/>
              <a:cs typeface="Calibri" panose="020F0502020204030204"/>
            </a:endParaRPr>
          </a:p>
          <a:p>
            <a:pPr marL="0" indent="0">
              <a:lnSpc>
                <a:spcPct val="120000"/>
              </a:lnSpc>
              <a:buNone/>
            </a:pPr>
            <a:r>
              <a:rPr lang="en-US" altLang="en-US" sz="1400">
                <a:solidFill>
                  <a:srgbClr val="5A5F73"/>
                </a:solidFill>
                <a:latin typeface="Calibri" panose="020F0502020204030204"/>
                <a:ea typeface="Calibri" panose="020F0502020204030204"/>
                <a:cs typeface="Calibri" panose="020F0502020204030204"/>
              </a:rPr>
              <a:t>Think of it as a key-value database that keeps data in RAM, so reads/writes are extremely fast.</a:t>
            </a:r>
            <a:endParaRPr lang="en-US" altLang="en-US" sz="1400">
              <a:solidFill>
                <a:srgbClr val="5A5F73"/>
              </a:solidFill>
              <a:latin typeface="Calibri" panose="020F0502020204030204"/>
              <a:ea typeface="Calibri" panose="020F0502020204030204"/>
              <a:cs typeface="Calibri" panose="020F0502020204030204"/>
            </a:endParaRPr>
          </a:p>
        </p:txBody>
      </p:sp>
      <p:sp>
        <p:nvSpPr>
          <p:cNvPr id="30" name="Text 2"/>
          <p:cNvSpPr>
            <a:spLocks noGrp="1"/>
          </p:cNvSpPr>
          <p:nvPr/>
        </p:nvSpPr>
        <p:spPr>
          <a:xfrm>
            <a:off x="548640" y="2468880"/>
            <a:ext cx="5780405" cy="2602865"/>
          </a:xfrm>
          <a:prstGeom prst="rect">
            <a:avLst/>
          </a:prstGeom>
          <a:noFill/>
        </p:spPr>
        <p:txBody>
          <a:bodyPr wrap="square" lIns="0" tIns="0" rIns="0" bIns="0" anchor="ctr"/>
          <a:lstStyle/>
          <a:p>
            <a:pPr marL="342900" indent="-342900">
              <a:spcAft>
                <a:spcPts val="1400"/>
              </a:spcAft>
              <a:buSzPct val="100000"/>
              <a:buChar char="●"/>
            </a:pPr>
            <a:r>
              <a:rPr lang="en-US" altLang="en-US" sz="1600">
                <a:solidFill>
                  <a:srgbClr val="1C1F2A"/>
                </a:solidFill>
                <a:latin typeface="Calibri" panose="020F0502020204030204"/>
                <a:ea typeface="Calibri" panose="020F0502020204030204"/>
                <a:cs typeface="Calibri" panose="020F0502020204030204"/>
              </a:rPr>
              <a:t>Caching — avoid querying the main database repeatedly.</a:t>
            </a:r>
            <a:endParaRPr lang="en-US" altLang="en-US" sz="1600">
              <a:solidFill>
                <a:srgbClr val="1C1F2A"/>
              </a:solidFill>
              <a:latin typeface="Calibri" panose="020F0502020204030204"/>
              <a:ea typeface="Calibri" panose="020F0502020204030204"/>
              <a:cs typeface="Calibri" panose="020F0502020204030204"/>
            </a:endParaRPr>
          </a:p>
          <a:p>
            <a:pPr marL="342900" indent="-342900">
              <a:spcAft>
                <a:spcPts val="1400"/>
              </a:spcAft>
              <a:buSzPct val="100000"/>
              <a:buChar char="●"/>
            </a:pPr>
            <a:r>
              <a:rPr lang="en-US" altLang="en-US" sz="1600">
                <a:solidFill>
                  <a:srgbClr val="1C1F2A"/>
                </a:solidFill>
                <a:latin typeface="Calibri" panose="020F0502020204030204"/>
                <a:ea typeface="Calibri" panose="020F0502020204030204"/>
                <a:cs typeface="Calibri" panose="020F0502020204030204"/>
              </a:rPr>
              <a:t>Sessions — store logged-in user/session data.</a:t>
            </a:r>
            <a:endParaRPr lang="en-US" altLang="en-US" sz="1600">
              <a:solidFill>
                <a:srgbClr val="1C1F2A"/>
              </a:solidFill>
              <a:latin typeface="Calibri" panose="020F0502020204030204"/>
              <a:ea typeface="Calibri" panose="020F0502020204030204"/>
              <a:cs typeface="Calibri" panose="020F0502020204030204"/>
            </a:endParaRPr>
          </a:p>
          <a:p>
            <a:pPr marL="342900" indent="-342900">
              <a:spcAft>
                <a:spcPts val="1400"/>
              </a:spcAft>
              <a:buSzPct val="100000"/>
              <a:buChar char="●"/>
            </a:pPr>
            <a:r>
              <a:rPr lang="en-US" altLang="en-US" sz="1600">
                <a:solidFill>
                  <a:srgbClr val="1C1F2A"/>
                </a:solidFill>
                <a:latin typeface="Calibri" panose="020F0502020204030204"/>
                <a:ea typeface="Calibri" panose="020F0502020204030204"/>
                <a:cs typeface="Calibri" panose="020F0502020204030204"/>
              </a:rPr>
              <a:t>Distributed locks — coordinate multiple application instances.</a:t>
            </a:r>
            <a:endParaRPr lang="en-US" altLang="en-US" sz="1600">
              <a:solidFill>
                <a:srgbClr val="1C1F2A"/>
              </a:solidFill>
              <a:latin typeface="Calibri" panose="020F0502020204030204"/>
              <a:ea typeface="Calibri" panose="020F0502020204030204"/>
              <a:cs typeface="Calibri" panose="020F0502020204030204"/>
            </a:endParaRPr>
          </a:p>
          <a:p>
            <a:pPr marL="342900" indent="-342900">
              <a:spcAft>
                <a:spcPts val="1400"/>
              </a:spcAft>
              <a:buSzPct val="100000"/>
              <a:buChar char="●"/>
            </a:pPr>
            <a:r>
              <a:rPr lang="en-US" altLang="en-US" sz="1600">
                <a:solidFill>
                  <a:srgbClr val="1C1F2A"/>
                </a:solidFill>
                <a:latin typeface="Calibri" panose="020F0502020204030204"/>
                <a:ea typeface="Calibri" panose="020F0502020204030204"/>
                <a:cs typeface="Calibri" panose="020F0502020204030204"/>
              </a:rPr>
              <a:t>Counters — views, likes, rate limits.</a:t>
            </a:r>
            <a:endParaRPr lang="en-US" altLang="en-US" sz="1600">
              <a:solidFill>
                <a:srgbClr val="1C1F2A"/>
              </a:solidFill>
              <a:latin typeface="Calibri" panose="020F0502020204030204"/>
              <a:ea typeface="Calibri" panose="020F0502020204030204"/>
              <a:cs typeface="Calibri" panose="020F0502020204030204"/>
            </a:endParaRPr>
          </a:p>
          <a:p>
            <a:pPr marL="342900" indent="-342900">
              <a:spcAft>
                <a:spcPts val="1400"/>
              </a:spcAft>
              <a:buSzPct val="100000"/>
              <a:buChar char="●"/>
            </a:pPr>
            <a:r>
              <a:rPr lang="en-US" altLang="en-US" sz="1600">
                <a:solidFill>
                  <a:srgbClr val="1C1F2A"/>
                </a:solidFill>
                <a:latin typeface="Calibri" panose="020F0502020204030204"/>
                <a:ea typeface="Calibri" panose="020F0502020204030204"/>
                <a:cs typeface="Calibri" panose="020F0502020204030204"/>
              </a:rPr>
              <a:t>Queues / messaging — Redis Streams and Pub/Sub.</a:t>
            </a:r>
            <a:endParaRPr lang="en-US" altLang="en-US" sz="1600">
              <a:solidFill>
                <a:srgbClr val="1C1F2A"/>
              </a:solidFill>
              <a:latin typeface="Calibri" panose="020F0502020204030204"/>
              <a:ea typeface="Calibri" panose="020F0502020204030204"/>
              <a:cs typeface="Calibri" panose="020F0502020204030204"/>
            </a:endParaRPr>
          </a:p>
        </p:txBody>
      </p:sp>
      <p:pic>
        <p:nvPicPr>
          <p:cNvPr id="31" name="Picture 30"/>
          <p:cNvPicPr/>
          <p:nvPr/>
        </p:nvPicPr>
        <p:blipFill>
          <a:blip r:embed="rId1"/>
          <a:stretch>
            <a:fillRect/>
          </a:stretch>
        </p:blipFill>
        <p:spPr>
          <a:xfrm>
            <a:off x="8100060" y="1779905"/>
            <a:ext cx="3649345" cy="38176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365760"/>
          </a:xfrm>
          <a:prstGeom prst="rect">
            <a:avLst/>
          </a:prstGeom>
          <a:noFill/>
        </p:spPr>
        <p:txBody>
          <a:bodyPr wrap="square" lIns="0" tIns="0" rIns="0" bIns="0" rtlCol="0" anchor="ctr"/>
          <a:lstStyle/>
          <a:p>
            <a:pPr marL="0" indent="0">
              <a:buNone/>
            </a:pPr>
            <a:r>
              <a:rPr lang="en-US" sz="1200" b="1" kern="0" spc="100" dirty="0">
                <a:solidFill>
                  <a:srgbClr val="F2A93B"/>
                </a:solidFill>
                <a:latin typeface="Calibri" panose="020F0502020204030204" pitchFamily="34" charset="0"/>
                <a:ea typeface="Calibri" panose="020F0502020204030204" pitchFamily="34" charset="-122"/>
                <a:cs typeface="Calibri" panose="020F0502020204030204" pitchFamily="34" charset="-120"/>
              </a:rPr>
              <a:t>SCENARIO CHECK</a:t>
            </a:r>
            <a:endParaRPr lang="en-US" sz="1200" dirty="0"/>
          </a:p>
        </p:txBody>
      </p:sp>
      <p:sp>
        <p:nvSpPr>
          <p:cNvPr id="3" name="Text 1"/>
          <p:cNvSpPr txBox="1"/>
          <p:nvPr/>
        </p:nvSpPr>
        <p:spPr>
          <a:xfrm>
            <a:off x="548640" y="685800"/>
            <a:ext cx="10972800" cy="640080"/>
          </a:xfrm>
          <a:prstGeom prst="rect">
            <a:avLst/>
          </a:prstGeom>
          <a:noFill/>
        </p:spPr>
        <p:txBody>
          <a:bodyPr wrap="square" lIns="0" tIns="0" rIns="0" bIns="0" rtlCol="0" anchor="ctr"/>
          <a:lstStyle/>
          <a:p>
            <a:pPr marL="0" indent="0">
              <a:buNone/>
            </a:pPr>
            <a:r>
              <a:rPr lang="en-US" sz="2800" b="1" dirty="0">
                <a:solidFill>
                  <a:srgbClr val="1E2761"/>
                </a:solidFill>
                <a:latin typeface="Cambria" panose="02040503050406030204" pitchFamily="34" charset="0"/>
                <a:ea typeface="Cambria" panose="02040503050406030204" pitchFamily="34" charset="-122"/>
                <a:cs typeface="Cambria" panose="02040503050406030204" pitchFamily="34" charset="-120"/>
              </a:rPr>
              <a:t>Two instances, two caches</a:t>
            </a:r>
            <a:endParaRPr lang="en-US" sz="2800" dirty="0"/>
          </a:p>
        </p:txBody>
      </p:sp>
      <p:sp>
        <p:nvSpPr>
          <p:cNvPr id="4" name="Text 2"/>
          <p:cNvSpPr txBox="1"/>
          <p:nvPr/>
        </p:nvSpPr>
        <p:spPr>
          <a:xfrm>
            <a:off x="548640" y="1600200"/>
            <a:ext cx="10698480" cy="914400"/>
          </a:xfrm>
          <a:prstGeom prst="rect">
            <a:avLst/>
          </a:prstGeom>
          <a:noFill/>
        </p:spPr>
        <p:txBody>
          <a:bodyPr wrap="square" lIns="0" tIns="0" rIns="0" bIns="0" rtlCol="0" anchor="ctr"/>
          <a:lstStyle/>
          <a:p>
            <a:pPr marL="0" indent="0">
              <a:lnSpc>
                <a:spcPct val="120000"/>
              </a:lnSpc>
              <a:buNone/>
            </a:pPr>
            <a:r>
              <a:rPr lang="en-US" sz="1500" dirty="0">
                <a:solidFill>
                  <a:srgbClr val="1C1F2A"/>
                </a:solidFill>
                <a:latin typeface="Calibri" panose="020F0502020204030204" pitchFamily="34" charset="0"/>
                <a:ea typeface="Calibri" panose="020F0502020204030204" pitchFamily="34" charset="-122"/>
                <a:cs typeface="Calibri" panose="020F0502020204030204" pitchFamily="34" charset="-120"/>
              </a:rPr>
              <a:t>Your Container App scales out to two replicas under load. A student adds a title, then reads the count from a different replica than the one that served their last read. What do they see?</a:t>
            </a:r>
            <a:endParaRPr lang="en-US" sz="1500" dirty="0">
              <a:solidFill>
                <a:srgbClr val="1C1F2A"/>
              </a:solidFill>
              <a:latin typeface="Calibri" panose="020F0502020204030204" pitchFamily="34" charset="0"/>
              <a:ea typeface="Calibri" panose="020F0502020204030204" pitchFamily="34" charset="-122"/>
              <a:cs typeface="Calibri" panose="020F0502020204030204" pitchFamily="34" charset="-120"/>
            </a:endParaRPr>
          </a:p>
        </p:txBody>
      </p:sp>
      <p:sp>
        <p:nvSpPr>
          <p:cNvPr id="5" name="Shape 3"/>
          <p:cNvSpPr/>
          <p:nvPr/>
        </p:nvSpPr>
        <p:spPr>
          <a:xfrm>
            <a:off x="822960" y="2697480"/>
            <a:ext cx="5029200" cy="1920240"/>
          </a:xfrm>
          <a:prstGeom prst="roundRect">
            <a:avLst>
              <a:gd name="adj" fmla="val 4762"/>
            </a:avLst>
          </a:prstGeom>
          <a:solidFill>
            <a:srgbClr val="1E2761"/>
          </a:solidFill>
        </p:spPr>
      </p:sp>
      <p:sp>
        <p:nvSpPr>
          <p:cNvPr id="6" name="Text 4"/>
          <p:cNvSpPr txBox="1"/>
          <p:nvPr/>
        </p:nvSpPr>
        <p:spPr>
          <a:xfrm>
            <a:off x="1097280" y="2834640"/>
            <a:ext cx="4480560" cy="365760"/>
          </a:xfrm>
          <a:prstGeom prst="rect">
            <a:avLst/>
          </a:prstGeom>
          <a:noFill/>
        </p:spPr>
        <p:txBody>
          <a:bodyPr wrap="square" lIns="0" tIns="0" rIns="0" bIns="0" rtlCol="0" anchor="ctr"/>
          <a:lstStyle/>
          <a:p>
            <a:pPr marL="0" indent="0">
              <a:buNone/>
            </a:pPr>
            <a:r>
              <a:rPr lang="en-US" sz="1400" b="1" dirty="0">
                <a:solidFill>
                  <a:srgbClr val="F2A93B"/>
                </a:solidFill>
                <a:latin typeface="Calibri" panose="020F0502020204030204" pitchFamily="34" charset="0"/>
                <a:ea typeface="Calibri" panose="020F0502020204030204" pitchFamily="34" charset="-122"/>
                <a:cs typeface="Calibri" panose="020F0502020204030204" pitchFamily="34" charset="-120"/>
              </a:rPr>
              <a:t>Replica A</a:t>
            </a:r>
            <a:endParaRPr lang="en-US" sz="1400" b="1" dirty="0">
              <a:solidFill>
                <a:srgbClr val="F2A93B"/>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Text 5"/>
          <p:cNvSpPr txBox="1"/>
          <p:nvPr/>
        </p:nvSpPr>
        <p:spPr>
          <a:xfrm>
            <a:off x="1097280" y="3200400"/>
            <a:ext cx="4480560" cy="1188720"/>
          </a:xfrm>
          <a:prstGeom prst="rect">
            <a:avLst/>
          </a:prstGeom>
          <a:noFill/>
        </p:spPr>
        <p:txBody>
          <a:bodyPr wrap="square" lIns="0" tIns="0" rIns="0" bIns="0" rtlCol="0" anchor="ctr"/>
          <a:lstStyle/>
          <a:p>
            <a:pPr marL="0" indent="0">
              <a:lnSpc>
                <a:spcPct val="125000"/>
              </a:lnSpc>
              <a:buNone/>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Its own IMemoryCache.</a:t>
            </a:r>
            <a:endPar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nSpc>
                <a:spcPct val="125000"/>
              </a:lnSpc>
              <a:buNone/>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Just served the new title — cache is fresh.</a:t>
            </a:r>
            <a:endPar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nvSpPr>
        <p:spPr>
          <a:xfrm>
            <a:off x="6309360" y="2697480"/>
            <a:ext cx="5029200" cy="1920240"/>
          </a:xfrm>
          <a:prstGeom prst="roundRect">
            <a:avLst>
              <a:gd name="adj" fmla="val 4762"/>
            </a:avLst>
          </a:prstGeom>
          <a:solidFill>
            <a:srgbClr val="3A4488"/>
          </a:solidFill>
        </p:spPr>
      </p:sp>
      <p:sp>
        <p:nvSpPr>
          <p:cNvPr id="9" name="Text 7"/>
          <p:cNvSpPr txBox="1"/>
          <p:nvPr/>
        </p:nvSpPr>
        <p:spPr>
          <a:xfrm>
            <a:off x="6583680" y="2834640"/>
            <a:ext cx="4480560" cy="365760"/>
          </a:xfrm>
          <a:prstGeom prst="rect">
            <a:avLst/>
          </a:prstGeom>
          <a:noFill/>
        </p:spPr>
        <p:txBody>
          <a:bodyPr wrap="square" lIns="0" tIns="0" rIns="0" bIns="0" rtlCol="0" anchor="ctr"/>
          <a:lstStyle/>
          <a:p>
            <a:pPr marL="0" indent="0">
              <a:buNone/>
            </a:pPr>
            <a:r>
              <a:rPr lang="en-US" sz="1400" b="1" dirty="0">
                <a:solidFill>
                  <a:srgbClr val="F2A93B"/>
                </a:solidFill>
                <a:latin typeface="Calibri" panose="020F0502020204030204" pitchFamily="34" charset="0"/>
                <a:ea typeface="Calibri" panose="020F0502020204030204" pitchFamily="34" charset="-122"/>
                <a:cs typeface="Calibri" panose="020F0502020204030204" pitchFamily="34" charset="-120"/>
              </a:rPr>
              <a:t>Replica B</a:t>
            </a:r>
            <a:endParaRPr lang="en-US" sz="1400" b="1" dirty="0">
              <a:solidFill>
                <a:srgbClr val="F2A93B"/>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Text 8"/>
          <p:cNvSpPr txBox="1"/>
          <p:nvPr/>
        </p:nvSpPr>
        <p:spPr>
          <a:xfrm>
            <a:off x="6583680" y="3200400"/>
            <a:ext cx="4480560" cy="1188720"/>
          </a:xfrm>
          <a:prstGeom prst="rect">
            <a:avLst/>
          </a:prstGeom>
          <a:noFill/>
        </p:spPr>
        <p:txBody>
          <a:bodyPr wrap="square" lIns="0" tIns="0" rIns="0" bIns="0" rtlCol="0" anchor="ctr"/>
          <a:lstStyle/>
          <a:p>
            <a:pPr marL="0" indent="0">
              <a:lnSpc>
                <a:spcPct val="125000"/>
              </a:lnSpc>
              <a:buNone/>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A completely separate IMemoryCache, in a separate process.</a:t>
            </a:r>
            <a:endPar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nSpc>
                <a:spcPct val="125000"/>
              </a:lnSpc>
              <a:buNone/>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Might still hold the OLD count.</a:t>
            </a:r>
            <a:endPar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Shape 9"/>
          <p:cNvSpPr/>
          <p:nvPr/>
        </p:nvSpPr>
        <p:spPr>
          <a:xfrm>
            <a:off x="548640" y="4846320"/>
            <a:ext cx="10698480" cy="1234440"/>
          </a:xfrm>
          <a:prstGeom prst="roundRect">
            <a:avLst>
              <a:gd name="adj" fmla="val 7407"/>
            </a:avLst>
          </a:prstGeom>
          <a:solidFill>
            <a:srgbClr val="FDF1DE"/>
          </a:solidFill>
          <a:ln w="12700">
            <a:solidFill>
              <a:srgbClr val="F2A93B"/>
            </a:solidFill>
            <a:prstDash val="solid"/>
          </a:ln>
        </p:spPr>
      </p:sp>
      <p:sp>
        <p:nvSpPr>
          <p:cNvPr id="12" name="Text 10"/>
          <p:cNvSpPr txBox="1"/>
          <p:nvPr/>
        </p:nvSpPr>
        <p:spPr>
          <a:xfrm>
            <a:off x="868680" y="4956048"/>
            <a:ext cx="10058400" cy="1005840"/>
          </a:xfrm>
          <a:prstGeom prst="rect">
            <a:avLst/>
          </a:prstGeom>
          <a:noFill/>
        </p:spPr>
        <p:txBody>
          <a:bodyPr wrap="square" lIns="0" tIns="0" rIns="0" bIns="0" rtlCol="0" anchor="ctr"/>
          <a:lstStyle/>
          <a:p>
            <a:pPr marL="0" indent="0">
              <a:lnSpc>
                <a:spcPct val="120000"/>
              </a:lnSpc>
              <a:buNone/>
            </a:pPr>
            <a:r>
              <a:rPr lang="en-US" sz="1300" dirty="0">
                <a:solidFill>
                  <a:srgbClr val="8A5A10"/>
                </a:solidFill>
                <a:latin typeface="Calibri" panose="020F0502020204030204" pitchFamily="34" charset="0"/>
                <a:ea typeface="Calibri" panose="020F0502020204030204" pitchFamily="34" charset="-122"/>
                <a:cs typeface="Calibri" panose="020F0502020204030204" pitchFamily="34" charset="-120"/>
              </a:rPr>
              <a:t>Not a bug — the fundamental trade-off of in-process caching under scale-out. Real production systems needing cross-instance consistency reach for Redis instead. Same trade-off applies across a new revision: a fresh replica's cache starts empty, so the first request after any redeploy is a guaranteed miss.</a:t>
            </a:r>
            <a:endParaRPr lang="en-US" sz="1300" dirty="0">
              <a:solidFill>
                <a:srgbClr val="8A5A10"/>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Text 11"/>
          <p:cNvSpPr txBox="1"/>
          <p:nvPr/>
        </p:nvSpPr>
        <p:spPr>
          <a:xfrm>
            <a:off x="548640" y="6537960"/>
            <a:ext cx="9144000" cy="274320"/>
          </a:xfrm>
          <a:prstGeom prst="rect">
            <a:avLst/>
          </a:prstGeom>
          <a:noFill/>
        </p:spPr>
        <p:txBody>
          <a:bodyPr wrap="square" lIns="0" tIns="0" rIns="0" bIns="0" rtlCol="0" anchor="ctr"/>
          <a:lstStyle/>
          <a:p>
            <a:pPr marL="0" indent="0">
              <a:buNone/>
            </a:pPr>
            <a:r>
              <a:rPr lang="en-US" sz="900" dirty="0">
                <a:solidFill>
                  <a:srgbClr val="9AA0AE"/>
                </a:solidFill>
                <a:latin typeface="Calibri" panose="020F0502020204030204" pitchFamily="34" charset="0"/>
                <a:ea typeface="Calibri" panose="020F0502020204030204" pitchFamily="34" charset="-122"/>
                <a:cs typeface="Calibri" panose="020F0502020204030204" pitchFamily="34" charset="-120"/>
              </a:rPr>
              <a:t>Modern Enterprise Software Engineering  |  ÉSTIAM  |  Day 2, Morning</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365760"/>
          </a:xfrm>
          <a:prstGeom prst="rect">
            <a:avLst/>
          </a:prstGeom>
          <a:noFill/>
        </p:spPr>
        <p:txBody>
          <a:bodyPr wrap="square" lIns="0" tIns="0" rIns="0" bIns="0" rtlCol="0" anchor="ctr"/>
          <a:lstStyle/>
          <a:p>
            <a:pPr marL="0" indent="0">
              <a:buNone/>
            </a:pPr>
            <a:r>
              <a:rPr lang="en-US" sz="1200" b="1" kern="0" spc="100" dirty="0">
                <a:solidFill>
                  <a:srgbClr val="F2A93B"/>
                </a:solidFill>
                <a:latin typeface="Calibri" panose="020F0502020204030204" pitchFamily="34" charset="0"/>
                <a:ea typeface="Calibri" panose="020F0502020204030204" pitchFamily="34" charset="-122"/>
                <a:cs typeface="Calibri" panose="020F0502020204030204" pitchFamily="34" charset="-120"/>
              </a:rPr>
              <a:t>TOPIC 1 — LIVE DEMO</a:t>
            </a:r>
            <a:endParaRPr lang="en-US" sz="1200" dirty="0"/>
          </a:p>
        </p:txBody>
      </p:sp>
      <p:sp>
        <p:nvSpPr>
          <p:cNvPr id="3" name="Text 1"/>
          <p:cNvSpPr txBox="1"/>
          <p:nvPr/>
        </p:nvSpPr>
        <p:spPr>
          <a:xfrm>
            <a:off x="548640" y="685800"/>
            <a:ext cx="10972800" cy="640080"/>
          </a:xfrm>
          <a:prstGeom prst="rect">
            <a:avLst/>
          </a:prstGeom>
          <a:noFill/>
        </p:spPr>
        <p:txBody>
          <a:bodyPr wrap="square" lIns="0" tIns="0" rIns="0" bIns="0" rtlCol="0" anchor="ctr"/>
          <a:lstStyle/>
          <a:p>
            <a:pPr marL="0" indent="0">
              <a:buNone/>
            </a:pPr>
            <a:r>
              <a:rPr lang="en-US" sz="2800" b="1" dirty="0">
                <a:solidFill>
                  <a:srgbClr val="1E2761"/>
                </a:solidFill>
                <a:latin typeface="Cambria" panose="02040503050406030204" pitchFamily="34" charset="0"/>
                <a:ea typeface="Cambria" panose="02040503050406030204" pitchFamily="34" charset="-122"/>
                <a:cs typeface="Cambria" panose="02040503050406030204" pitchFamily="34" charset="-120"/>
              </a:rPr>
              <a:t>Build, push, verify, shift</a:t>
            </a:r>
            <a:endParaRPr lang="en-US" sz="2800" b="1" dirty="0">
              <a:solidFill>
                <a:srgbClr val="1E2761"/>
              </a:solidFill>
              <a:latin typeface="Cambria" panose="02040503050406030204" pitchFamily="34" charset="0"/>
              <a:ea typeface="Cambria" panose="02040503050406030204" pitchFamily="34" charset="-122"/>
              <a:cs typeface="Cambria" panose="02040503050406030204" pitchFamily="34" charset="-120"/>
            </a:endParaRPr>
          </a:p>
        </p:txBody>
      </p:sp>
      <p:sp>
        <p:nvSpPr>
          <p:cNvPr id="4" name="Text 2"/>
          <p:cNvSpPr txBox="1"/>
          <p:nvPr/>
        </p:nvSpPr>
        <p:spPr>
          <a:xfrm>
            <a:off x="548640" y="1554480"/>
            <a:ext cx="10698480" cy="640080"/>
          </a:xfrm>
          <a:prstGeom prst="rect">
            <a:avLst/>
          </a:prstGeom>
          <a:noFill/>
        </p:spPr>
        <p:txBody>
          <a:bodyPr wrap="square" lIns="0" tIns="0" rIns="0" bIns="0" rtlCol="0" anchor="ctr"/>
          <a:lstStyle/>
          <a:p>
            <a:pPr marL="0" indent="0">
              <a:lnSpc>
                <a:spcPct val="120000"/>
              </a:lnSpc>
              <a:buNone/>
            </a:pPr>
            <a:r>
              <a:rPr lang="en-US" sz="1400" dirty="0">
                <a:solidFill>
                  <a:srgbClr val="5A5F73"/>
                </a:solidFill>
                <a:latin typeface="Calibri" panose="020F0502020204030204" pitchFamily="34" charset="0"/>
                <a:ea typeface="Calibri" panose="020F0502020204030204" pitchFamily="34" charset="-122"/>
                <a:cs typeface="Calibri" panose="020F0502020204030204" pitchFamily="34" charset="-120"/>
              </a:rPr>
              <a:t>Reuses Module 1's Container App revisions -- production is already running catalog-api without the count endpoint. Today we build the caching version, verify it on its own revision, then shift traffic.</a:t>
            </a:r>
            <a:endParaRPr lang="en-US" sz="1400" dirty="0">
              <a:solidFill>
                <a:srgbClr val="5A5F73"/>
              </a:solidFill>
              <a:latin typeface="Calibri" panose="020F0502020204030204" pitchFamily="34" charset="0"/>
              <a:ea typeface="Calibri" panose="020F0502020204030204" pitchFamily="34" charset="-122"/>
              <a:cs typeface="Calibri" panose="020F0502020204030204" pitchFamily="34" charset="-120"/>
            </a:endParaRPr>
          </a:p>
        </p:txBody>
      </p:sp>
      <p:sp>
        <p:nvSpPr>
          <p:cNvPr id="5" name="Shape 3"/>
          <p:cNvSpPr/>
          <p:nvPr/>
        </p:nvSpPr>
        <p:spPr>
          <a:xfrm>
            <a:off x="548640" y="2651760"/>
            <a:ext cx="2377440" cy="2103120"/>
          </a:xfrm>
          <a:prstGeom prst="roundRect">
            <a:avLst>
              <a:gd name="adj" fmla="val 4348"/>
            </a:avLst>
          </a:prstGeom>
          <a:solidFill>
            <a:srgbClr val="1E2761"/>
          </a:solidFill>
        </p:spPr>
      </p:sp>
      <p:sp>
        <p:nvSpPr>
          <p:cNvPr id="6" name="Text 4"/>
          <p:cNvSpPr txBox="1"/>
          <p:nvPr/>
        </p:nvSpPr>
        <p:spPr>
          <a:xfrm>
            <a:off x="731520" y="2880360"/>
            <a:ext cx="2011680" cy="457200"/>
          </a:xfrm>
          <a:prstGeom prst="rect">
            <a:avLst/>
          </a:prstGeom>
          <a:noFill/>
        </p:spPr>
        <p:txBody>
          <a:bodyPr wrap="square" lIns="0" tIns="0" rIns="0" bIns="0" rtlCol="0" anchor="ctr"/>
          <a:lstStyle/>
          <a:p>
            <a:pPr marL="0" indent="0">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1. Build</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Text 5"/>
          <p:cNvSpPr txBox="1"/>
          <p:nvPr/>
        </p:nvSpPr>
        <p:spPr>
          <a:xfrm>
            <a:off x="731520" y="3429000"/>
            <a:ext cx="2011680" cy="1188720"/>
          </a:xfrm>
          <a:prstGeom prst="rect">
            <a:avLst/>
          </a:prstGeom>
          <a:noFill/>
        </p:spPr>
        <p:txBody>
          <a:bodyPr wrap="square" lIns="0" tIns="0" rIns="0" bIns="0" rtlCol="0" anchor="ctr"/>
          <a:lstStyle/>
          <a:p>
            <a:pPr marL="0" indent="0">
              <a:lnSpc>
                <a:spcPct val="125000"/>
              </a:lnSpc>
              <a:buNone/>
            </a:pP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docker build</a:t>
            </a:r>
            <a:endPar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endParaRPr>
          </a:p>
          <a:p>
            <a:pPr marL="0" indent="0">
              <a:lnSpc>
                <a:spcPct val="125000"/>
              </a:lnSpc>
              <a:buNone/>
            </a:pP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new GET /titles/count</a:t>
            </a:r>
            <a:endPar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Text 6"/>
          <p:cNvSpPr txBox="1"/>
          <p:nvPr/>
        </p:nvSpPr>
        <p:spPr>
          <a:xfrm>
            <a:off x="2926080" y="3429000"/>
            <a:ext cx="320040" cy="548640"/>
          </a:xfrm>
          <a:prstGeom prst="rect">
            <a:avLst/>
          </a:prstGeom>
          <a:noFill/>
        </p:spPr>
        <p:txBody>
          <a:bodyPr wrap="square" lIns="0" tIns="0" rIns="0" bIns="0" rtlCol="0" anchor="ctr"/>
          <a:lstStyle/>
          <a:p>
            <a:pPr marL="0" indent="0" algn="ctr">
              <a:buNone/>
            </a:pPr>
            <a:r>
              <a:rPr lang="en-US" sz="2200" b="1" dirty="0">
                <a:solidFill>
                  <a:srgbClr val="1E2761"/>
                </a:solidFill>
                <a:latin typeface="Calibri" panose="020F0502020204030204" pitchFamily="34" charset="0"/>
                <a:ea typeface="Calibri" panose="020F0502020204030204" pitchFamily="34" charset="-122"/>
                <a:cs typeface="Calibri" panose="020F0502020204030204" pitchFamily="34" charset="-120"/>
              </a:rPr>
              <a:t>→</a:t>
            </a:r>
            <a:endParaRPr lang="en-US" sz="2200" dirty="0"/>
          </a:p>
        </p:txBody>
      </p:sp>
      <p:sp>
        <p:nvSpPr>
          <p:cNvPr id="9" name="Shape 7"/>
          <p:cNvSpPr/>
          <p:nvPr/>
        </p:nvSpPr>
        <p:spPr>
          <a:xfrm>
            <a:off x="3246120" y="2651760"/>
            <a:ext cx="2377440" cy="2103120"/>
          </a:xfrm>
          <a:prstGeom prst="roundRect">
            <a:avLst>
              <a:gd name="adj" fmla="val 4348"/>
            </a:avLst>
          </a:prstGeom>
          <a:solidFill>
            <a:srgbClr val="1E2761"/>
          </a:solidFill>
        </p:spPr>
      </p:sp>
      <p:sp>
        <p:nvSpPr>
          <p:cNvPr id="10" name="Text 8"/>
          <p:cNvSpPr txBox="1"/>
          <p:nvPr/>
        </p:nvSpPr>
        <p:spPr>
          <a:xfrm>
            <a:off x="3429000" y="2880360"/>
            <a:ext cx="2011680" cy="457200"/>
          </a:xfrm>
          <a:prstGeom prst="rect">
            <a:avLst/>
          </a:prstGeom>
          <a:noFill/>
        </p:spPr>
        <p:txBody>
          <a:bodyPr wrap="square" lIns="0" tIns="0" rIns="0" bIns="0" rtlCol="0" anchor="ctr"/>
          <a:lstStyle/>
          <a:p>
            <a:pPr marL="0" indent="0">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2. Push</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Text 9"/>
          <p:cNvSpPr txBox="1"/>
          <p:nvPr/>
        </p:nvSpPr>
        <p:spPr>
          <a:xfrm>
            <a:off x="3429000" y="3429000"/>
            <a:ext cx="2011680" cy="1188720"/>
          </a:xfrm>
          <a:prstGeom prst="rect">
            <a:avLst/>
          </a:prstGeom>
          <a:noFill/>
        </p:spPr>
        <p:txBody>
          <a:bodyPr wrap="square" lIns="0" tIns="0" rIns="0" bIns="0" rtlCol="0" anchor="ctr"/>
          <a:lstStyle/>
          <a:p>
            <a:pPr marL="0" indent="0">
              <a:lnSpc>
                <a:spcPct val="125000"/>
              </a:lnSpc>
              <a:buNone/>
            </a:pP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docker push</a:t>
            </a:r>
            <a:endPar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endParaRPr>
          </a:p>
          <a:p>
            <a:pPr marL="0" indent="0">
              <a:lnSpc>
                <a:spcPct val="125000"/>
              </a:lnSpc>
              <a:buNone/>
            </a:pP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to ACR</a:t>
            </a:r>
            <a:endPar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Text 10"/>
          <p:cNvSpPr txBox="1"/>
          <p:nvPr/>
        </p:nvSpPr>
        <p:spPr>
          <a:xfrm>
            <a:off x="5623560" y="3429000"/>
            <a:ext cx="320040" cy="548640"/>
          </a:xfrm>
          <a:prstGeom prst="rect">
            <a:avLst/>
          </a:prstGeom>
          <a:noFill/>
        </p:spPr>
        <p:txBody>
          <a:bodyPr wrap="square" lIns="0" tIns="0" rIns="0" bIns="0" rtlCol="0" anchor="ctr"/>
          <a:lstStyle/>
          <a:p>
            <a:pPr marL="0" indent="0" algn="ctr">
              <a:buNone/>
            </a:pPr>
            <a:r>
              <a:rPr lang="en-US" sz="2200" b="1" dirty="0">
                <a:solidFill>
                  <a:srgbClr val="1E2761"/>
                </a:solidFill>
                <a:latin typeface="Calibri" panose="020F0502020204030204" pitchFamily="34" charset="0"/>
                <a:ea typeface="Calibri" panose="020F0502020204030204" pitchFamily="34" charset="-122"/>
                <a:cs typeface="Calibri" panose="020F0502020204030204" pitchFamily="34" charset="-120"/>
              </a:rPr>
              <a:t>→</a:t>
            </a:r>
            <a:endParaRPr lang="en-US" sz="2200" dirty="0"/>
          </a:p>
        </p:txBody>
      </p:sp>
      <p:sp>
        <p:nvSpPr>
          <p:cNvPr id="13" name="Shape 11"/>
          <p:cNvSpPr/>
          <p:nvPr/>
        </p:nvSpPr>
        <p:spPr>
          <a:xfrm>
            <a:off x="5943600" y="2651760"/>
            <a:ext cx="2377440" cy="2103120"/>
          </a:xfrm>
          <a:prstGeom prst="roundRect">
            <a:avLst>
              <a:gd name="adj" fmla="val 4348"/>
            </a:avLst>
          </a:prstGeom>
          <a:solidFill>
            <a:srgbClr val="1E2761"/>
          </a:solidFill>
        </p:spPr>
      </p:sp>
      <p:sp>
        <p:nvSpPr>
          <p:cNvPr id="14" name="Text 12"/>
          <p:cNvSpPr txBox="1"/>
          <p:nvPr/>
        </p:nvSpPr>
        <p:spPr>
          <a:xfrm>
            <a:off x="6126480" y="2880360"/>
            <a:ext cx="2011680" cy="457200"/>
          </a:xfrm>
          <a:prstGeom prst="rect">
            <a:avLst/>
          </a:prstGeom>
          <a:noFill/>
        </p:spPr>
        <p:txBody>
          <a:bodyPr wrap="square" lIns="0" tIns="0" rIns="0" bIns="0" rtlCol="0" anchor="ctr"/>
          <a:lstStyle/>
          <a:p>
            <a:pPr marL="0" indent="0">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3. Verify</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Text 13"/>
          <p:cNvSpPr txBox="1"/>
          <p:nvPr/>
        </p:nvSpPr>
        <p:spPr>
          <a:xfrm>
            <a:off x="6126480" y="3429000"/>
            <a:ext cx="2011680" cy="1188720"/>
          </a:xfrm>
          <a:prstGeom prst="rect">
            <a:avLst/>
          </a:prstGeom>
          <a:noFill/>
        </p:spPr>
        <p:txBody>
          <a:bodyPr wrap="square" lIns="0" tIns="0" rIns="0" bIns="0" rtlCol="0" anchor="ctr"/>
          <a:lstStyle/>
          <a:p>
            <a:pPr marL="0" indent="0">
              <a:lnSpc>
                <a:spcPct val="125000"/>
              </a:lnSpc>
              <a:buNone/>
            </a:pP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new revision, 0% traffic</a:t>
            </a:r>
            <a:endPar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endParaRPr>
          </a:p>
          <a:p>
            <a:pPr marL="0" indent="0">
              <a:lnSpc>
                <a:spcPct val="125000"/>
              </a:lnSpc>
              <a:buNone/>
            </a:pP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HIT/MISS live</a:t>
            </a:r>
            <a:endPar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4"/>
          <p:cNvSpPr txBox="1"/>
          <p:nvPr/>
        </p:nvSpPr>
        <p:spPr>
          <a:xfrm>
            <a:off x="8321040" y="3429000"/>
            <a:ext cx="320040" cy="548640"/>
          </a:xfrm>
          <a:prstGeom prst="rect">
            <a:avLst/>
          </a:prstGeom>
          <a:noFill/>
        </p:spPr>
        <p:txBody>
          <a:bodyPr wrap="square" lIns="0" tIns="0" rIns="0" bIns="0" rtlCol="0" anchor="ctr"/>
          <a:lstStyle/>
          <a:p>
            <a:pPr marL="0" indent="0" algn="ctr">
              <a:buNone/>
            </a:pPr>
            <a:r>
              <a:rPr lang="en-US" sz="2200" b="1" dirty="0">
                <a:solidFill>
                  <a:srgbClr val="1E2761"/>
                </a:solidFill>
                <a:latin typeface="Calibri" panose="020F0502020204030204" pitchFamily="34" charset="0"/>
                <a:ea typeface="Calibri" panose="020F0502020204030204" pitchFamily="34" charset="-122"/>
                <a:cs typeface="Calibri" panose="020F0502020204030204" pitchFamily="34" charset="-120"/>
              </a:rPr>
              <a:t>→</a:t>
            </a:r>
            <a:endParaRPr lang="en-US" sz="2200" dirty="0"/>
          </a:p>
        </p:txBody>
      </p:sp>
      <p:sp>
        <p:nvSpPr>
          <p:cNvPr id="17" name="Shape 15"/>
          <p:cNvSpPr/>
          <p:nvPr/>
        </p:nvSpPr>
        <p:spPr>
          <a:xfrm>
            <a:off x="8641080" y="2651760"/>
            <a:ext cx="2377440" cy="2103120"/>
          </a:xfrm>
          <a:prstGeom prst="roundRect">
            <a:avLst>
              <a:gd name="adj" fmla="val 4348"/>
            </a:avLst>
          </a:prstGeom>
          <a:solidFill>
            <a:srgbClr val="F2A93B"/>
          </a:solidFill>
        </p:spPr>
      </p:sp>
      <p:sp>
        <p:nvSpPr>
          <p:cNvPr id="18" name="Text 16"/>
          <p:cNvSpPr txBox="1"/>
          <p:nvPr/>
        </p:nvSpPr>
        <p:spPr>
          <a:xfrm>
            <a:off x="8823960" y="2880360"/>
            <a:ext cx="2011680" cy="457200"/>
          </a:xfrm>
          <a:prstGeom prst="rect">
            <a:avLst/>
          </a:prstGeom>
          <a:noFill/>
        </p:spPr>
        <p:txBody>
          <a:bodyPr wrap="square" lIns="0" tIns="0" rIns="0" bIns="0" rtlCol="0" anchor="ctr"/>
          <a:lstStyle/>
          <a:p>
            <a:pPr marL="0" indent="0">
              <a:buNone/>
            </a:pPr>
            <a:r>
              <a:rPr lang="en-US" sz="1600" b="1" dirty="0">
                <a:solidFill>
                  <a:srgbClr val="1E2761"/>
                </a:solidFill>
                <a:latin typeface="Calibri" panose="020F0502020204030204" pitchFamily="34" charset="0"/>
                <a:ea typeface="Calibri" panose="020F0502020204030204" pitchFamily="34" charset="-122"/>
                <a:cs typeface="Calibri" panose="020F0502020204030204" pitchFamily="34" charset="-120"/>
              </a:rPr>
              <a:t>4. Shift traffic</a:t>
            </a:r>
            <a:endParaRPr lang="en-US" sz="1600" b="1" dirty="0">
              <a:solidFill>
                <a:srgbClr val="1E2761"/>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Text 17"/>
          <p:cNvSpPr txBox="1"/>
          <p:nvPr/>
        </p:nvSpPr>
        <p:spPr>
          <a:xfrm>
            <a:off x="8823960" y="3429000"/>
            <a:ext cx="2011680" cy="1188720"/>
          </a:xfrm>
          <a:prstGeom prst="rect">
            <a:avLst/>
          </a:prstGeom>
          <a:noFill/>
        </p:spPr>
        <p:txBody>
          <a:bodyPr wrap="square" lIns="0" tIns="0" rIns="0" bIns="0" rtlCol="0" anchor="ctr"/>
          <a:lstStyle/>
          <a:p>
            <a:pPr marL="0" indent="0">
              <a:lnSpc>
                <a:spcPct val="125000"/>
              </a:lnSpc>
              <a:buNone/>
            </a:pPr>
            <a:r>
              <a:rPr lang="en-US" sz="1250" dirty="0">
                <a:solidFill>
                  <a:srgbClr val="1E2761"/>
                </a:solidFill>
                <a:latin typeface="Calibri" panose="020F0502020204030204" pitchFamily="34" charset="0"/>
                <a:ea typeface="Calibri" panose="020F0502020204030204" pitchFamily="34" charset="-122"/>
                <a:cs typeface="Calibri" panose="020F0502020204030204" pitchFamily="34" charset="-120"/>
              </a:rPr>
              <a:t>containerapp ingress</a:t>
            </a:r>
            <a:endParaRPr lang="en-US" sz="1250" dirty="0">
              <a:solidFill>
                <a:srgbClr val="1E2761"/>
              </a:solidFill>
              <a:latin typeface="Calibri" panose="020F0502020204030204" pitchFamily="34" charset="0"/>
              <a:ea typeface="Calibri" panose="020F0502020204030204" pitchFamily="34" charset="-122"/>
              <a:cs typeface="Calibri" panose="020F0502020204030204" pitchFamily="34" charset="-120"/>
            </a:endParaRPr>
          </a:p>
          <a:p>
            <a:pPr marL="0" indent="0">
              <a:lnSpc>
                <a:spcPct val="125000"/>
              </a:lnSpc>
              <a:buNone/>
            </a:pPr>
            <a:r>
              <a:rPr lang="en-US" sz="1250" dirty="0">
                <a:solidFill>
                  <a:srgbClr val="1E2761"/>
                </a:solidFill>
                <a:latin typeface="Calibri" panose="020F0502020204030204" pitchFamily="34" charset="0"/>
                <a:ea typeface="Calibri" panose="020F0502020204030204" pitchFamily="34" charset="-122"/>
                <a:cs typeface="Calibri" panose="020F0502020204030204" pitchFamily="34" charset="-120"/>
              </a:rPr>
              <a:t>traffic set --weight 100</a:t>
            </a:r>
            <a:endParaRPr lang="en-US" sz="1250" dirty="0">
              <a:solidFill>
                <a:srgbClr val="1E2761"/>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Shape 18"/>
          <p:cNvSpPr/>
          <p:nvPr/>
        </p:nvSpPr>
        <p:spPr>
          <a:xfrm>
            <a:off x="548640" y="5074920"/>
            <a:ext cx="10698480" cy="1005840"/>
          </a:xfrm>
          <a:prstGeom prst="roundRect">
            <a:avLst>
              <a:gd name="adj" fmla="val 9091"/>
            </a:avLst>
          </a:prstGeom>
          <a:solidFill>
            <a:srgbClr val="F5F6FA"/>
          </a:solidFill>
          <a:ln w="12700">
            <a:solidFill>
              <a:srgbClr val="DFE2EA"/>
            </a:solidFill>
            <a:prstDash val="solid"/>
          </a:ln>
        </p:spPr>
      </p:sp>
      <p:sp>
        <p:nvSpPr>
          <p:cNvPr id="21" name="Text 19"/>
          <p:cNvSpPr txBox="1"/>
          <p:nvPr/>
        </p:nvSpPr>
        <p:spPr>
          <a:xfrm>
            <a:off x="868680" y="5074920"/>
            <a:ext cx="10058400" cy="1005840"/>
          </a:xfrm>
          <a:prstGeom prst="rect">
            <a:avLst/>
          </a:prstGeom>
          <a:noFill/>
        </p:spPr>
        <p:txBody>
          <a:bodyPr wrap="square" lIns="0" tIns="0" rIns="0" bIns="0" rtlCol="0" anchor="ctr"/>
          <a:lstStyle/>
          <a:p>
            <a:pPr marL="0" indent="0">
              <a:lnSpc>
                <a:spcPct val="120000"/>
              </a:lnSpc>
              <a:buNone/>
            </a:pPr>
            <a:r>
              <a:rPr lang="en-US" sz="1400" i="1" dirty="0">
                <a:solidFill>
                  <a:srgbClr val="1E2761"/>
                </a:solidFill>
                <a:latin typeface="Calibri" panose="020F0502020204030204" pitchFamily="34" charset="0"/>
                <a:ea typeface="Calibri" panose="020F0502020204030204" pitchFamily="34" charset="-122"/>
                <a:cs typeface="Calibri" panose="020F0502020204030204" pitchFamily="34" charset="-120"/>
              </a:rPr>
              <a:t>/titles/count on the new revision's own FQDN: first load is a MISS with a real requestCharge (e.g. 2.89 RUs); reload immediately and it's a HIT with requestCharge 0. Then catalog-ui gets a matching pill in its top bar — green dot for HIT, amber for MISS, same 30s TTL, visible end to end.</a:t>
            </a:r>
            <a:endParaRPr lang="en-US" sz="1400" i="1" dirty="0">
              <a:solidFill>
                <a:srgbClr val="1E2761"/>
              </a:solidFill>
              <a:latin typeface="Calibri" panose="020F0502020204030204" pitchFamily="34" charset="0"/>
              <a:ea typeface="Calibri" panose="020F0502020204030204" pitchFamily="34" charset="-122"/>
              <a:cs typeface="Calibri" panose="020F0502020204030204" pitchFamily="34" charset="-120"/>
            </a:endParaRPr>
          </a:p>
        </p:txBody>
      </p:sp>
      <p:sp>
        <p:nvSpPr>
          <p:cNvPr id="22" name="Text 20"/>
          <p:cNvSpPr txBox="1"/>
          <p:nvPr/>
        </p:nvSpPr>
        <p:spPr>
          <a:xfrm>
            <a:off x="548640" y="6537960"/>
            <a:ext cx="9144000" cy="274320"/>
          </a:xfrm>
          <a:prstGeom prst="rect">
            <a:avLst/>
          </a:prstGeom>
          <a:noFill/>
        </p:spPr>
        <p:txBody>
          <a:bodyPr wrap="square" lIns="0" tIns="0" rIns="0" bIns="0" rtlCol="0" anchor="ctr"/>
          <a:lstStyle/>
          <a:p>
            <a:pPr marL="0" indent="0">
              <a:buNone/>
            </a:pPr>
            <a:r>
              <a:rPr lang="en-US" sz="900" dirty="0">
                <a:solidFill>
                  <a:srgbClr val="9AA0AE"/>
                </a:solidFill>
                <a:latin typeface="Calibri" panose="020F0502020204030204" pitchFamily="34" charset="0"/>
                <a:ea typeface="Calibri" panose="020F0502020204030204" pitchFamily="34" charset="-122"/>
                <a:cs typeface="Calibri" panose="020F0502020204030204" pitchFamily="34" charset="-120"/>
              </a:rPr>
              <a:t>Modern Enterprise Software Engineering  |  ÉSTIAM  |  Day 2, Morning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0698480" y="457200"/>
            <a:ext cx="914400" cy="914400"/>
          </a:xfrm>
          <a:prstGeom prst="ellipse">
            <a:avLst/>
          </a:prstGeom>
          <a:solidFill>
            <a:srgbClr val="F2A93B"/>
          </a:solidFill>
        </p:spPr>
      </p:sp>
      <p:sp>
        <p:nvSpPr>
          <p:cNvPr id="3" name="Text 1"/>
          <p:cNvSpPr txBox="1"/>
          <p:nvPr/>
        </p:nvSpPr>
        <p:spPr>
          <a:xfrm>
            <a:off x="731520" y="2331720"/>
            <a:ext cx="7315200" cy="457200"/>
          </a:xfrm>
          <a:prstGeom prst="rect">
            <a:avLst/>
          </a:prstGeom>
          <a:noFill/>
        </p:spPr>
        <p:txBody>
          <a:bodyPr wrap="square" lIns="0" tIns="0" rIns="0" bIns="0" rtlCol="0" anchor="ctr"/>
          <a:lstStyle/>
          <a:p>
            <a:pPr marL="0" indent="0">
              <a:buNone/>
            </a:pPr>
            <a:r>
              <a:rPr lang="en-US" sz="1400" b="1" kern="0" spc="100" dirty="0">
                <a:solidFill>
                  <a:srgbClr val="F2A93B"/>
                </a:solidFill>
                <a:latin typeface="Calibri" panose="020F0502020204030204" pitchFamily="34" charset="0"/>
                <a:ea typeface="Calibri" panose="020F0502020204030204" pitchFamily="34" charset="-122"/>
                <a:cs typeface="Calibri" panose="020F0502020204030204" pitchFamily="34" charset="-120"/>
              </a:rPr>
              <a:t>Topic 2</a:t>
            </a:r>
            <a:endParaRPr lang="en-US" sz="1400" dirty="0"/>
          </a:p>
        </p:txBody>
      </p:sp>
      <p:sp>
        <p:nvSpPr>
          <p:cNvPr id="4" name="Text 2"/>
          <p:cNvSpPr txBox="1"/>
          <p:nvPr/>
        </p:nvSpPr>
        <p:spPr>
          <a:xfrm>
            <a:off x="731520" y="2743200"/>
            <a:ext cx="10058400" cy="91440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Application Insights</a:t>
            </a:r>
            <a:endParaRPr lang="en-US" sz="3400" dirty="0"/>
          </a:p>
        </p:txBody>
      </p:sp>
      <p:sp>
        <p:nvSpPr>
          <p:cNvPr id="5" name="Text 3"/>
          <p:cNvSpPr txBox="1"/>
          <p:nvPr/>
        </p:nvSpPr>
        <p:spPr>
          <a:xfrm>
            <a:off x="731520" y="3794760"/>
            <a:ext cx="9601200" cy="731520"/>
          </a:xfrm>
          <a:prstGeom prst="rect">
            <a:avLst/>
          </a:prstGeom>
          <a:noFill/>
        </p:spPr>
        <p:txBody>
          <a:bodyPr wrap="square" lIns="0" tIns="0" rIns="0" bIns="0" rtlCol="0" anchor="ctr"/>
          <a:lstStyle/>
          <a:p>
            <a:pPr marL="0" indent="0">
              <a:lnSpc>
                <a:spcPct val="125000"/>
              </a:lnSpc>
              <a:buNone/>
            </a:pPr>
            <a:r>
              <a:rPr lang="en-US" sz="1500" dirty="0">
                <a:solidFill>
                  <a:srgbClr val="CADCFC"/>
                </a:solidFill>
                <a:latin typeface="Calibri" panose="020F0502020204030204" pitchFamily="34" charset="0"/>
                <a:ea typeface="Calibri" panose="020F0502020204030204" pitchFamily="34" charset="-122"/>
                <a:cs typeface="Calibri" panose="020F0502020204030204" pitchFamily="34" charset="-120"/>
              </a:rPr>
              <a:t>Caching is REQUIRED to be understood, not required in the project. Application Insights is required in the project — this is the part students actually build.</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365760"/>
          </a:xfrm>
          <a:prstGeom prst="rect">
            <a:avLst/>
          </a:prstGeom>
          <a:noFill/>
        </p:spPr>
        <p:txBody>
          <a:bodyPr wrap="square" lIns="0" tIns="0" rIns="0" bIns="0" rtlCol="0" anchor="ctr"/>
          <a:lstStyle/>
          <a:p>
            <a:pPr marL="0" indent="0">
              <a:buNone/>
            </a:pPr>
            <a:r>
              <a:rPr lang="en-US" sz="1200" b="1" kern="0" spc="100" dirty="0">
                <a:solidFill>
                  <a:srgbClr val="F2A93B"/>
                </a:solidFill>
                <a:latin typeface="Calibri" panose="020F0502020204030204" pitchFamily="34" charset="0"/>
                <a:ea typeface="Calibri" panose="020F0502020204030204" pitchFamily="34" charset="-122"/>
                <a:cs typeface="Calibri" panose="020F0502020204030204" pitchFamily="34" charset="-120"/>
              </a:rPr>
              <a:t>DAY 3, SOUTENANCE</a:t>
            </a:r>
            <a:endParaRPr lang="en-US" sz="1200" dirty="0"/>
          </a:p>
        </p:txBody>
      </p:sp>
      <p:sp>
        <p:nvSpPr>
          <p:cNvPr id="3" name="Text 1"/>
          <p:cNvSpPr txBox="1"/>
          <p:nvPr/>
        </p:nvSpPr>
        <p:spPr>
          <a:xfrm>
            <a:off x="548640" y="685800"/>
            <a:ext cx="10972800" cy="640080"/>
          </a:xfrm>
          <a:prstGeom prst="rect">
            <a:avLst/>
          </a:prstGeom>
          <a:noFill/>
        </p:spPr>
        <p:txBody>
          <a:bodyPr wrap="square" lIns="0" tIns="0" rIns="0" bIns="0" rtlCol="0" anchor="ctr"/>
          <a:lstStyle/>
          <a:p>
            <a:pPr marL="0" indent="0">
              <a:buNone/>
            </a:pPr>
            <a:r>
              <a:rPr lang="en-US" sz="2800" b="1" dirty="0">
                <a:solidFill>
                  <a:srgbClr val="1E2761"/>
                </a:solidFill>
                <a:latin typeface="Cambria" panose="02040503050406030204" pitchFamily="34" charset="0"/>
                <a:ea typeface="Cambria" panose="02040503050406030204" pitchFamily="34" charset="-122"/>
                <a:cs typeface="Cambria" panose="02040503050406030204" pitchFamily="34" charset="-120"/>
              </a:rPr>
              <a:t>Your </a:t>
            </a:r>
            <a:r>
              <a:rPr lang="en-IE" altLang="en-US" sz="2800" b="1" dirty="0">
                <a:solidFill>
                  <a:srgbClr val="1E2761"/>
                </a:solidFill>
                <a:latin typeface="Cambria" panose="02040503050406030204" pitchFamily="34" charset="0"/>
                <a:ea typeface="Cambria" panose="02040503050406030204" pitchFamily="34" charset="-122"/>
                <a:cs typeface="Cambria" panose="02040503050406030204" pitchFamily="34" charset="-120"/>
              </a:rPr>
              <a:t>user </a:t>
            </a:r>
            <a:r>
              <a:rPr lang="en-US" sz="2800" b="1" dirty="0">
                <a:solidFill>
                  <a:srgbClr val="1E2761"/>
                </a:solidFill>
                <a:latin typeface="Cambria" panose="02040503050406030204" pitchFamily="34" charset="0"/>
                <a:ea typeface="Cambria" panose="02040503050406030204" pitchFamily="34" charset="-122"/>
                <a:cs typeface="Cambria" panose="02040503050406030204" pitchFamily="34" charset="-120"/>
              </a:rPr>
              <a:t>is blind</a:t>
            </a:r>
            <a:endParaRPr lang="en-US" sz="2800" dirty="0"/>
          </a:p>
        </p:txBody>
      </p:sp>
      <p:sp>
        <p:nvSpPr>
          <p:cNvPr id="4" name="Shape 2"/>
          <p:cNvSpPr/>
          <p:nvPr/>
        </p:nvSpPr>
        <p:spPr>
          <a:xfrm>
            <a:off x="548640" y="1645920"/>
            <a:ext cx="10698480" cy="2926080"/>
          </a:xfrm>
          <a:prstGeom prst="roundRect">
            <a:avLst>
              <a:gd name="adj" fmla="val 3750"/>
            </a:avLst>
          </a:prstGeom>
          <a:solidFill>
            <a:srgbClr val="FFFFFF"/>
          </a:solidFill>
          <a:ln w="12700">
            <a:solidFill>
              <a:srgbClr val="DFE2EA"/>
            </a:solidFill>
            <a:prstDash val="solid"/>
          </a:ln>
          <a:effectLst>
            <a:outerShdw blurRad="101600" dist="38100" dir="5400000" algn="bl" rotWithShape="0">
              <a:srgbClr val="000000">
                <a:alpha val="12000"/>
              </a:srgbClr>
            </a:outerShdw>
          </a:effectLst>
        </p:spPr>
      </p:sp>
      <p:sp>
        <p:nvSpPr>
          <p:cNvPr id="5" name="Text 3"/>
          <p:cNvSpPr txBox="1"/>
          <p:nvPr/>
        </p:nvSpPr>
        <p:spPr>
          <a:xfrm>
            <a:off x="914400" y="1920240"/>
            <a:ext cx="10058400" cy="640080"/>
          </a:xfrm>
          <a:prstGeom prst="rect">
            <a:avLst/>
          </a:prstGeom>
          <a:noFill/>
        </p:spPr>
        <p:txBody>
          <a:bodyPr wrap="square" lIns="0" tIns="0" rIns="0" bIns="0" rtlCol="0" anchor="ctr"/>
          <a:lstStyle/>
          <a:p>
            <a:pPr marL="0" indent="0">
              <a:buNone/>
            </a:pPr>
            <a:r>
              <a:rPr b="1">
                <a:solidFill>
                  <a:srgbClr val="1C1F2A"/>
                </a:solidFill>
                <a:latin typeface="Calibri" panose="020F0502020204030204"/>
                <a:ea typeface="Calibri" panose="020F0502020204030204"/>
                <a:cs typeface="Calibri" panose="020F0502020204030204"/>
                <a:sym typeface="+mn-ea"/>
              </a:rPr>
              <a:t>A </a:t>
            </a:r>
            <a:r>
              <a:rPr lang="pt-BR" b="1">
                <a:solidFill>
                  <a:srgbClr val="1C1F2A"/>
                </a:solidFill>
                <a:latin typeface="Calibri" panose="020F0502020204030204"/>
                <a:ea typeface="Calibri" panose="020F0502020204030204"/>
                <a:cs typeface="Calibri" panose="020F0502020204030204"/>
                <a:sym typeface="+mn-ea"/>
              </a:rPr>
              <a:t>user tries to create a title</a:t>
            </a:r>
            <a:r>
              <a:rPr b="1">
                <a:solidFill>
                  <a:srgbClr val="1C1F2A"/>
                </a:solidFill>
                <a:latin typeface="Calibri" panose="020F0502020204030204"/>
                <a:ea typeface="Calibri" panose="020F0502020204030204"/>
                <a:cs typeface="Calibri" panose="020F0502020204030204"/>
                <a:sym typeface="+mn-ea"/>
              </a:rPr>
              <a:t>.</a:t>
            </a:r>
            <a:r>
              <a:rPr lang="en-US" sz="1800" b="1" dirty="0">
                <a:solidFill>
                  <a:srgbClr val="1C1F2A"/>
                </a:solidFill>
                <a:latin typeface="Calibri" panose="020F0502020204030204" pitchFamily="34" charset="0"/>
                <a:ea typeface="Calibri" panose="020F0502020204030204" pitchFamily="34" charset="-122"/>
                <a:cs typeface="Calibri" panose="020F0502020204030204" pitchFamily="34" charset="-120"/>
              </a:rPr>
              <a:t> It hangs, then times out with a generic 500.</a:t>
            </a:r>
            <a:endParaRPr lang="en-US" sz="1800" dirty="0"/>
          </a:p>
        </p:txBody>
      </p:sp>
      <p:sp>
        <p:nvSpPr>
          <p:cNvPr id="6" name="Text 4"/>
          <p:cNvSpPr txBox="1"/>
          <p:nvPr/>
        </p:nvSpPr>
        <p:spPr>
          <a:xfrm>
            <a:off x="914400" y="2651760"/>
            <a:ext cx="10058400" cy="1463040"/>
          </a:xfrm>
          <a:prstGeom prst="rect">
            <a:avLst/>
          </a:prstGeom>
          <a:noFill/>
        </p:spPr>
        <p:txBody>
          <a:bodyPr wrap="square" lIns="0" tIns="0" rIns="0" bIns="0" rtlCol="0" anchor="ctr"/>
          <a:lstStyle/>
          <a:p>
            <a:pPr marL="0" indent="0">
              <a:lnSpc>
                <a:spcPct val="125000"/>
              </a:lnSpc>
              <a:buNone/>
            </a:pPr>
            <a:r>
              <a:rPr lang="en-US" sz="1500" dirty="0">
                <a:solidFill>
                  <a:srgbClr val="5A5F73"/>
                </a:solidFill>
                <a:latin typeface="Calibri" panose="020F0502020204030204" pitchFamily="34" charset="0"/>
                <a:ea typeface="Calibri" panose="020F0502020204030204" pitchFamily="34" charset="-122"/>
                <a:cs typeface="Calibri" panose="020F0502020204030204" pitchFamily="34" charset="-120"/>
              </a:rPr>
              <a:t>Right now, their only options are dotnet run's console or az containerapp logs show — and both only show what they thought to log ahead of time. If the failure is inside Cosmos, Blob, or Key Vault, they get a generic 500 with no idea which one broke.</a:t>
            </a:r>
            <a:endParaRPr lang="en-US" sz="1500" dirty="0">
              <a:solidFill>
                <a:srgbClr val="5A5F73"/>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Text 5"/>
          <p:cNvSpPr txBox="1"/>
          <p:nvPr/>
        </p:nvSpPr>
        <p:spPr>
          <a:xfrm>
            <a:off x="914400" y="3977640"/>
            <a:ext cx="10058400" cy="548640"/>
          </a:xfrm>
          <a:prstGeom prst="rect">
            <a:avLst/>
          </a:prstGeom>
          <a:noFill/>
        </p:spPr>
        <p:txBody>
          <a:bodyPr wrap="square" lIns="0" tIns="0" rIns="0" bIns="0" rtlCol="0" anchor="ctr"/>
          <a:lstStyle/>
          <a:p>
            <a:pPr marL="0" indent="0">
              <a:buNone/>
            </a:pPr>
            <a:r>
              <a:rPr lang="en-US" sz="1400" i="1" dirty="0">
                <a:solidFill>
                  <a:srgbClr val="F2A93B"/>
                </a:solidFill>
                <a:latin typeface="Calibri" panose="020F0502020204030204" pitchFamily="34" charset="0"/>
                <a:ea typeface="Calibri" panose="020F0502020204030204" pitchFamily="34" charset="-122"/>
                <a:cs typeface="Calibri" panose="020F0502020204030204" pitchFamily="34" charset="-120"/>
              </a:rPr>
              <a:t>That blindness is expensive precisely when it matters most — during the soutenance, in front of you, with the clock running.</a:t>
            </a:r>
            <a:endParaRPr lang="en-US" sz="1400" dirty="0"/>
          </a:p>
        </p:txBody>
      </p:sp>
      <p:sp>
        <p:nvSpPr>
          <p:cNvPr id="8" name="Text 6"/>
          <p:cNvSpPr txBox="1"/>
          <p:nvPr/>
        </p:nvSpPr>
        <p:spPr>
          <a:xfrm>
            <a:off x="548640" y="6537960"/>
            <a:ext cx="9144000" cy="274320"/>
          </a:xfrm>
          <a:prstGeom prst="rect">
            <a:avLst/>
          </a:prstGeom>
          <a:noFill/>
        </p:spPr>
        <p:txBody>
          <a:bodyPr wrap="square" lIns="0" tIns="0" rIns="0" bIns="0" rtlCol="0" anchor="ctr"/>
          <a:lstStyle/>
          <a:p>
            <a:pPr marL="0" indent="0">
              <a:buNone/>
            </a:pPr>
            <a:r>
              <a:rPr lang="en-US" sz="900" dirty="0">
                <a:solidFill>
                  <a:srgbClr val="9AA0AE"/>
                </a:solidFill>
                <a:latin typeface="Calibri" panose="020F0502020204030204" pitchFamily="34" charset="0"/>
                <a:ea typeface="Calibri" panose="020F0502020204030204" pitchFamily="34" charset="-122"/>
                <a:cs typeface="Calibri" panose="020F0502020204030204" pitchFamily="34" charset="-120"/>
              </a:rPr>
              <a:t>Modern Enterprise Software Engineering  |  ÉSTIAM  |  Day 2, Morning</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365760"/>
          </a:xfrm>
          <a:prstGeom prst="rect">
            <a:avLst/>
          </a:prstGeom>
          <a:noFill/>
        </p:spPr>
        <p:txBody>
          <a:bodyPr wrap="square" lIns="0" tIns="0" rIns="0" bIns="0" rtlCol="0" anchor="ctr"/>
          <a:lstStyle/>
          <a:p>
            <a:pPr marL="0" indent="0">
              <a:buNone/>
            </a:pPr>
            <a:r>
              <a:rPr lang="en-US" sz="1200" b="1" kern="0" spc="100" dirty="0">
                <a:solidFill>
                  <a:srgbClr val="F2A93B"/>
                </a:solidFill>
                <a:latin typeface="Calibri" panose="020F0502020204030204" pitchFamily="34" charset="0"/>
                <a:ea typeface="Calibri" panose="020F0502020204030204" pitchFamily="34" charset="-122"/>
                <a:cs typeface="Calibri" panose="020F0502020204030204" pitchFamily="34" charset="-120"/>
              </a:rPr>
              <a:t>TOPIC 2 — APPLICATION INSIGHTS</a:t>
            </a:r>
            <a:endParaRPr lang="en-US" sz="1200" dirty="0"/>
          </a:p>
        </p:txBody>
      </p:sp>
      <p:sp>
        <p:nvSpPr>
          <p:cNvPr id="3" name="Text 1"/>
          <p:cNvSpPr txBox="1"/>
          <p:nvPr/>
        </p:nvSpPr>
        <p:spPr>
          <a:xfrm>
            <a:off x="548640" y="685800"/>
            <a:ext cx="10972800" cy="640080"/>
          </a:xfrm>
          <a:prstGeom prst="rect">
            <a:avLst/>
          </a:prstGeom>
          <a:noFill/>
        </p:spPr>
        <p:txBody>
          <a:bodyPr wrap="square" lIns="0" tIns="0" rIns="0" bIns="0" rtlCol="0" anchor="ctr"/>
          <a:lstStyle/>
          <a:p>
            <a:pPr marL="0" indent="0">
              <a:buNone/>
            </a:pPr>
            <a:r>
              <a:rPr lang="en-US" sz="2800" b="1" dirty="0">
                <a:solidFill>
                  <a:srgbClr val="1E2761"/>
                </a:solidFill>
                <a:latin typeface="Cambria" panose="02040503050406030204" pitchFamily="34" charset="0"/>
                <a:ea typeface="Cambria" panose="02040503050406030204" pitchFamily="34" charset="-122"/>
                <a:cs typeface="Cambria" panose="02040503050406030204" pitchFamily="34" charset="-120"/>
              </a:rPr>
              <a:t>Free telemetry, and the opt-in kind</a:t>
            </a:r>
            <a:endParaRPr lang="en-US" sz="2800" dirty="0"/>
          </a:p>
        </p:txBody>
      </p:sp>
      <p:sp>
        <p:nvSpPr>
          <p:cNvPr id="4" name="Shape 2"/>
          <p:cNvSpPr/>
          <p:nvPr/>
        </p:nvSpPr>
        <p:spPr>
          <a:xfrm>
            <a:off x="548640" y="1600200"/>
            <a:ext cx="5212080" cy="4160520"/>
          </a:xfrm>
          <a:prstGeom prst="roundRect">
            <a:avLst>
              <a:gd name="adj" fmla="val 2198"/>
            </a:avLst>
          </a:prstGeom>
          <a:solidFill>
            <a:srgbClr val="E5F5EC"/>
          </a:solidFill>
          <a:ln w="12700">
            <a:solidFill>
              <a:srgbClr val="1A7F4B"/>
            </a:solidFill>
            <a:prstDash val="solid"/>
          </a:ln>
        </p:spPr>
      </p:sp>
      <p:sp>
        <p:nvSpPr>
          <p:cNvPr id="5" name="Text 3"/>
          <p:cNvSpPr txBox="1"/>
          <p:nvPr/>
        </p:nvSpPr>
        <p:spPr>
          <a:xfrm>
            <a:off x="868680" y="1783080"/>
            <a:ext cx="4572000" cy="365760"/>
          </a:xfrm>
          <a:prstGeom prst="rect">
            <a:avLst/>
          </a:prstGeom>
          <a:noFill/>
        </p:spPr>
        <p:txBody>
          <a:bodyPr wrap="square" lIns="0" tIns="0" rIns="0" bIns="0" rtlCol="0" anchor="ctr"/>
          <a:lstStyle/>
          <a:p>
            <a:pPr marL="0" indent="0">
              <a:buNone/>
            </a:pPr>
            <a:r>
              <a:rPr lang="en-US" sz="1500" b="1" dirty="0">
                <a:solidFill>
                  <a:srgbClr val="1A7F4B"/>
                </a:solidFill>
                <a:latin typeface="Calibri" panose="020F0502020204030204" pitchFamily="34" charset="0"/>
                <a:ea typeface="Calibri" panose="020F0502020204030204" pitchFamily="34" charset="-122"/>
                <a:cs typeface="Calibri" panose="020F0502020204030204" pitchFamily="34" charset="-120"/>
              </a:rPr>
              <a:t>Automatic — zero extra code</a:t>
            </a:r>
            <a:endParaRPr lang="en-US" sz="1500" dirty="0"/>
          </a:p>
        </p:txBody>
      </p:sp>
      <p:sp>
        <p:nvSpPr>
          <p:cNvPr id="6" name="Text 4"/>
          <p:cNvSpPr txBox="1"/>
          <p:nvPr/>
        </p:nvSpPr>
        <p:spPr>
          <a:xfrm>
            <a:off x="868680" y="2286000"/>
            <a:ext cx="4572000" cy="320040"/>
          </a:xfrm>
          <a:prstGeom prst="rect">
            <a:avLst/>
          </a:prstGeom>
          <a:noFill/>
        </p:spPr>
        <p:txBody>
          <a:bodyPr wrap="square" lIns="0" tIns="0" rIns="0" bIns="0" rtlCol="0" anchor="ctr"/>
          <a:lstStyle/>
          <a:p>
            <a:pPr marL="0" indent="0">
              <a:buNone/>
            </a:pPr>
            <a:r>
              <a:rPr lang="en-US" sz="1400" b="1" dirty="0">
                <a:solidFill>
                  <a:srgbClr val="1C1F2A"/>
                </a:solidFill>
                <a:latin typeface="Calibri" panose="020F0502020204030204" pitchFamily="34" charset="0"/>
                <a:ea typeface="Calibri" panose="020F0502020204030204" pitchFamily="34" charset="-122"/>
                <a:cs typeface="Calibri" panose="020F0502020204030204" pitchFamily="34" charset="-120"/>
              </a:rPr>
              <a:t>Requests</a:t>
            </a:r>
            <a:endParaRPr lang="en-US" sz="1400" dirty="0"/>
          </a:p>
        </p:txBody>
      </p:sp>
      <p:sp>
        <p:nvSpPr>
          <p:cNvPr id="7" name="Text 5"/>
          <p:cNvSpPr txBox="1"/>
          <p:nvPr/>
        </p:nvSpPr>
        <p:spPr>
          <a:xfrm>
            <a:off x="868680" y="2606040"/>
            <a:ext cx="4572000" cy="685800"/>
          </a:xfrm>
          <a:prstGeom prst="rect">
            <a:avLst/>
          </a:prstGeom>
          <a:noFill/>
        </p:spPr>
        <p:txBody>
          <a:bodyPr wrap="square" lIns="0" tIns="0" rIns="0" bIns="0" rtlCol="0" anchor="ctr"/>
          <a:lstStyle/>
          <a:p>
            <a:pPr marL="0" indent="0">
              <a:lnSpc>
                <a:spcPct val="120000"/>
              </a:lnSpc>
              <a:buNone/>
            </a:pPr>
            <a:r>
              <a:rPr lang="en-US" sz="1250" dirty="0">
                <a:solidFill>
                  <a:srgbClr val="5A5F73"/>
                </a:solidFill>
                <a:latin typeface="Calibri" panose="020F0502020204030204" pitchFamily="34" charset="0"/>
                <a:ea typeface="Calibri" panose="020F0502020204030204" pitchFamily="34" charset="-122"/>
                <a:cs typeface="Calibri" panose="020F0502020204030204" pitchFamily="34" charset="-120"/>
              </a:rPr>
              <a:t>Every incoming call: which one, how long, success/fail.</a:t>
            </a:r>
            <a:endParaRPr lang="en-US" sz="1250" dirty="0"/>
          </a:p>
        </p:txBody>
      </p:sp>
      <p:sp>
        <p:nvSpPr>
          <p:cNvPr id="8" name="Text 6"/>
          <p:cNvSpPr txBox="1"/>
          <p:nvPr/>
        </p:nvSpPr>
        <p:spPr>
          <a:xfrm>
            <a:off x="868680" y="3429000"/>
            <a:ext cx="4572000" cy="320040"/>
          </a:xfrm>
          <a:prstGeom prst="rect">
            <a:avLst/>
          </a:prstGeom>
          <a:noFill/>
        </p:spPr>
        <p:txBody>
          <a:bodyPr wrap="square" lIns="0" tIns="0" rIns="0" bIns="0" rtlCol="0" anchor="ctr"/>
          <a:lstStyle/>
          <a:p>
            <a:pPr marL="0" indent="0">
              <a:buNone/>
            </a:pPr>
            <a:r>
              <a:rPr lang="en-US" sz="1400" b="1" dirty="0">
                <a:solidFill>
                  <a:srgbClr val="1C1F2A"/>
                </a:solidFill>
                <a:latin typeface="Calibri" panose="020F0502020204030204" pitchFamily="34" charset="0"/>
                <a:ea typeface="Calibri" panose="020F0502020204030204" pitchFamily="34" charset="-122"/>
                <a:cs typeface="Calibri" panose="020F0502020204030204" pitchFamily="34" charset="-120"/>
              </a:rPr>
              <a:t>Dependencies</a:t>
            </a:r>
            <a:endParaRPr lang="en-US" sz="1400" dirty="0"/>
          </a:p>
        </p:txBody>
      </p:sp>
      <p:sp>
        <p:nvSpPr>
          <p:cNvPr id="9" name="Text 7"/>
          <p:cNvSpPr txBox="1"/>
          <p:nvPr/>
        </p:nvSpPr>
        <p:spPr>
          <a:xfrm>
            <a:off x="868680" y="3749040"/>
            <a:ext cx="4572000" cy="685800"/>
          </a:xfrm>
          <a:prstGeom prst="rect">
            <a:avLst/>
          </a:prstGeom>
          <a:noFill/>
        </p:spPr>
        <p:txBody>
          <a:bodyPr wrap="square" lIns="0" tIns="0" rIns="0" bIns="0" rtlCol="0" anchor="ctr"/>
          <a:lstStyle/>
          <a:p>
            <a:pPr marL="0" indent="0">
              <a:lnSpc>
                <a:spcPct val="120000"/>
              </a:lnSpc>
              <a:buNone/>
            </a:pPr>
            <a:r>
              <a:rPr lang="en-US" sz="1250" dirty="0">
                <a:solidFill>
                  <a:srgbClr val="5A5F73"/>
                </a:solidFill>
                <a:latin typeface="Calibri" panose="020F0502020204030204" pitchFamily="34" charset="0"/>
                <a:ea typeface="Calibri" panose="020F0502020204030204" pitchFamily="34" charset="-122"/>
                <a:cs typeface="Calibri" panose="020F0502020204030204" pitchFamily="34" charset="-120"/>
              </a:rPr>
              <a:t>Every outbound call your code makes — Cosmos, Blob, Key Vault. Timed and marked automatically.</a:t>
            </a:r>
            <a:endParaRPr lang="en-US" sz="1250" dirty="0"/>
          </a:p>
        </p:txBody>
      </p:sp>
      <p:sp>
        <p:nvSpPr>
          <p:cNvPr id="10" name="Text 8"/>
          <p:cNvSpPr txBox="1"/>
          <p:nvPr/>
        </p:nvSpPr>
        <p:spPr>
          <a:xfrm>
            <a:off x="868680" y="4572000"/>
            <a:ext cx="4572000" cy="320040"/>
          </a:xfrm>
          <a:prstGeom prst="rect">
            <a:avLst/>
          </a:prstGeom>
          <a:noFill/>
        </p:spPr>
        <p:txBody>
          <a:bodyPr wrap="square" lIns="0" tIns="0" rIns="0" bIns="0" rtlCol="0" anchor="ctr"/>
          <a:lstStyle/>
          <a:p>
            <a:pPr marL="0" indent="0">
              <a:buNone/>
            </a:pPr>
            <a:r>
              <a:rPr lang="en-US" sz="1400" b="1" dirty="0">
                <a:solidFill>
                  <a:srgbClr val="1C1F2A"/>
                </a:solidFill>
                <a:latin typeface="Calibri" panose="020F0502020204030204" pitchFamily="34" charset="0"/>
                <a:ea typeface="Calibri" panose="020F0502020204030204" pitchFamily="34" charset="-122"/>
                <a:cs typeface="Calibri" panose="020F0502020204030204" pitchFamily="34" charset="-120"/>
              </a:rPr>
              <a:t>Exceptions</a:t>
            </a:r>
            <a:endParaRPr lang="en-US" sz="1400" dirty="0"/>
          </a:p>
        </p:txBody>
      </p:sp>
      <p:sp>
        <p:nvSpPr>
          <p:cNvPr id="11" name="Text 9"/>
          <p:cNvSpPr txBox="1"/>
          <p:nvPr/>
        </p:nvSpPr>
        <p:spPr>
          <a:xfrm>
            <a:off x="868680" y="4892040"/>
            <a:ext cx="4572000" cy="685800"/>
          </a:xfrm>
          <a:prstGeom prst="rect">
            <a:avLst/>
          </a:prstGeom>
          <a:noFill/>
        </p:spPr>
        <p:txBody>
          <a:bodyPr wrap="square" lIns="0" tIns="0" rIns="0" bIns="0" rtlCol="0" anchor="ctr"/>
          <a:lstStyle/>
          <a:p>
            <a:pPr marL="0" indent="0">
              <a:lnSpc>
                <a:spcPct val="120000"/>
              </a:lnSpc>
              <a:buNone/>
            </a:pPr>
            <a:r>
              <a:rPr lang="en-US" sz="1250" dirty="0">
                <a:solidFill>
                  <a:srgbClr val="5A5F73"/>
                </a:solidFill>
                <a:latin typeface="Calibri" panose="020F0502020204030204" pitchFamily="34" charset="0"/>
                <a:ea typeface="Calibri" panose="020F0502020204030204" pitchFamily="34" charset="-122"/>
                <a:cs typeface="Calibri" panose="020F0502020204030204" pitchFamily="34" charset="-120"/>
              </a:rPr>
              <a:t>Any unhandled exception, full stack trace, tied to the request that threw it.</a:t>
            </a:r>
            <a:endParaRPr lang="en-US" sz="1250" dirty="0"/>
          </a:p>
        </p:txBody>
      </p:sp>
      <p:sp>
        <p:nvSpPr>
          <p:cNvPr id="12" name="Shape 10"/>
          <p:cNvSpPr/>
          <p:nvPr/>
        </p:nvSpPr>
        <p:spPr>
          <a:xfrm>
            <a:off x="6035040" y="1600200"/>
            <a:ext cx="5257800" cy="4160520"/>
          </a:xfrm>
          <a:prstGeom prst="roundRect">
            <a:avLst>
              <a:gd name="adj" fmla="val 2198"/>
            </a:avLst>
          </a:prstGeom>
          <a:solidFill>
            <a:srgbClr val="FDF1DE"/>
          </a:solidFill>
          <a:ln w="12700">
            <a:solidFill>
              <a:srgbClr val="F2A93B"/>
            </a:solidFill>
            <a:prstDash val="solid"/>
          </a:ln>
        </p:spPr>
      </p:sp>
      <p:sp>
        <p:nvSpPr>
          <p:cNvPr id="13" name="Text 11"/>
          <p:cNvSpPr txBox="1"/>
          <p:nvPr/>
        </p:nvSpPr>
        <p:spPr>
          <a:xfrm>
            <a:off x="6355080" y="1783080"/>
            <a:ext cx="4663440" cy="365760"/>
          </a:xfrm>
          <a:prstGeom prst="rect">
            <a:avLst/>
          </a:prstGeom>
          <a:noFill/>
        </p:spPr>
        <p:txBody>
          <a:bodyPr wrap="square" lIns="0" tIns="0" rIns="0" bIns="0" rtlCol="0" anchor="ctr"/>
          <a:lstStyle/>
          <a:p>
            <a:pPr marL="0" indent="0">
              <a:buNone/>
            </a:pPr>
            <a:r>
              <a:rPr lang="en-US" sz="1500" b="1" dirty="0">
                <a:solidFill>
                  <a:srgbClr val="8A5A10"/>
                </a:solidFill>
                <a:latin typeface="Calibri" panose="020F0502020204030204" pitchFamily="34" charset="0"/>
                <a:ea typeface="Calibri" panose="020F0502020204030204" pitchFamily="34" charset="-122"/>
                <a:cs typeface="Calibri" panose="020F0502020204030204" pitchFamily="34" charset="-120"/>
              </a:rPr>
              <a:t>Opt-in — you write something</a:t>
            </a:r>
            <a:endParaRPr lang="en-US" sz="1500" dirty="0"/>
          </a:p>
        </p:txBody>
      </p:sp>
      <p:sp>
        <p:nvSpPr>
          <p:cNvPr id="14" name="Text 12"/>
          <p:cNvSpPr txBox="1"/>
          <p:nvPr/>
        </p:nvSpPr>
        <p:spPr>
          <a:xfrm>
            <a:off x="6355080" y="2286000"/>
            <a:ext cx="4663440" cy="320040"/>
          </a:xfrm>
          <a:prstGeom prst="rect">
            <a:avLst/>
          </a:prstGeom>
          <a:noFill/>
        </p:spPr>
        <p:txBody>
          <a:bodyPr wrap="square" lIns="0" tIns="0" rIns="0" bIns="0" rtlCol="0" anchor="ctr"/>
          <a:lstStyle/>
          <a:p>
            <a:pPr marL="0" indent="0">
              <a:buNone/>
            </a:pPr>
            <a:r>
              <a:rPr lang="en-US" sz="1400" b="1" dirty="0">
                <a:solidFill>
                  <a:srgbClr val="1C1F2A"/>
                </a:solidFill>
                <a:latin typeface="Calibri" panose="020F0502020204030204" pitchFamily="34" charset="0"/>
                <a:ea typeface="Calibri" panose="020F0502020204030204" pitchFamily="34" charset="-122"/>
                <a:cs typeface="Calibri" panose="020F0502020204030204" pitchFamily="34" charset="-120"/>
              </a:rPr>
              <a:t>Traces</a:t>
            </a:r>
            <a:endParaRPr lang="en-US" sz="1400" dirty="0"/>
          </a:p>
        </p:txBody>
      </p:sp>
      <p:sp>
        <p:nvSpPr>
          <p:cNvPr id="15" name="Text 13"/>
          <p:cNvSpPr txBox="1"/>
          <p:nvPr/>
        </p:nvSpPr>
        <p:spPr>
          <a:xfrm>
            <a:off x="6355080" y="2606040"/>
            <a:ext cx="4663440" cy="1371600"/>
          </a:xfrm>
          <a:prstGeom prst="rect">
            <a:avLst/>
          </a:prstGeom>
          <a:noFill/>
        </p:spPr>
        <p:txBody>
          <a:bodyPr wrap="square" lIns="0" tIns="0" rIns="0" bIns="0" rtlCol="0" anchor="ctr"/>
          <a:lstStyle/>
          <a:p>
            <a:pPr marL="0" indent="0">
              <a:lnSpc>
                <a:spcPct val="120000"/>
              </a:lnSpc>
              <a:buNone/>
            </a:pPr>
            <a:r>
              <a:rPr lang="en-US" sz="1250" dirty="0">
                <a:solidFill>
                  <a:srgbClr val="5A5F73"/>
                </a:solidFill>
                <a:latin typeface="Calibri" panose="020F0502020204030204" pitchFamily="34" charset="0"/>
                <a:ea typeface="Calibri" panose="020F0502020204030204" pitchFamily="34" charset="-122"/>
                <a:cs typeface="Calibri" panose="020F0502020204030204" pitchFamily="34" charset="-120"/>
              </a:rPr>
              <a:t>Confusingly named — it's just your own ILogger.LogInformation/LogWarning/LogError calls, shipped to App Insights instead of only the console. Nothing new to write.</a:t>
            </a:r>
            <a:endParaRPr lang="en-US" sz="1250" dirty="0"/>
          </a:p>
        </p:txBody>
      </p:sp>
      <p:sp>
        <p:nvSpPr>
          <p:cNvPr id="16" name="Text 14"/>
          <p:cNvSpPr txBox="1"/>
          <p:nvPr/>
        </p:nvSpPr>
        <p:spPr>
          <a:xfrm>
            <a:off x="6355080" y="4069080"/>
            <a:ext cx="4663440" cy="320040"/>
          </a:xfrm>
          <a:prstGeom prst="rect">
            <a:avLst/>
          </a:prstGeom>
          <a:noFill/>
        </p:spPr>
        <p:txBody>
          <a:bodyPr wrap="square" lIns="0" tIns="0" rIns="0" bIns="0" rtlCol="0" anchor="ctr"/>
          <a:lstStyle/>
          <a:p>
            <a:pPr marL="0" indent="0">
              <a:buNone/>
            </a:pPr>
            <a:r>
              <a:rPr lang="en-US" sz="1400" b="1" dirty="0">
                <a:solidFill>
                  <a:srgbClr val="1C1F2A"/>
                </a:solidFill>
                <a:latin typeface="Calibri" panose="020F0502020204030204" pitchFamily="34" charset="0"/>
                <a:ea typeface="Calibri" panose="020F0502020204030204" pitchFamily="34" charset="-122"/>
                <a:cs typeface="Calibri" panose="020F0502020204030204" pitchFamily="34" charset="-120"/>
              </a:rPr>
              <a:t>Custom Events (TrackEvent)</a:t>
            </a:r>
            <a:endParaRPr lang="en-US" sz="1400" dirty="0"/>
          </a:p>
        </p:txBody>
      </p:sp>
      <p:sp>
        <p:nvSpPr>
          <p:cNvPr id="17" name="Text 15"/>
          <p:cNvSpPr txBox="1"/>
          <p:nvPr/>
        </p:nvSpPr>
        <p:spPr>
          <a:xfrm>
            <a:off x="6355080" y="4389120"/>
            <a:ext cx="4663440" cy="1188720"/>
          </a:xfrm>
          <a:prstGeom prst="rect">
            <a:avLst/>
          </a:prstGeom>
          <a:noFill/>
        </p:spPr>
        <p:txBody>
          <a:bodyPr wrap="square" lIns="0" tIns="0" rIns="0" bIns="0" rtlCol="0" anchor="ctr"/>
          <a:lstStyle/>
          <a:p>
            <a:pPr marL="0" indent="0">
              <a:lnSpc>
                <a:spcPct val="120000"/>
              </a:lnSpc>
              <a:buNone/>
            </a:pPr>
            <a:r>
              <a:rPr lang="en-US" sz="1250" dirty="0">
                <a:solidFill>
                  <a:srgbClr val="5A5F73"/>
                </a:solidFill>
                <a:latin typeface="Calibri" panose="020F0502020204030204" pitchFamily="34" charset="0"/>
                <a:ea typeface="Calibri" panose="020F0502020204030204" pitchFamily="34" charset="-122"/>
                <a:cs typeface="Calibri" panose="020F0502020204030204" pitchFamily="34" charset="-120"/>
              </a:rPr>
              <a:t>Business-meaning counters ("TitleAdded") via TelemetryClient. Mention only today — not built live, not required.</a:t>
            </a:r>
            <a:endParaRPr lang="en-US" sz="1250" dirty="0">
              <a:solidFill>
                <a:srgbClr val="5A5F73"/>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Text 16"/>
          <p:cNvSpPr txBox="1"/>
          <p:nvPr/>
        </p:nvSpPr>
        <p:spPr>
          <a:xfrm>
            <a:off x="548640" y="6537960"/>
            <a:ext cx="9144000" cy="274320"/>
          </a:xfrm>
          <a:prstGeom prst="rect">
            <a:avLst/>
          </a:prstGeom>
          <a:noFill/>
        </p:spPr>
        <p:txBody>
          <a:bodyPr wrap="square" lIns="0" tIns="0" rIns="0" bIns="0" rtlCol="0" anchor="ctr"/>
          <a:lstStyle/>
          <a:p>
            <a:pPr marL="0" indent="0">
              <a:buNone/>
            </a:pPr>
            <a:r>
              <a:rPr lang="en-US" sz="900" dirty="0">
                <a:solidFill>
                  <a:srgbClr val="9AA0AE"/>
                </a:solidFill>
                <a:latin typeface="Calibri" panose="020F0502020204030204" pitchFamily="34" charset="0"/>
                <a:ea typeface="Calibri" panose="020F0502020204030204" pitchFamily="34" charset="-122"/>
                <a:cs typeface="Calibri" panose="020F0502020204030204" pitchFamily="34" charset="-120"/>
              </a:rPr>
              <a:t>Modern Enterprise Software Engineering  |  ÉSTIAM  |  Day 2, Morning</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365760"/>
          </a:xfrm>
          <a:prstGeom prst="rect">
            <a:avLst/>
          </a:prstGeom>
          <a:noFill/>
        </p:spPr>
        <p:txBody>
          <a:bodyPr wrap="square" lIns="0" tIns="0" rIns="0" bIns="0" rtlCol="0" anchor="ctr"/>
          <a:lstStyle/>
          <a:p>
            <a:pPr marL="0" indent="0">
              <a:buNone/>
            </a:pPr>
            <a:r>
              <a:rPr lang="en-US" sz="1200" b="1" kern="0" spc="100" dirty="0">
                <a:solidFill>
                  <a:srgbClr val="F2A93B"/>
                </a:solidFill>
                <a:latin typeface="Calibri" panose="020F0502020204030204" pitchFamily="34" charset="0"/>
                <a:ea typeface="Calibri" panose="020F0502020204030204" pitchFamily="34" charset="-122"/>
                <a:cs typeface="Calibri" panose="020F0502020204030204" pitchFamily="34" charset="-120"/>
              </a:rPr>
              <a:t>TOPIC 2 — APPLICATION INSIGHTS</a:t>
            </a:r>
            <a:endParaRPr lang="en-US" sz="1200" dirty="0"/>
          </a:p>
        </p:txBody>
      </p:sp>
      <p:sp>
        <p:nvSpPr>
          <p:cNvPr id="3" name="Text 1"/>
          <p:cNvSpPr txBox="1"/>
          <p:nvPr/>
        </p:nvSpPr>
        <p:spPr>
          <a:xfrm>
            <a:off x="548640" y="685800"/>
            <a:ext cx="10972800" cy="640080"/>
          </a:xfrm>
          <a:prstGeom prst="rect">
            <a:avLst/>
          </a:prstGeom>
          <a:noFill/>
        </p:spPr>
        <p:txBody>
          <a:bodyPr wrap="square" lIns="0" tIns="0" rIns="0" bIns="0" rtlCol="0" anchor="ctr"/>
          <a:lstStyle/>
          <a:p>
            <a:pPr marL="0" indent="0">
              <a:buNone/>
            </a:pPr>
            <a:r>
              <a:rPr lang="en-US" sz="2800" b="1" dirty="0">
                <a:solidFill>
                  <a:srgbClr val="1E2761"/>
                </a:solidFill>
                <a:latin typeface="Cambria" panose="02040503050406030204" pitchFamily="34" charset="0"/>
                <a:ea typeface="Cambria" panose="02040503050406030204" pitchFamily="34" charset="-122"/>
                <a:cs typeface="Cambria" panose="02040503050406030204" pitchFamily="34" charset="-120"/>
              </a:rPr>
              <a:t>One Operation Id, the whole story</a:t>
            </a:r>
            <a:endParaRPr lang="en-US" sz="2800" dirty="0"/>
          </a:p>
        </p:txBody>
      </p:sp>
      <p:sp>
        <p:nvSpPr>
          <p:cNvPr id="4" name="Shape 2"/>
          <p:cNvSpPr/>
          <p:nvPr/>
        </p:nvSpPr>
        <p:spPr>
          <a:xfrm>
            <a:off x="822960" y="2194560"/>
            <a:ext cx="2286000" cy="1371600"/>
          </a:xfrm>
          <a:prstGeom prst="roundRect">
            <a:avLst>
              <a:gd name="adj" fmla="val 6667"/>
            </a:avLst>
          </a:prstGeom>
          <a:solidFill>
            <a:srgbClr val="1E2761"/>
          </a:solidFill>
        </p:spPr>
      </p:sp>
      <p:sp>
        <p:nvSpPr>
          <p:cNvPr id="5" name="Text 3"/>
          <p:cNvSpPr txBox="1"/>
          <p:nvPr/>
        </p:nvSpPr>
        <p:spPr>
          <a:xfrm>
            <a:off x="822960" y="2194560"/>
            <a:ext cx="2286000" cy="137160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Request</a:t>
            </a:r>
            <a:endParaRPr lang="en-US" sz="1500" dirty="0"/>
          </a:p>
        </p:txBody>
      </p:sp>
      <p:sp>
        <p:nvSpPr>
          <p:cNvPr id="6" name="Shape 4"/>
          <p:cNvSpPr/>
          <p:nvPr/>
        </p:nvSpPr>
        <p:spPr>
          <a:xfrm>
            <a:off x="3566160" y="2194560"/>
            <a:ext cx="2286000" cy="1371600"/>
          </a:xfrm>
          <a:prstGeom prst="roundRect">
            <a:avLst>
              <a:gd name="adj" fmla="val 6667"/>
            </a:avLst>
          </a:prstGeom>
          <a:solidFill>
            <a:srgbClr val="1E2761"/>
          </a:solidFill>
        </p:spPr>
      </p:sp>
      <p:sp>
        <p:nvSpPr>
          <p:cNvPr id="7" name="Text 5"/>
          <p:cNvSpPr txBox="1"/>
          <p:nvPr/>
        </p:nvSpPr>
        <p:spPr>
          <a:xfrm>
            <a:off x="3566160" y="2194560"/>
            <a:ext cx="2286000" cy="137160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Trace</a:t>
            </a:r>
            <a:endParaRPr lang="en-US" sz="1500" dirty="0"/>
          </a:p>
        </p:txBody>
      </p:sp>
      <p:sp>
        <p:nvSpPr>
          <p:cNvPr id="8" name="Shape 6"/>
          <p:cNvSpPr/>
          <p:nvPr/>
        </p:nvSpPr>
        <p:spPr>
          <a:xfrm>
            <a:off x="6309360" y="2194560"/>
            <a:ext cx="2286000" cy="1371600"/>
          </a:xfrm>
          <a:prstGeom prst="roundRect">
            <a:avLst>
              <a:gd name="adj" fmla="val 6667"/>
            </a:avLst>
          </a:prstGeom>
          <a:solidFill>
            <a:srgbClr val="1E2761"/>
          </a:solidFill>
        </p:spPr>
      </p:sp>
      <p:sp>
        <p:nvSpPr>
          <p:cNvPr id="9" name="Text 7"/>
          <p:cNvSpPr txBox="1"/>
          <p:nvPr/>
        </p:nvSpPr>
        <p:spPr>
          <a:xfrm>
            <a:off x="6309360" y="2194560"/>
            <a:ext cx="2286000" cy="137160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Dependency</a:t>
            </a:r>
            <a:endParaRPr lang="en-US" sz="1500" dirty="0"/>
          </a:p>
        </p:txBody>
      </p:sp>
      <p:sp>
        <p:nvSpPr>
          <p:cNvPr id="10" name="Shape 8"/>
          <p:cNvSpPr/>
          <p:nvPr/>
        </p:nvSpPr>
        <p:spPr>
          <a:xfrm>
            <a:off x="9052560" y="2194560"/>
            <a:ext cx="2286000" cy="1371600"/>
          </a:xfrm>
          <a:prstGeom prst="roundRect">
            <a:avLst>
              <a:gd name="adj" fmla="val 6667"/>
            </a:avLst>
          </a:prstGeom>
          <a:solidFill>
            <a:srgbClr val="1E2761"/>
          </a:solidFill>
        </p:spPr>
      </p:sp>
      <p:sp>
        <p:nvSpPr>
          <p:cNvPr id="11" name="Text 9"/>
          <p:cNvSpPr txBox="1"/>
          <p:nvPr/>
        </p:nvSpPr>
        <p:spPr>
          <a:xfrm>
            <a:off x="9052560" y="2194560"/>
            <a:ext cx="2286000" cy="137160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Exception</a:t>
            </a:r>
            <a:endParaRPr lang="en-US" sz="1500" dirty="0"/>
          </a:p>
        </p:txBody>
      </p:sp>
      <p:sp>
        <p:nvSpPr>
          <p:cNvPr id="12" name="Shape 10"/>
          <p:cNvSpPr/>
          <p:nvPr/>
        </p:nvSpPr>
        <p:spPr>
          <a:xfrm>
            <a:off x="1965960" y="3703320"/>
            <a:ext cx="8229600" cy="0"/>
          </a:xfrm>
          <a:prstGeom prst="line">
            <a:avLst/>
          </a:prstGeom>
          <a:noFill/>
          <a:ln w="25400">
            <a:solidFill>
              <a:srgbClr val="F2A93B"/>
            </a:solidFill>
            <a:prstDash val="dash"/>
          </a:ln>
        </p:spPr>
      </p:sp>
      <p:sp>
        <p:nvSpPr>
          <p:cNvPr id="13" name="Text 11"/>
          <p:cNvSpPr txBox="1"/>
          <p:nvPr/>
        </p:nvSpPr>
        <p:spPr>
          <a:xfrm>
            <a:off x="822960" y="3840480"/>
            <a:ext cx="10515600" cy="365760"/>
          </a:xfrm>
          <a:prstGeom prst="rect">
            <a:avLst/>
          </a:prstGeom>
          <a:noFill/>
        </p:spPr>
        <p:txBody>
          <a:bodyPr wrap="square" lIns="0" tIns="0" rIns="0" bIns="0" rtlCol="0" anchor="ctr"/>
          <a:lstStyle/>
          <a:p>
            <a:pPr marL="0" indent="0" algn="ctr">
              <a:buNone/>
            </a:pPr>
            <a:r>
              <a:rPr lang="en-US" sz="1300" i="1" dirty="0">
                <a:solidFill>
                  <a:srgbClr val="5A5F73"/>
                </a:solidFill>
                <a:latin typeface="Calibri" panose="020F0502020204030204" pitchFamily="34" charset="0"/>
                <a:ea typeface="Calibri" panose="020F0502020204030204" pitchFamily="34" charset="-122"/>
                <a:cs typeface="Calibri" panose="020F0502020204030204" pitchFamily="34" charset="-120"/>
              </a:rPr>
              <a:t>all tagged with the same Operation Id</a:t>
            </a:r>
            <a:endParaRPr lang="en-US" sz="1300" dirty="0"/>
          </a:p>
        </p:txBody>
      </p:sp>
      <p:sp>
        <p:nvSpPr>
          <p:cNvPr id="14" name="Shape 12"/>
          <p:cNvSpPr/>
          <p:nvPr/>
        </p:nvSpPr>
        <p:spPr>
          <a:xfrm>
            <a:off x="548640" y="4572000"/>
            <a:ext cx="10698480" cy="1600200"/>
          </a:xfrm>
          <a:prstGeom prst="roundRect">
            <a:avLst>
              <a:gd name="adj" fmla="val 5714"/>
            </a:avLst>
          </a:prstGeom>
          <a:solidFill>
            <a:srgbClr val="FFFFFF"/>
          </a:solidFill>
          <a:ln w="12700">
            <a:solidFill>
              <a:srgbClr val="DFE2EA"/>
            </a:solidFill>
            <a:prstDash val="solid"/>
          </a:ln>
        </p:spPr>
      </p:sp>
      <p:sp>
        <p:nvSpPr>
          <p:cNvPr id="15" name="Text 13"/>
          <p:cNvSpPr txBox="1"/>
          <p:nvPr/>
        </p:nvSpPr>
        <p:spPr>
          <a:xfrm>
            <a:off x="868680" y="4754880"/>
            <a:ext cx="10058400" cy="457200"/>
          </a:xfrm>
          <a:prstGeom prst="rect">
            <a:avLst/>
          </a:prstGeom>
          <a:noFill/>
        </p:spPr>
        <p:txBody>
          <a:bodyPr wrap="square" lIns="0" tIns="0" rIns="0" bIns="0"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The payoff: open the failed request, see its full dependency chain and every log line — even across two separate apps — correlated on one screen.</a:t>
            </a:r>
            <a:endPar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4"/>
          <p:cNvSpPr txBox="1"/>
          <p:nvPr/>
        </p:nvSpPr>
        <p:spPr>
          <a:xfrm>
            <a:off x="868680" y="5212080"/>
            <a:ext cx="10058400" cy="822960"/>
          </a:xfrm>
          <a:prstGeom prst="rect">
            <a:avLst/>
          </a:prstGeom>
          <a:noFill/>
        </p:spPr>
        <p:txBody>
          <a:bodyPr wrap="square" lIns="0" tIns="0" rIns="0" bIns="0" rtlCol="0" anchor="ctr"/>
          <a:lstStyle/>
          <a:p>
            <a:pPr marL="0" indent="0">
              <a:lnSpc>
                <a:spcPct val="125000"/>
              </a:lnSpc>
              <a:buNone/>
            </a:pPr>
            <a:r>
              <a:rPr lang="en-US" sz="1350" dirty="0">
                <a:solidFill>
                  <a:srgbClr val="5A5F73"/>
                </a:solidFill>
                <a:latin typeface="Calibri" panose="020F0502020204030204" pitchFamily="34" charset="0"/>
                <a:ea typeface="Calibri" panose="020F0502020204030204" pitchFamily="34" charset="-122"/>
                <a:cs typeface="Calibri" panose="020F0502020204030204" pitchFamily="34" charset="-120"/>
              </a:rPr>
              <a:t>"catalog-ui's call to catalog-api: 40ms, succeeded. catalog-api's Cosmos call: 5000ms, timeout." The wrong dependency now points right at itself — no more guessing, no matter which app it's in.</a:t>
            </a:r>
            <a:endParaRPr lang="en-US" sz="1350" dirty="0">
              <a:solidFill>
                <a:srgbClr val="5A5F73"/>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Text 15"/>
          <p:cNvSpPr txBox="1"/>
          <p:nvPr/>
        </p:nvSpPr>
        <p:spPr>
          <a:xfrm>
            <a:off x="548640" y="6537960"/>
            <a:ext cx="9144000" cy="274320"/>
          </a:xfrm>
          <a:prstGeom prst="rect">
            <a:avLst/>
          </a:prstGeom>
          <a:noFill/>
        </p:spPr>
        <p:txBody>
          <a:bodyPr wrap="square" lIns="0" tIns="0" rIns="0" bIns="0" rtlCol="0" anchor="ctr"/>
          <a:lstStyle/>
          <a:p>
            <a:pPr marL="0" indent="0">
              <a:buNone/>
            </a:pPr>
            <a:r>
              <a:rPr lang="en-US" sz="900" dirty="0">
                <a:solidFill>
                  <a:srgbClr val="9AA0AE"/>
                </a:solidFill>
                <a:latin typeface="Calibri" panose="020F0502020204030204" pitchFamily="34" charset="0"/>
                <a:ea typeface="Calibri" panose="020F0502020204030204" pitchFamily="34" charset="-122"/>
                <a:cs typeface="Calibri" panose="020F0502020204030204" pitchFamily="34" charset="-120"/>
              </a:rPr>
              <a:t>Modern Enterprise Software Engineering  |  ÉSTIAM  |  Day 2, Morning</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365760"/>
          </a:xfrm>
          <a:prstGeom prst="rect">
            <a:avLst/>
          </a:prstGeom>
          <a:noFill/>
        </p:spPr>
        <p:txBody>
          <a:bodyPr wrap="square" lIns="0" tIns="0" rIns="0" bIns="0" rtlCol="0" anchor="ctr"/>
          <a:lstStyle/>
          <a:p>
            <a:pPr marL="0" indent="0">
              <a:buNone/>
            </a:pPr>
            <a:r>
              <a:rPr lang="en-US" sz="1200" b="1" kern="0" spc="100" dirty="0">
                <a:solidFill>
                  <a:srgbClr val="F2A93B"/>
                </a:solidFill>
                <a:latin typeface="Calibri" panose="020F0502020204030204" pitchFamily="34" charset="0"/>
                <a:ea typeface="Calibri" panose="020F0502020204030204" pitchFamily="34" charset="-122"/>
                <a:cs typeface="Calibri" panose="020F0502020204030204" pitchFamily="34" charset="-120"/>
              </a:rPr>
              <a:t>TOPIC 2 — LIVE DEMO</a:t>
            </a:r>
            <a:endParaRPr lang="en-US" sz="1200" dirty="0"/>
          </a:p>
        </p:txBody>
      </p:sp>
      <p:sp>
        <p:nvSpPr>
          <p:cNvPr id="3" name="Text 1"/>
          <p:cNvSpPr txBox="1"/>
          <p:nvPr/>
        </p:nvSpPr>
        <p:spPr>
          <a:xfrm>
            <a:off x="548640" y="685800"/>
            <a:ext cx="10972800" cy="640080"/>
          </a:xfrm>
          <a:prstGeom prst="rect">
            <a:avLst/>
          </a:prstGeom>
          <a:noFill/>
        </p:spPr>
        <p:txBody>
          <a:bodyPr wrap="square" lIns="0" tIns="0" rIns="0" bIns="0" rtlCol="0" anchor="ctr"/>
          <a:lstStyle/>
          <a:p>
            <a:pPr marL="0" indent="0">
              <a:buNone/>
            </a:pPr>
            <a:r>
              <a:rPr lang="en-US" sz="2800" b="1" dirty="0">
                <a:solidFill>
                  <a:srgbClr val="1E2761"/>
                </a:solidFill>
                <a:latin typeface="Cambria" panose="02040503050406030204" pitchFamily="34" charset="0"/>
                <a:ea typeface="Cambria" panose="02040503050406030204" pitchFamily="34" charset="-122"/>
                <a:cs typeface="Cambria" panose="02040503050406030204" pitchFamily="34" charset="-120"/>
              </a:rPr>
              <a:t>Wiring up catalog-api and catalog-ui</a:t>
            </a:r>
            <a:endParaRPr lang="en-US" sz="2800" b="1" dirty="0">
              <a:solidFill>
                <a:srgbClr val="1E2761"/>
              </a:solidFill>
              <a:latin typeface="Cambria" panose="02040503050406030204" pitchFamily="34" charset="0"/>
              <a:ea typeface="Cambria" panose="02040503050406030204" pitchFamily="34" charset="-122"/>
              <a:cs typeface="Cambria" panose="02040503050406030204" pitchFamily="34" charset="-120"/>
            </a:endParaRPr>
          </a:p>
        </p:txBody>
      </p:sp>
      <p:sp>
        <p:nvSpPr>
          <p:cNvPr id="4" name="Shape 2"/>
          <p:cNvSpPr/>
          <p:nvPr/>
        </p:nvSpPr>
        <p:spPr>
          <a:xfrm>
            <a:off x="457200" y="1737360"/>
            <a:ext cx="1965960" cy="1737360"/>
          </a:xfrm>
          <a:prstGeom prst="roundRect">
            <a:avLst>
              <a:gd name="adj" fmla="val 5263"/>
            </a:avLst>
          </a:prstGeom>
          <a:solidFill>
            <a:srgbClr val="1E2761"/>
          </a:solidFill>
        </p:spPr>
      </p:sp>
      <p:sp>
        <p:nvSpPr>
          <p:cNvPr id="5" name="Text 3"/>
          <p:cNvSpPr txBox="1"/>
          <p:nvPr/>
        </p:nvSpPr>
        <p:spPr>
          <a:xfrm>
            <a:off x="594360" y="1847088"/>
            <a:ext cx="1691640" cy="365760"/>
          </a:xfrm>
          <a:prstGeom prst="rect">
            <a:avLst/>
          </a:prstGeom>
          <a:noFill/>
        </p:spPr>
        <p:txBody>
          <a:bodyPr wrap="square" lIns="0" tIns="0" rIns="0" bIns="0" rtlCol="0" anchor="ctr"/>
          <a:lstStyle/>
          <a:p>
            <a:pPr marL="0" indent="0">
              <a:buNone/>
            </a:pPr>
            <a:r>
              <a:rPr lang="en-US" sz="1600" b="1" dirty="0">
                <a:solidFill>
                  <a:srgbClr val="F2A93B"/>
                </a:solidFill>
                <a:latin typeface="Calibri" panose="020F0502020204030204" pitchFamily="34" charset="0"/>
                <a:ea typeface="Calibri" panose="020F0502020204030204" pitchFamily="34" charset="-122"/>
                <a:cs typeface="Calibri" panose="020F0502020204030204" pitchFamily="34" charset="-120"/>
              </a:rPr>
              <a:t>1</a:t>
            </a:r>
            <a:endParaRPr lang="en-US" sz="1600" dirty="0"/>
          </a:p>
        </p:txBody>
      </p:sp>
      <p:sp>
        <p:nvSpPr>
          <p:cNvPr id="6" name="Text 4"/>
          <p:cNvSpPr txBox="1"/>
          <p:nvPr/>
        </p:nvSpPr>
        <p:spPr>
          <a:xfrm>
            <a:off x="594360" y="2240280"/>
            <a:ext cx="1691640" cy="365760"/>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Workspace</a:t>
            </a:r>
            <a:endParaRPr lang="en-US" sz="1300" dirty="0"/>
          </a:p>
        </p:txBody>
      </p:sp>
      <p:sp>
        <p:nvSpPr>
          <p:cNvPr id="7" name="Text 5"/>
          <p:cNvSpPr txBox="1"/>
          <p:nvPr/>
        </p:nvSpPr>
        <p:spPr>
          <a:xfrm>
            <a:off x="594360" y="2606040"/>
            <a:ext cx="1691640" cy="777240"/>
          </a:xfrm>
          <a:prstGeom prst="rect">
            <a:avLst/>
          </a:prstGeom>
          <a:noFill/>
        </p:spPr>
        <p:txBody>
          <a:bodyPr wrap="square" lIns="0" tIns="0" rIns="0" bIns="0" rtlCol="0" anchor="ctr"/>
          <a:lstStyle/>
          <a:p>
            <a:pPr marL="0" indent="0">
              <a:lnSpc>
                <a:spcPct val="115000"/>
              </a:lnSpc>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Log Analytics workspace — telemetry storage</a:t>
            </a:r>
            <a:endParaRPr lang="en-US" sz="1050" dirty="0"/>
          </a:p>
        </p:txBody>
      </p:sp>
      <p:sp>
        <p:nvSpPr>
          <p:cNvPr id="8" name="Shape 6"/>
          <p:cNvSpPr/>
          <p:nvPr/>
        </p:nvSpPr>
        <p:spPr>
          <a:xfrm>
            <a:off x="2587752" y="1737360"/>
            <a:ext cx="1965960" cy="1737360"/>
          </a:xfrm>
          <a:prstGeom prst="roundRect">
            <a:avLst>
              <a:gd name="adj" fmla="val 5263"/>
            </a:avLst>
          </a:prstGeom>
          <a:solidFill>
            <a:srgbClr val="3A4488"/>
          </a:solidFill>
        </p:spPr>
      </p:sp>
      <p:sp>
        <p:nvSpPr>
          <p:cNvPr id="9" name="Text 7"/>
          <p:cNvSpPr txBox="1"/>
          <p:nvPr/>
        </p:nvSpPr>
        <p:spPr>
          <a:xfrm>
            <a:off x="2724912" y="1847088"/>
            <a:ext cx="1691640" cy="365760"/>
          </a:xfrm>
          <a:prstGeom prst="rect">
            <a:avLst/>
          </a:prstGeom>
          <a:noFill/>
        </p:spPr>
        <p:txBody>
          <a:bodyPr wrap="square" lIns="0" tIns="0" rIns="0" bIns="0" rtlCol="0" anchor="ctr"/>
          <a:lstStyle/>
          <a:p>
            <a:pPr marL="0" indent="0">
              <a:buNone/>
            </a:pPr>
            <a:r>
              <a:rPr lang="en-US" sz="1600" b="1" dirty="0">
                <a:solidFill>
                  <a:srgbClr val="F2A93B"/>
                </a:solidFill>
                <a:latin typeface="Calibri" panose="020F0502020204030204" pitchFamily="34" charset="0"/>
                <a:ea typeface="Calibri" panose="020F0502020204030204" pitchFamily="34" charset="-122"/>
                <a:cs typeface="Calibri" panose="020F0502020204030204" pitchFamily="34" charset="-120"/>
              </a:rPr>
              <a:t>2</a:t>
            </a:r>
            <a:endParaRPr lang="en-US" sz="1600" dirty="0"/>
          </a:p>
        </p:txBody>
      </p:sp>
      <p:sp>
        <p:nvSpPr>
          <p:cNvPr id="10" name="Text 8"/>
          <p:cNvSpPr txBox="1"/>
          <p:nvPr/>
        </p:nvSpPr>
        <p:spPr>
          <a:xfrm>
            <a:off x="2724912" y="2240280"/>
            <a:ext cx="1691640" cy="365760"/>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App Insights</a:t>
            </a:r>
            <a:endParaRPr lang="en-US" sz="1300" dirty="0"/>
          </a:p>
        </p:txBody>
      </p:sp>
      <p:sp>
        <p:nvSpPr>
          <p:cNvPr id="11" name="Text 9"/>
          <p:cNvSpPr txBox="1"/>
          <p:nvPr/>
        </p:nvSpPr>
        <p:spPr>
          <a:xfrm>
            <a:off x="2724912" y="2606040"/>
            <a:ext cx="1691640" cy="777240"/>
          </a:xfrm>
          <a:prstGeom prst="rect">
            <a:avLst/>
          </a:prstGeom>
          <a:noFill/>
        </p:spPr>
        <p:txBody>
          <a:bodyPr wrap="square" lIns="0" tIns="0" rIns="0" bIns="0" rtlCol="0" anchor="ctr"/>
          <a:lstStyle/>
          <a:p>
            <a:pPr marL="0" indent="0">
              <a:lnSpc>
                <a:spcPct val="115000"/>
              </a:lnSpc>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component, linked to the workspace</a:t>
            </a:r>
            <a:endParaRPr lang="en-US" sz="1050" dirty="0"/>
          </a:p>
        </p:txBody>
      </p:sp>
      <p:sp>
        <p:nvSpPr>
          <p:cNvPr id="12" name="Shape 10"/>
          <p:cNvSpPr/>
          <p:nvPr/>
        </p:nvSpPr>
        <p:spPr>
          <a:xfrm>
            <a:off x="4718304" y="1737360"/>
            <a:ext cx="1965960" cy="1737360"/>
          </a:xfrm>
          <a:prstGeom prst="roundRect">
            <a:avLst>
              <a:gd name="adj" fmla="val 5263"/>
            </a:avLst>
          </a:prstGeom>
          <a:solidFill>
            <a:srgbClr val="1E2761"/>
          </a:solidFill>
        </p:spPr>
      </p:sp>
      <p:sp>
        <p:nvSpPr>
          <p:cNvPr id="13" name="Text 11"/>
          <p:cNvSpPr txBox="1"/>
          <p:nvPr/>
        </p:nvSpPr>
        <p:spPr>
          <a:xfrm>
            <a:off x="4855464" y="1847088"/>
            <a:ext cx="1691640" cy="365760"/>
          </a:xfrm>
          <a:prstGeom prst="rect">
            <a:avLst/>
          </a:prstGeom>
          <a:noFill/>
        </p:spPr>
        <p:txBody>
          <a:bodyPr wrap="square" lIns="0" tIns="0" rIns="0" bIns="0" rtlCol="0" anchor="ctr"/>
          <a:lstStyle/>
          <a:p>
            <a:pPr marL="0" indent="0">
              <a:buNone/>
            </a:pPr>
            <a:r>
              <a:rPr lang="en-US" sz="1600" b="1" dirty="0">
                <a:solidFill>
                  <a:srgbClr val="F2A93B"/>
                </a:solidFill>
                <a:latin typeface="Calibri" panose="020F0502020204030204" pitchFamily="34" charset="0"/>
                <a:ea typeface="Calibri" panose="020F0502020204030204" pitchFamily="34" charset="-122"/>
                <a:cs typeface="Calibri" panose="020F0502020204030204" pitchFamily="34" charset="-120"/>
              </a:rPr>
              <a:t>3</a:t>
            </a:r>
            <a:endParaRPr lang="en-US" sz="1600" dirty="0"/>
          </a:p>
        </p:txBody>
      </p:sp>
      <p:sp>
        <p:nvSpPr>
          <p:cNvPr id="14" name="Text 12"/>
          <p:cNvSpPr txBox="1"/>
          <p:nvPr/>
        </p:nvSpPr>
        <p:spPr>
          <a:xfrm>
            <a:off x="4855464" y="2240280"/>
            <a:ext cx="1691640" cy="365760"/>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Connection string</a:t>
            </a:r>
            <a:endParaRPr lang="en-US" sz="1300" dirty="0"/>
          </a:p>
        </p:txBody>
      </p:sp>
      <p:sp>
        <p:nvSpPr>
          <p:cNvPr id="15" name="Text 13"/>
          <p:cNvSpPr txBox="1"/>
          <p:nvPr/>
        </p:nvSpPr>
        <p:spPr>
          <a:xfrm>
            <a:off x="4855464" y="2606040"/>
            <a:ext cx="1691640" cy="777240"/>
          </a:xfrm>
          <a:prstGeom prst="rect">
            <a:avLst/>
          </a:prstGeom>
          <a:noFill/>
        </p:spPr>
        <p:txBody>
          <a:bodyPr wrap="square" lIns="0" tIns="0" rIns="0" bIns="0" rtlCol="0" anchor="ctr"/>
          <a:lstStyle/>
          <a:p>
            <a:pPr marL="0" indent="0">
              <a:lnSpc>
                <a:spcPct val="115000"/>
              </a:lnSpc>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app setting on the Container App</a:t>
            </a:r>
            <a:endPar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Shape 14"/>
          <p:cNvSpPr/>
          <p:nvPr/>
        </p:nvSpPr>
        <p:spPr>
          <a:xfrm>
            <a:off x="6848856" y="1737360"/>
            <a:ext cx="1965960" cy="1737360"/>
          </a:xfrm>
          <a:prstGeom prst="roundRect">
            <a:avLst>
              <a:gd name="adj" fmla="val 5263"/>
            </a:avLst>
          </a:prstGeom>
          <a:solidFill>
            <a:srgbClr val="3A4488"/>
          </a:solidFill>
        </p:spPr>
      </p:sp>
      <p:sp>
        <p:nvSpPr>
          <p:cNvPr id="17" name="Text 15"/>
          <p:cNvSpPr txBox="1"/>
          <p:nvPr/>
        </p:nvSpPr>
        <p:spPr>
          <a:xfrm>
            <a:off x="6986016" y="1847088"/>
            <a:ext cx="1691640" cy="365760"/>
          </a:xfrm>
          <a:prstGeom prst="rect">
            <a:avLst/>
          </a:prstGeom>
          <a:noFill/>
        </p:spPr>
        <p:txBody>
          <a:bodyPr wrap="square" lIns="0" tIns="0" rIns="0" bIns="0" rtlCol="0" anchor="ctr"/>
          <a:lstStyle/>
          <a:p>
            <a:pPr marL="0" indent="0">
              <a:buNone/>
            </a:pPr>
            <a:r>
              <a:rPr lang="en-US" sz="1600" b="1" dirty="0">
                <a:solidFill>
                  <a:srgbClr val="F2A93B"/>
                </a:solidFill>
                <a:latin typeface="Calibri" panose="020F0502020204030204" pitchFamily="34" charset="0"/>
                <a:ea typeface="Calibri" panose="020F0502020204030204" pitchFamily="34" charset="-122"/>
                <a:cs typeface="Calibri" panose="020F0502020204030204" pitchFamily="34" charset="-120"/>
              </a:rPr>
              <a:t>4</a:t>
            </a:r>
            <a:endParaRPr lang="en-US" sz="1600" dirty="0"/>
          </a:p>
        </p:txBody>
      </p:sp>
      <p:sp>
        <p:nvSpPr>
          <p:cNvPr id="18" name="Text 16"/>
          <p:cNvSpPr txBox="1"/>
          <p:nvPr/>
        </p:nvSpPr>
        <p:spPr>
          <a:xfrm>
            <a:off x="6986016" y="2240280"/>
            <a:ext cx="1691640" cy="365760"/>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Instrument</a:t>
            </a:r>
            <a:endPar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Text 17"/>
          <p:cNvSpPr txBox="1"/>
          <p:nvPr/>
        </p:nvSpPr>
        <p:spPr>
          <a:xfrm>
            <a:off x="6986016" y="2606040"/>
            <a:ext cx="1691640" cy="777240"/>
          </a:xfrm>
          <a:prstGeom prst="rect">
            <a:avLst/>
          </a:prstGeom>
          <a:noFill/>
        </p:spPr>
        <p:txBody>
          <a:bodyPr wrap="square" lIns="0" tIns="0" rIns="0" bIns="0" rtlCol="0" anchor="ctr"/>
          <a:lstStyle/>
          <a:p>
            <a:pPr marL="0" indent="0">
              <a:lnSpc>
                <a:spcPct val="115000"/>
              </a:lnSpc>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OTel package + Cosmos tracing fix, in both apps</a:t>
            </a:r>
            <a:endPar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Shape 18"/>
          <p:cNvSpPr/>
          <p:nvPr/>
        </p:nvSpPr>
        <p:spPr>
          <a:xfrm>
            <a:off x="8979408" y="1737360"/>
            <a:ext cx="1965960" cy="1737360"/>
          </a:xfrm>
          <a:prstGeom prst="roundRect">
            <a:avLst>
              <a:gd name="adj" fmla="val 5263"/>
            </a:avLst>
          </a:prstGeom>
          <a:solidFill>
            <a:srgbClr val="1E2761"/>
          </a:solidFill>
        </p:spPr>
      </p:sp>
      <p:sp>
        <p:nvSpPr>
          <p:cNvPr id="21" name="Text 19"/>
          <p:cNvSpPr txBox="1"/>
          <p:nvPr/>
        </p:nvSpPr>
        <p:spPr>
          <a:xfrm>
            <a:off x="9116568" y="1847088"/>
            <a:ext cx="1691640" cy="365760"/>
          </a:xfrm>
          <a:prstGeom prst="rect">
            <a:avLst/>
          </a:prstGeom>
          <a:noFill/>
        </p:spPr>
        <p:txBody>
          <a:bodyPr wrap="square" lIns="0" tIns="0" rIns="0" bIns="0" rtlCol="0" anchor="ctr"/>
          <a:lstStyle/>
          <a:p>
            <a:pPr marL="0" indent="0">
              <a:buNone/>
            </a:pPr>
            <a:r>
              <a:rPr lang="en-US" sz="1600" b="1" dirty="0">
                <a:solidFill>
                  <a:srgbClr val="F2A93B"/>
                </a:solidFill>
                <a:latin typeface="Calibri" panose="020F0502020204030204" pitchFamily="34" charset="0"/>
                <a:ea typeface="Calibri" panose="020F0502020204030204" pitchFamily="34" charset="-122"/>
                <a:cs typeface="Calibri" panose="020F0502020204030204" pitchFamily="34" charset="-120"/>
              </a:rPr>
              <a:t>5</a:t>
            </a:r>
            <a:endParaRPr lang="en-US" sz="1600" dirty="0"/>
          </a:p>
        </p:txBody>
      </p:sp>
      <p:sp>
        <p:nvSpPr>
          <p:cNvPr id="22" name="Text 20"/>
          <p:cNvSpPr txBox="1"/>
          <p:nvPr/>
        </p:nvSpPr>
        <p:spPr>
          <a:xfrm>
            <a:off x="9116568" y="2240280"/>
            <a:ext cx="1691640" cy="365760"/>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Deploy &amp; verify</a:t>
            </a:r>
            <a:endPar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Text 21"/>
          <p:cNvSpPr txBox="1"/>
          <p:nvPr/>
        </p:nvSpPr>
        <p:spPr>
          <a:xfrm>
            <a:off x="9116568" y="2606040"/>
            <a:ext cx="1691640" cy="777240"/>
          </a:xfrm>
          <a:prstGeom prst="rect">
            <a:avLst/>
          </a:prstGeom>
          <a:noFill/>
        </p:spPr>
        <p:txBody>
          <a:bodyPr wrap="square" lIns="0" tIns="0" rIns="0" bIns="0" rtlCol="0" anchor="ctr"/>
          <a:lstStyle/>
          <a:p>
            <a:pPr marL="0" indent="0">
              <a:lnSpc>
                <a:spcPct val="115000"/>
              </a:lnSpc>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new revision + catalog-ui restart</a:t>
            </a:r>
            <a:endPar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Text 22"/>
          <p:cNvSpPr txBox="1"/>
          <p:nvPr/>
        </p:nvSpPr>
        <p:spPr>
          <a:xfrm>
            <a:off x="548640" y="3794760"/>
            <a:ext cx="10698480" cy="640080"/>
          </a:xfrm>
          <a:prstGeom prst="rect">
            <a:avLst/>
          </a:prstGeom>
          <a:noFill/>
        </p:spPr>
        <p:txBody>
          <a:bodyPr wrap="square" lIns="0" tIns="0" rIns="0" bIns="0" rtlCol="0" anchor="ctr"/>
          <a:lstStyle/>
          <a:p>
            <a:pPr marL="0" indent="0">
              <a:lnSpc>
                <a:spcPct val="120000"/>
              </a:lnSpc>
              <a:buNone/>
            </a:pPr>
            <a:r>
              <a:rPr lang="en-US" sz="1350" i="1" dirty="0">
                <a:solidFill>
                  <a:srgbClr val="1E2761"/>
                </a:solidFill>
                <a:latin typeface="Calibri" panose="020F0502020204030204" pitchFamily="34" charset="0"/>
                <a:ea typeface="Calibri" panose="020F0502020204030204" pitchFamily="34" charset="-122"/>
                <a:cs typeface="Calibri" panose="020F0502020204030204" pitchFamily="34" charset="-120"/>
              </a:rPr>
              <a:t>A new, dedicated Log Analytics workspace + App Insights component for this module — separate from the Container Apps environment's own auto-generated one from Module 1. westus2, not westcentralus: microsoft.insights/components isn't offered in every region, confirmed live with LocationNotAvailableForResourceType.</a:t>
            </a:r>
            <a:endParaRPr lang="en-US" sz="1350" i="1" dirty="0">
              <a:solidFill>
                <a:srgbClr val="1E2761"/>
              </a:solidFill>
              <a:latin typeface="Calibri" panose="020F0502020204030204" pitchFamily="34" charset="0"/>
              <a:ea typeface="Calibri" panose="020F0502020204030204" pitchFamily="34" charset="-122"/>
              <a:cs typeface="Calibri" panose="020F0502020204030204" pitchFamily="34" charset="-120"/>
            </a:endParaRPr>
          </a:p>
        </p:txBody>
      </p:sp>
      <p:sp>
        <p:nvSpPr>
          <p:cNvPr id="25" name="Shape 23"/>
          <p:cNvSpPr/>
          <p:nvPr/>
        </p:nvSpPr>
        <p:spPr>
          <a:xfrm>
            <a:off x="548640" y="4572000"/>
            <a:ext cx="5212080" cy="1600200"/>
          </a:xfrm>
          <a:prstGeom prst="roundRect">
            <a:avLst>
              <a:gd name="adj" fmla="val 5714"/>
            </a:avLst>
          </a:prstGeom>
          <a:solidFill>
            <a:srgbClr val="FCEAE8"/>
          </a:solidFill>
          <a:ln w="12700">
            <a:solidFill>
              <a:srgbClr val="B3261E"/>
            </a:solidFill>
            <a:prstDash val="solid"/>
          </a:ln>
        </p:spPr>
      </p:sp>
      <p:sp>
        <p:nvSpPr>
          <p:cNvPr id="26" name="Text 24"/>
          <p:cNvSpPr txBox="1"/>
          <p:nvPr/>
        </p:nvSpPr>
        <p:spPr>
          <a:xfrm>
            <a:off x="868680" y="4709160"/>
            <a:ext cx="4572000" cy="365760"/>
          </a:xfrm>
          <a:prstGeom prst="rect">
            <a:avLst/>
          </a:prstGeom>
          <a:noFill/>
        </p:spPr>
        <p:txBody>
          <a:bodyPr wrap="square" lIns="0" tIns="0" rIns="0" bIns="0" rtlCol="0" anchor="ctr"/>
          <a:lstStyle/>
          <a:p>
            <a:pPr marL="0" indent="0">
              <a:buNone/>
            </a:pPr>
            <a:r>
              <a:rPr lang="en-US" sz="1400" b="1" dirty="0">
                <a:solidFill>
                  <a:srgbClr val="B3261E"/>
                </a:solidFill>
                <a:latin typeface="Courier New" panose="02070309020205020404" pitchFamily="34" charset="0"/>
                <a:ea typeface="Courier New" panose="02070309020205020404" pitchFamily="34" charset="-122"/>
                <a:cs typeface="Courier New" panose="02070309020205020404" pitchFamily="34" charset="-120"/>
              </a:rPr>
              <a:t>?fail=true</a:t>
            </a:r>
            <a:endParaRPr lang="en-US" sz="1400" b="1" dirty="0">
              <a:solidFill>
                <a:srgbClr val="B3261E"/>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27" name="Text 25"/>
          <p:cNvSpPr txBox="1"/>
          <p:nvPr/>
        </p:nvSpPr>
        <p:spPr>
          <a:xfrm>
            <a:off x="868680" y="5074920"/>
            <a:ext cx="4572000" cy="1005840"/>
          </a:xfrm>
          <a:prstGeom prst="rect">
            <a:avLst/>
          </a:prstGeom>
          <a:noFill/>
        </p:spPr>
        <p:txBody>
          <a:bodyPr wrap="square" lIns="0" tIns="0" rIns="0" bIns="0" rtlCol="0" anchor="ctr"/>
          <a:lstStyle/>
          <a:p>
            <a:pPr marL="0" indent="0">
              <a:lnSpc>
                <a:spcPct val="120000"/>
              </a:lnSpc>
              <a:buNone/>
            </a:pPr>
            <a:r>
              <a:rPr lang="en-US" sz="1200" dirty="0">
                <a:solidFill>
                  <a:srgbClr val="8A2A22"/>
                </a:solidFill>
                <a:latin typeface="Calibri" panose="020F0502020204030204" pitchFamily="34" charset="0"/>
                <a:ea typeface="Calibri" panose="020F0502020204030204" pitchFamily="34" charset="-122"/>
                <a:cs typeface="Calibri" panose="020F0502020204030204" pitchFamily="34" charset="-120"/>
              </a:rPr>
              <a:t>A query-string demo hook on catalog-api-v8's /titles/count that throws a fake exception before touching Cosmos — trigger a failure on demand, live, without breaking real infrastructure.</a:t>
            </a:r>
            <a:endParaRPr lang="en-US" sz="1200" dirty="0">
              <a:solidFill>
                <a:srgbClr val="8A2A22"/>
              </a:solidFill>
              <a:latin typeface="Calibri" panose="020F0502020204030204" pitchFamily="34" charset="0"/>
              <a:ea typeface="Calibri" panose="020F0502020204030204" pitchFamily="34" charset="-122"/>
              <a:cs typeface="Calibri" panose="020F0502020204030204" pitchFamily="34" charset="-120"/>
            </a:endParaRPr>
          </a:p>
        </p:txBody>
      </p:sp>
      <p:sp>
        <p:nvSpPr>
          <p:cNvPr id="28" name="Shape 26"/>
          <p:cNvSpPr/>
          <p:nvPr/>
        </p:nvSpPr>
        <p:spPr>
          <a:xfrm>
            <a:off x="6035040" y="4572000"/>
            <a:ext cx="5257800" cy="1600200"/>
          </a:xfrm>
          <a:prstGeom prst="roundRect">
            <a:avLst>
              <a:gd name="adj" fmla="val 5714"/>
            </a:avLst>
          </a:prstGeom>
          <a:solidFill>
            <a:srgbClr val="E5F5EC"/>
          </a:solidFill>
          <a:ln w="12700">
            <a:solidFill>
              <a:srgbClr val="1A7F4B"/>
            </a:solidFill>
            <a:prstDash val="solid"/>
          </a:ln>
        </p:spPr>
      </p:sp>
      <p:sp>
        <p:nvSpPr>
          <p:cNvPr id="29" name="Text 27"/>
          <p:cNvSpPr txBox="1"/>
          <p:nvPr/>
        </p:nvSpPr>
        <p:spPr>
          <a:xfrm>
            <a:off x="6355080" y="4709160"/>
            <a:ext cx="4663440" cy="365760"/>
          </a:xfrm>
          <a:prstGeom prst="rect">
            <a:avLst/>
          </a:prstGeom>
          <a:noFill/>
        </p:spPr>
        <p:txBody>
          <a:bodyPr wrap="square" lIns="0" tIns="0" rIns="0" bIns="0" rtlCol="0" anchor="ctr"/>
          <a:lstStyle/>
          <a:p>
            <a:pPr marL="0" indent="0">
              <a:buNone/>
            </a:pPr>
            <a:r>
              <a:rPr lang="en-US" sz="1300" b="1" dirty="0">
                <a:solidFill>
                  <a:srgbClr val="1A7F4B"/>
                </a:solidFill>
                <a:latin typeface="Calibri" panose="020F0502020204030204" pitchFamily="34" charset="0"/>
                <a:ea typeface="Calibri" panose="020F0502020204030204" pitchFamily="34" charset="-122"/>
                <a:cs typeface="Calibri" panose="020F0502020204030204" pitchFamily="34" charset="-120"/>
              </a:rPr>
              <a:t>Live Metrics → Transaction Search</a:t>
            </a:r>
            <a:endParaRPr lang="en-US" sz="1300" dirty="0"/>
          </a:p>
        </p:txBody>
      </p:sp>
      <p:sp>
        <p:nvSpPr>
          <p:cNvPr id="30" name="Text 28"/>
          <p:cNvSpPr txBox="1"/>
          <p:nvPr/>
        </p:nvSpPr>
        <p:spPr>
          <a:xfrm>
            <a:off x="6355080" y="5074920"/>
            <a:ext cx="4663440" cy="1005840"/>
          </a:xfrm>
          <a:prstGeom prst="rect">
            <a:avLst/>
          </a:prstGeom>
          <a:noFill/>
        </p:spPr>
        <p:txBody>
          <a:bodyPr wrap="square" lIns="0" tIns="0" rIns="0" bIns="0" rtlCol="0" anchor="ctr"/>
          <a:lstStyle/>
          <a:p>
            <a:pPr marL="0" indent="0">
              <a:lnSpc>
                <a:spcPct val="120000"/>
              </a:lnSpc>
              <a:buNone/>
            </a:pPr>
            <a:r>
              <a:rPr lang="en-US" sz="1200" dirty="0">
                <a:solidFill>
                  <a:srgbClr val="0F5C36"/>
                </a:solidFill>
                <a:latin typeface="Calibri" panose="020F0502020204030204" pitchFamily="34" charset="0"/>
                <a:ea typeface="Calibri" panose="020F0502020204030204" pitchFamily="34" charset="-122"/>
                <a:cs typeface="Calibri" panose="020F0502020204030204" pitchFamily="34" charset="-120"/>
              </a:rPr>
              <a:t>Requests animate in within seconds. Click a trace to open the end-to-end transaction view — the actual payoff screen.</a:t>
            </a:r>
            <a:endParaRPr lang="en-US" sz="1200" dirty="0"/>
          </a:p>
        </p:txBody>
      </p:sp>
      <p:sp>
        <p:nvSpPr>
          <p:cNvPr id="31" name="Text 29"/>
          <p:cNvSpPr txBox="1"/>
          <p:nvPr/>
        </p:nvSpPr>
        <p:spPr>
          <a:xfrm>
            <a:off x="548640" y="6537960"/>
            <a:ext cx="9144000" cy="274320"/>
          </a:xfrm>
          <a:prstGeom prst="rect">
            <a:avLst/>
          </a:prstGeom>
          <a:noFill/>
        </p:spPr>
        <p:txBody>
          <a:bodyPr wrap="square" lIns="0" tIns="0" rIns="0" bIns="0" rtlCol="0" anchor="ctr"/>
          <a:lstStyle/>
          <a:p>
            <a:pPr marL="0" indent="0">
              <a:buNone/>
            </a:pPr>
            <a:r>
              <a:rPr lang="en-US" sz="900" dirty="0">
                <a:solidFill>
                  <a:srgbClr val="9AA0AE"/>
                </a:solidFill>
                <a:latin typeface="Calibri" panose="020F0502020204030204" pitchFamily="34" charset="0"/>
                <a:ea typeface="Calibri" panose="020F0502020204030204" pitchFamily="34" charset="-122"/>
                <a:cs typeface="Calibri" panose="020F0502020204030204" pitchFamily="34" charset="-120"/>
              </a:rPr>
              <a:t>Modern Enterprise Software Engineering  |  ÉSTIAM  |  Day 2, Morning</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48640" y="384048"/>
            <a:ext cx="10058400" cy="320040"/>
          </a:xfrm>
          <a:prstGeom prst="rect">
            <a:avLst/>
          </a:prstGeom>
          <a:noFill/>
        </p:spPr>
        <p:txBody>
          <a:bodyPr wrap="square" lIns="0" tIns="0" rIns="0" bIns="0" anchor="ctr">
            <a:spAutoFit/>
          </a:bodyPr>
          <a:lstStyle/>
          <a:p>
            <a:pPr algn="l"/>
            <a:r>
              <a:rPr sz="1300" b="1" i="0" spc="200">
                <a:solidFill>
                  <a:srgbClr val="F2A93B"/>
                </a:solidFill>
                <a:latin typeface="Calibri" panose="020F0502020204030204"/>
              </a:rPr>
              <a:t>TOPIC 2 — LIVE DEMO</a:t>
            </a:r>
            <a:endParaRPr sz="1300" b="1" i="0" spc="200">
              <a:solidFill>
                <a:srgbClr val="F2A93B"/>
              </a:solidFill>
              <a:latin typeface="Calibri" panose="020F0502020204030204"/>
            </a:endParaRPr>
          </a:p>
        </p:txBody>
      </p:sp>
      <p:sp>
        <p:nvSpPr>
          <p:cNvPr id="3" name="TextBox 2"/>
          <p:cNvSpPr txBox="1"/>
          <p:nvPr/>
        </p:nvSpPr>
        <p:spPr>
          <a:xfrm>
            <a:off x="548640" y="685800"/>
            <a:ext cx="11064240" cy="640080"/>
          </a:xfrm>
          <a:prstGeom prst="rect">
            <a:avLst/>
          </a:prstGeom>
          <a:noFill/>
        </p:spPr>
        <p:txBody>
          <a:bodyPr wrap="square" lIns="0" tIns="0" rIns="0" bIns="0" anchor="ctr">
            <a:spAutoFit/>
          </a:bodyPr>
          <a:lstStyle/>
          <a:p>
            <a:pPr algn="l"/>
            <a:r>
              <a:rPr sz="2800" b="1" i="0">
                <a:solidFill>
                  <a:srgbClr val="1E2761"/>
                </a:solidFill>
                <a:latin typeface="Cambria" panose="02040503050406030204"/>
              </a:rPr>
              <a:t>One correlated Operation Id, two apps</a:t>
            </a:r>
            <a:endParaRPr sz="2800" b="1" i="0">
              <a:solidFill>
                <a:srgbClr val="1E2761"/>
              </a:solidFill>
              <a:latin typeface="Cambria" panose="02040503050406030204"/>
            </a:endParaRPr>
          </a:p>
        </p:txBody>
      </p:sp>
      <p:sp>
        <p:nvSpPr>
          <p:cNvPr id="4" name="TextBox 3"/>
          <p:cNvSpPr txBox="1"/>
          <p:nvPr/>
        </p:nvSpPr>
        <p:spPr>
          <a:xfrm>
            <a:off x="548640" y="1417320"/>
            <a:ext cx="10972800" cy="502920"/>
          </a:xfrm>
          <a:prstGeom prst="rect">
            <a:avLst/>
          </a:prstGeom>
          <a:noFill/>
        </p:spPr>
        <p:txBody>
          <a:bodyPr wrap="square" lIns="0" tIns="0" rIns="0" bIns="0" anchor="ctr">
            <a:spAutoFit/>
          </a:bodyPr>
          <a:lstStyle/>
          <a:p>
            <a:pPr algn="l"/>
            <a:r>
              <a:rPr sz="1350" b="0" i="0">
                <a:solidFill>
                  <a:srgbClr val="5C6180"/>
                </a:solidFill>
                <a:latin typeface="Calibri" panose="020F0502020204030204"/>
              </a:rPr>
              <a:t>A single browser action, traced end to end across catalog-ui, catalog-api, and Cosmos DB.</a:t>
            </a:r>
            <a:endParaRPr sz="1350" b="0" i="0">
              <a:solidFill>
                <a:srgbClr val="5C6180"/>
              </a:solidFill>
              <a:latin typeface="Calibri" panose="020F0502020204030204"/>
            </a:endParaRPr>
          </a:p>
        </p:txBody>
      </p:sp>
      <p:sp>
        <p:nvSpPr>
          <p:cNvPr id="5" name="TextBox 4"/>
          <p:cNvSpPr txBox="1"/>
          <p:nvPr/>
        </p:nvSpPr>
        <p:spPr>
          <a:xfrm>
            <a:off x="548640" y="6537960"/>
            <a:ext cx="9144000" cy="274320"/>
          </a:xfrm>
          <a:prstGeom prst="rect">
            <a:avLst/>
          </a:prstGeom>
          <a:noFill/>
        </p:spPr>
        <p:txBody>
          <a:bodyPr wrap="square" lIns="0" tIns="0" rIns="0" bIns="0" anchor="ctr">
            <a:spAutoFit/>
          </a:bodyPr>
          <a:lstStyle/>
          <a:p>
            <a:pPr algn="l"/>
            <a:r>
              <a:rPr sz="1000" b="0" i="0">
                <a:solidFill>
                  <a:srgbClr val="5C6180"/>
                </a:solidFill>
                <a:latin typeface="Calibri" panose="020F0502020204030204"/>
              </a:rPr>
              <a:t>Modern Enterprise Software Engineering  |  ÉSTIAM  |  Day 2, Morning</a:t>
            </a:r>
            <a:endParaRPr sz="1000" b="0" i="0">
              <a:solidFill>
                <a:srgbClr val="5C6180"/>
              </a:solidFill>
              <a:latin typeface="Calibri" panose="020F0502020204030204"/>
            </a:endParaRPr>
          </a:p>
        </p:txBody>
      </p:sp>
      <p:sp>
        <p:nvSpPr>
          <p:cNvPr id="6" name="Rounded Rectangle 5"/>
          <p:cNvSpPr/>
          <p:nvPr/>
        </p:nvSpPr>
        <p:spPr>
          <a:xfrm>
            <a:off x="548640" y="2148840"/>
            <a:ext cx="3246120" cy="1600200"/>
          </a:xfrm>
          <a:prstGeom prst="roundRect">
            <a:avLst>
              <a:gd name="adj" fmla="val 6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13232" y="2295144"/>
            <a:ext cx="2916936" cy="292608"/>
          </a:xfrm>
          <a:prstGeom prst="rect">
            <a:avLst/>
          </a:prstGeom>
          <a:noFill/>
        </p:spPr>
        <p:txBody>
          <a:bodyPr wrap="square" lIns="0" tIns="0" rIns="0" bIns="0" anchor="ctr">
            <a:spAutoFit/>
          </a:bodyPr>
          <a:lstStyle/>
          <a:p>
            <a:pPr algn="l"/>
            <a:r>
              <a:rPr sz="1300" b="1" i="0">
                <a:solidFill>
                  <a:srgbClr val="F2A93B"/>
                </a:solidFill>
                <a:latin typeface="Calibri" panose="020F0502020204030204"/>
              </a:rPr>
              <a:t>App Service</a:t>
            </a:r>
            <a:endParaRPr sz="1300" b="1" i="0">
              <a:solidFill>
                <a:srgbClr val="F2A93B"/>
              </a:solidFill>
              <a:latin typeface="Calibri" panose="020F0502020204030204"/>
            </a:endParaRPr>
          </a:p>
        </p:txBody>
      </p:sp>
      <p:sp>
        <p:nvSpPr>
          <p:cNvPr id="8" name="TextBox 7"/>
          <p:cNvSpPr txBox="1"/>
          <p:nvPr/>
        </p:nvSpPr>
        <p:spPr>
          <a:xfrm>
            <a:off x="713232" y="2651760"/>
            <a:ext cx="2916936" cy="502920"/>
          </a:xfrm>
          <a:prstGeom prst="rect">
            <a:avLst/>
          </a:prstGeom>
          <a:noFill/>
        </p:spPr>
        <p:txBody>
          <a:bodyPr wrap="square" lIns="0" tIns="0" rIns="0" bIns="0" anchor="ctr">
            <a:spAutoFit/>
          </a:bodyPr>
          <a:lstStyle/>
          <a:p>
            <a:pPr algn="l"/>
            <a:r>
              <a:rPr sz="1500" b="1" i="0">
                <a:solidFill>
                  <a:srgbClr val="FFFFFF"/>
                </a:solidFill>
                <a:latin typeface="Cambria" panose="02040503050406030204"/>
              </a:rPr>
              <a:t>catalog-ui</a:t>
            </a:r>
            <a:endParaRPr sz="1500" b="1" i="0">
              <a:solidFill>
                <a:srgbClr val="FFFFFF"/>
              </a:solidFill>
              <a:latin typeface="Cambria" panose="02040503050406030204"/>
            </a:endParaRPr>
          </a:p>
        </p:txBody>
      </p:sp>
      <p:sp>
        <p:nvSpPr>
          <p:cNvPr id="9" name="TextBox 8"/>
          <p:cNvSpPr txBox="1"/>
          <p:nvPr/>
        </p:nvSpPr>
        <p:spPr>
          <a:xfrm>
            <a:off x="713232" y="3200400"/>
            <a:ext cx="2916936" cy="502920"/>
          </a:xfrm>
          <a:prstGeom prst="rect">
            <a:avLst/>
          </a:prstGeom>
          <a:noFill/>
        </p:spPr>
        <p:txBody>
          <a:bodyPr wrap="square" lIns="0" tIns="0" rIns="0" bIns="0" anchor="ctr">
            <a:spAutoFit/>
          </a:bodyPr>
          <a:lstStyle/>
          <a:p>
            <a:pPr algn="l"/>
            <a:r>
              <a:rPr sz="1050" b="0" i="0">
                <a:solidFill>
                  <a:srgbClr val="CADCFC"/>
                </a:solidFill>
                <a:latin typeface="Consolas" panose="020B0609020204030204"/>
              </a:rPr>
              <a:t>webapp-estiam-dev-2</a:t>
            </a:r>
            <a:endParaRPr sz="1050" b="0" i="0">
              <a:solidFill>
                <a:srgbClr val="CADCFC"/>
              </a:solidFill>
              <a:latin typeface="Consolas" panose="020B0609020204030204"/>
            </a:endParaRPr>
          </a:p>
          <a:p>
            <a:pPr algn="l"/>
            <a:r>
              <a:rPr sz="1050" b="0" i="0">
                <a:solidFill>
                  <a:srgbClr val="CADCFC"/>
                </a:solidFill>
                <a:latin typeface="Consolas" panose="020B0609020204030204"/>
              </a:rPr>
              <a:t>GET api/titles/count</a:t>
            </a:r>
            <a:endParaRPr sz="1050" b="0" i="0">
              <a:solidFill>
                <a:srgbClr val="CADCFC"/>
              </a:solidFill>
              <a:latin typeface="Consolas" panose="020B0609020204030204"/>
            </a:endParaRPr>
          </a:p>
        </p:txBody>
      </p:sp>
      <p:sp>
        <p:nvSpPr>
          <p:cNvPr id="10" name="TextBox 9"/>
          <p:cNvSpPr txBox="1"/>
          <p:nvPr/>
        </p:nvSpPr>
        <p:spPr>
          <a:xfrm>
            <a:off x="3858768" y="2697480"/>
            <a:ext cx="685800" cy="457200"/>
          </a:xfrm>
          <a:prstGeom prst="rect">
            <a:avLst/>
          </a:prstGeom>
          <a:noFill/>
        </p:spPr>
        <p:txBody>
          <a:bodyPr wrap="square" lIns="0" tIns="0" rIns="0" bIns="0" anchor="ctr">
            <a:spAutoFit/>
          </a:bodyPr>
          <a:lstStyle/>
          <a:p>
            <a:pPr algn="ctr"/>
            <a:r>
              <a:rPr sz="2600" b="0" i="0">
                <a:solidFill>
                  <a:srgbClr val="5C6180"/>
                </a:solidFill>
                <a:latin typeface="Calibri" panose="020F0502020204030204"/>
              </a:rPr>
              <a:t>→</a:t>
            </a:r>
            <a:endParaRPr sz="2600" b="0" i="0">
              <a:solidFill>
                <a:srgbClr val="5C6180"/>
              </a:solidFill>
              <a:latin typeface="Calibri" panose="020F0502020204030204"/>
            </a:endParaRPr>
          </a:p>
        </p:txBody>
      </p:sp>
      <p:sp>
        <p:nvSpPr>
          <p:cNvPr id="11" name="TextBox 10"/>
          <p:cNvSpPr txBox="1"/>
          <p:nvPr/>
        </p:nvSpPr>
        <p:spPr>
          <a:xfrm>
            <a:off x="3429000" y="1856232"/>
            <a:ext cx="1554480" cy="274320"/>
          </a:xfrm>
          <a:prstGeom prst="rect">
            <a:avLst/>
          </a:prstGeom>
          <a:noFill/>
        </p:spPr>
        <p:txBody>
          <a:bodyPr wrap="square" lIns="0" tIns="0" rIns="0" bIns="0" anchor="ctr">
            <a:spAutoFit/>
          </a:bodyPr>
          <a:lstStyle/>
          <a:p>
            <a:pPr algn="ctr"/>
            <a:r>
              <a:rPr sz="1050" b="0" i="1">
                <a:solidFill>
                  <a:srgbClr val="5C6180"/>
                </a:solidFill>
                <a:latin typeface="Calibri" panose="020F0502020204030204"/>
              </a:rPr>
              <a:t>Dependency</a:t>
            </a:r>
            <a:endParaRPr sz="1050" b="0" i="1">
              <a:solidFill>
                <a:srgbClr val="5C6180"/>
              </a:solidFill>
              <a:latin typeface="Calibri" panose="020F0502020204030204"/>
            </a:endParaRPr>
          </a:p>
        </p:txBody>
      </p:sp>
      <p:sp>
        <p:nvSpPr>
          <p:cNvPr id="12" name="Rounded Rectangle 11"/>
          <p:cNvSpPr/>
          <p:nvPr/>
        </p:nvSpPr>
        <p:spPr>
          <a:xfrm>
            <a:off x="4572000" y="2148840"/>
            <a:ext cx="3246120" cy="1600200"/>
          </a:xfrm>
          <a:prstGeom prst="roundRect">
            <a:avLst>
              <a:gd name="adj" fmla="val 6000"/>
            </a:avLst>
          </a:prstGeom>
          <a:solidFill>
            <a:srgbClr val="3A4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36592" y="2295144"/>
            <a:ext cx="2916936" cy="292608"/>
          </a:xfrm>
          <a:prstGeom prst="rect">
            <a:avLst/>
          </a:prstGeom>
          <a:noFill/>
        </p:spPr>
        <p:txBody>
          <a:bodyPr wrap="square" lIns="0" tIns="0" rIns="0" bIns="0" anchor="ctr">
            <a:spAutoFit/>
          </a:bodyPr>
          <a:lstStyle/>
          <a:p>
            <a:pPr algn="l"/>
            <a:r>
              <a:rPr sz="1300" b="1" i="0">
                <a:solidFill>
                  <a:srgbClr val="F2A93B"/>
                </a:solidFill>
                <a:latin typeface="Calibri" panose="020F0502020204030204"/>
              </a:rPr>
              <a:t>Container App</a:t>
            </a:r>
            <a:endParaRPr sz="1300" b="1" i="0">
              <a:solidFill>
                <a:srgbClr val="F2A93B"/>
              </a:solidFill>
              <a:latin typeface="Calibri" panose="020F0502020204030204"/>
            </a:endParaRPr>
          </a:p>
        </p:txBody>
      </p:sp>
      <p:sp>
        <p:nvSpPr>
          <p:cNvPr id="14" name="TextBox 13"/>
          <p:cNvSpPr txBox="1"/>
          <p:nvPr/>
        </p:nvSpPr>
        <p:spPr>
          <a:xfrm>
            <a:off x="4736592" y="2651760"/>
            <a:ext cx="2916936" cy="502920"/>
          </a:xfrm>
          <a:prstGeom prst="rect">
            <a:avLst/>
          </a:prstGeom>
          <a:noFill/>
        </p:spPr>
        <p:txBody>
          <a:bodyPr wrap="square" lIns="0" tIns="0" rIns="0" bIns="0" anchor="ctr">
            <a:spAutoFit/>
          </a:bodyPr>
          <a:lstStyle/>
          <a:p>
            <a:pPr algn="l"/>
            <a:r>
              <a:rPr sz="1500" b="1" i="0">
                <a:solidFill>
                  <a:srgbClr val="FFFFFF"/>
                </a:solidFill>
                <a:latin typeface="Cambria" panose="02040503050406030204"/>
              </a:rPr>
              <a:t>catalog-api</a:t>
            </a:r>
            <a:endParaRPr sz="1500" b="1" i="0">
              <a:solidFill>
                <a:srgbClr val="FFFFFF"/>
              </a:solidFill>
              <a:latin typeface="Cambria" panose="02040503050406030204"/>
            </a:endParaRPr>
          </a:p>
        </p:txBody>
      </p:sp>
      <p:sp>
        <p:nvSpPr>
          <p:cNvPr id="15" name="TextBox 14"/>
          <p:cNvSpPr txBox="1"/>
          <p:nvPr/>
        </p:nvSpPr>
        <p:spPr>
          <a:xfrm>
            <a:off x="4736592" y="3200400"/>
            <a:ext cx="2916936" cy="502920"/>
          </a:xfrm>
          <a:prstGeom prst="rect">
            <a:avLst/>
          </a:prstGeom>
          <a:noFill/>
        </p:spPr>
        <p:txBody>
          <a:bodyPr wrap="square" lIns="0" tIns="0" rIns="0" bIns="0" anchor="ctr">
            <a:spAutoFit/>
          </a:bodyPr>
          <a:lstStyle/>
          <a:p>
            <a:pPr algn="l"/>
            <a:r>
              <a:rPr sz="1050" b="0" i="0">
                <a:solidFill>
                  <a:srgbClr val="CADCFC"/>
                </a:solidFill>
                <a:latin typeface="Consolas" panose="020B0609020204030204"/>
              </a:rPr>
              <a:t>app-estiam-dev-2</a:t>
            </a:r>
            <a:endParaRPr sz="1050" b="0" i="0">
              <a:solidFill>
                <a:srgbClr val="CADCFC"/>
              </a:solidFill>
              <a:latin typeface="Consolas" panose="020B0609020204030204"/>
            </a:endParaRPr>
          </a:p>
          <a:p>
            <a:pPr algn="l"/>
            <a:r>
              <a:rPr sz="1050" b="0" i="0">
                <a:solidFill>
                  <a:srgbClr val="CADCFC"/>
                </a:solidFill>
                <a:latin typeface="Consolas" panose="020B0609020204030204"/>
              </a:rPr>
              <a:t>GET /titles/count</a:t>
            </a:r>
            <a:endParaRPr sz="1050" b="0" i="0">
              <a:solidFill>
                <a:srgbClr val="CADCFC"/>
              </a:solidFill>
              <a:latin typeface="Consolas" panose="020B0609020204030204"/>
            </a:endParaRPr>
          </a:p>
        </p:txBody>
      </p:sp>
      <p:sp>
        <p:nvSpPr>
          <p:cNvPr id="16" name="TextBox 15"/>
          <p:cNvSpPr txBox="1"/>
          <p:nvPr/>
        </p:nvSpPr>
        <p:spPr>
          <a:xfrm>
            <a:off x="7882128" y="2697480"/>
            <a:ext cx="685800" cy="457200"/>
          </a:xfrm>
          <a:prstGeom prst="rect">
            <a:avLst/>
          </a:prstGeom>
          <a:noFill/>
        </p:spPr>
        <p:txBody>
          <a:bodyPr wrap="square" lIns="0" tIns="0" rIns="0" bIns="0" anchor="ctr">
            <a:spAutoFit/>
          </a:bodyPr>
          <a:lstStyle/>
          <a:p>
            <a:pPr algn="ctr"/>
            <a:r>
              <a:rPr sz="2600" b="0" i="0">
                <a:solidFill>
                  <a:srgbClr val="5C6180"/>
                </a:solidFill>
                <a:latin typeface="Calibri" panose="020F0502020204030204"/>
              </a:rPr>
              <a:t>→</a:t>
            </a:r>
            <a:endParaRPr sz="2600" b="0" i="0">
              <a:solidFill>
                <a:srgbClr val="5C6180"/>
              </a:solidFill>
              <a:latin typeface="Calibri" panose="020F0502020204030204"/>
            </a:endParaRPr>
          </a:p>
        </p:txBody>
      </p:sp>
      <p:sp>
        <p:nvSpPr>
          <p:cNvPr id="17" name="TextBox 16"/>
          <p:cNvSpPr txBox="1"/>
          <p:nvPr/>
        </p:nvSpPr>
        <p:spPr>
          <a:xfrm>
            <a:off x="7452360" y="1856232"/>
            <a:ext cx="1554480" cy="274320"/>
          </a:xfrm>
          <a:prstGeom prst="rect">
            <a:avLst/>
          </a:prstGeom>
          <a:noFill/>
        </p:spPr>
        <p:txBody>
          <a:bodyPr wrap="square" lIns="0" tIns="0" rIns="0" bIns="0" anchor="ctr">
            <a:spAutoFit/>
          </a:bodyPr>
          <a:lstStyle/>
          <a:p>
            <a:pPr algn="ctr"/>
            <a:r>
              <a:rPr sz="1050" b="0" i="1">
                <a:solidFill>
                  <a:srgbClr val="5C6180"/>
                </a:solidFill>
                <a:latin typeface="Calibri" panose="020F0502020204030204"/>
              </a:rPr>
              <a:t>Dependency</a:t>
            </a:r>
            <a:endParaRPr sz="1050" b="0" i="1">
              <a:solidFill>
                <a:srgbClr val="5C6180"/>
              </a:solidFill>
              <a:latin typeface="Calibri" panose="020F0502020204030204"/>
            </a:endParaRPr>
          </a:p>
        </p:txBody>
      </p:sp>
      <p:sp>
        <p:nvSpPr>
          <p:cNvPr id="18" name="Rounded Rectangle 17"/>
          <p:cNvSpPr/>
          <p:nvPr/>
        </p:nvSpPr>
        <p:spPr>
          <a:xfrm>
            <a:off x="8595360" y="2148840"/>
            <a:ext cx="3063240" cy="1600200"/>
          </a:xfrm>
          <a:prstGeom prst="roundRect">
            <a:avLst>
              <a:gd name="adj" fmla="val 6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759952" y="2295144"/>
            <a:ext cx="2734056" cy="292608"/>
          </a:xfrm>
          <a:prstGeom prst="rect">
            <a:avLst/>
          </a:prstGeom>
          <a:noFill/>
        </p:spPr>
        <p:txBody>
          <a:bodyPr wrap="square" lIns="0" tIns="0" rIns="0" bIns="0" anchor="ctr">
            <a:spAutoFit/>
          </a:bodyPr>
          <a:lstStyle/>
          <a:p>
            <a:pPr algn="l"/>
            <a:r>
              <a:rPr sz="1300" b="1" i="0">
                <a:solidFill>
                  <a:srgbClr val="F2A93B"/>
                </a:solidFill>
                <a:latin typeface="Calibri" panose="020F0502020204030204"/>
              </a:rPr>
              <a:t>Cosmos DB</a:t>
            </a:r>
            <a:endParaRPr sz="1300" b="1" i="0">
              <a:solidFill>
                <a:srgbClr val="F2A93B"/>
              </a:solidFill>
              <a:latin typeface="Calibri" panose="020F0502020204030204"/>
            </a:endParaRPr>
          </a:p>
        </p:txBody>
      </p:sp>
      <p:sp>
        <p:nvSpPr>
          <p:cNvPr id="20" name="TextBox 19"/>
          <p:cNvSpPr txBox="1"/>
          <p:nvPr/>
        </p:nvSpPr>
        <p:spPr>
          <a:xfrm>
            <a:off x="8759952" y="2651760"/>
            <a:ext cx="2734056" cy="502920"/>
          </a:xfrm>
          <a:prstGeom prst="rect">
            <a:avLst/>
          </a:prstGeom>
          <a:noFill/>
        </p:spPr>
        <p:txBody>
          <a:bodyPr wrap="square" lIns="0" tIns="0" rIns="0" bIns="0" anchor="ctr">
            <a:spAutoFit/>
          </a:bodyPr>
          <a:lstStyle/>
          <a:p>
            <a:pPr algn="l"/>
            <a:r>
              <a:rPr sz="1500" b="1" i="0">
                <a:solidFill>
                  <a:srgbClr val="FFFFFF"/>
                </a:solidFill>
                <a:latin typeface="Cambria" panose="02040503050406030204"/>
              </a:rPr>
              <a:t>cosmos-estiam-dev-2</a:t>
            </a:r>
            <a:endParaRPr sz="1500" b="1" i="0">
              <a:solidFill>
                <a:srgbClr val="FFFFFF"/>
              </a:solidFill>
              <a:latin typeface="Cambria" panose="02040503050406030204"/>
            </a:endParaRPr>
          </a:p>
        </p:txBody>
      </p:sp>
      <p:sp>
        <p:nvSpPr>
          <p:cNvPr id="21" name="TextBox 20"/>
          <p:cNvSpPr txBox="1"/>
          <p:nvPr/>
        </p:nvSpPr>
        <p:spPr>
          <a:xfrm>
            <a:off x="8759952" y="3200400"/>
            <a:ext cx="2734056" cy="502920"/>
          </a:xfrm>
          <a:prstGeom prst="rect">
            <a:avLst/>
          </a:prstGeom>
          <a:noFill/>
        </p:spPr>
        <p:txBody>
          <a:bodyPr wrap="square" lIns="0" tIns="0" rIns="0" bIns="0" anchor="ctr">
            <a:spAutoFit/>
          </a:bodyPr>
          <a:lstStyle/>
          <a:p>
            <a:pPr algn="l"/>
            <a:r>
              <a:rPr sz="1050" b="0" i="0">
                <a:solidFill>
                  <a:srgbClr val="CADCFC"/>
                </a:solidFill>
                <a:latin typeface="Consolas" panose="020B0609020204030204"/>
              </a:rPr>
              <a:t>query_items Titles</a:t>
            </a:r>
            <a:endParaRPr sz="1050" b="0" i="0">
              <a:solidFill>
                <a:srgbClr val="CADCFC"/>
              </a:solidFill>
              <a:latin typeface="Consolas" panose="020B0609020204030204"/>
            </a:endParaRPr>
          </a:p>
        </p:txBody>
      </p:sp>
      <p:sp>
        <p:nvSpPr>
          <p:cNvPr id="22" name="Rounded Rectangle 21"/>
          <p:cNvSpPr/>
          <p:nvPr/>
        </p:nvSpPr>
        <p:spPr>
          <a:xfrm>
            <a:off x="548640" y="4005072"/>
            <a:ext cx="11109960" cy="566928"/>
          </a:xfrm>
          <a:prstGeom prst="roundRect">
            <a:avLst>
              <a:gd name="adj" fmla="val 14000"/>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48640" y="4005072"/>
            <a:ext cx="11109960" cy="566928"/>
          </a:xfrm>
          <a:prstGeom prst="rect">
            <a:avLst/>
          </a:prstGeom>
          <a:noFill/>
        </p:spPr>
        <p:txBody>
          <a:bodyPr wrap="square" lIns="0" tIns="0" rIns="0" bIns="0" anchor="ctr">
            <a:spAutoFit/>
          </a:bodyPr>
          <a:lstStyle/>
          <a:p>
            <a:pPr algn="ctr"/>
            <a:r>
              <a:rPr sz="1450" b="1" i="0">
                <a:solidFill>
                  <a:srgbClr val="141A47"/>
                </a:solidFill>
                <a:latin typeface="Calibri" panose="020F0502020204030204"/>
              </a:rPr>
              <a:t>one operation_Id tags all three — the whole story, on one screen</a:t>
            </a:r>
            <a:endParaRPr sz="1450" b="1" i="0">
              <a:solidFill>
                <a:srgbClr val="141A47"/>
              </a:solidFill>
              <a:latin typeface="Calibri" panose="020F0502020204030204"/>
            </a:endParaRPr>
          </a:p>
        </p:txBody>
      </p:sp>
      <p:sp>
        <p:nvSpPr>
          <p:cNvPr id="24" name="Rounded Rectangle 23"/>
          <p:cNvSpPr/>
          <p:nvPr/>
        </p:nvSpPr>
        <p:spPr>
          <a:xfrm>
            <a:off x="548640" y="4800600"/>
            <a:ext cx="11109960" cy="1417320"/>
          </a:xfrm>
          <a:prstGeom prst="roundRect">
            <a:avLst>
              <a:gd name="adj" fmla="val 5000"/>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68680" y="4956048"/>
            <a:ext cx="10469880" cy="365760"/>
          </a:xfrm>
          <a:prstGeom prst="rect">
            <a:avLst/>
          </a:prstGeom>
          <a:noFill/>
        </p:spPr>
        <p:txBody>
          <a:bodyPr wrap="square" lIns="0" tIns="0" rIns="0" bIns="0" anchor="ctr">
            <a:spAutoFit/>
          </a:bodyPr>
          <a:lstStyle/>
          <a:p>
            <a:pPr algn="l"/>
            <a:r>
              <a:rPr sz="1300" b="1" i="0">
                <a:solidFill>
                  <a:srgbClr val="1E2761"/>
                </a:solidFill>
                <a:latin typeface="Calibri" panose="020F0502020204030204"/>
              </a:rPr>
              <a:t>Confirmed live</a:t>
            </a:r>
            <a:endParaRPr sz="1300" b="1" i="0">
              <a:solidFill>
                <a:srgbClr val="1E2761"/>
              </a:solidFill>
              <a:latin typeface="Calibri" panose="020F0502020204030204"/>
            </a:endParaRPr>
          </a:p>
        </p:txBody>
      </p:sp>
      <p:sp>
        <p:nvSpPr>
          <p:cNvPr id="26" name="TextBox 25"/>
          <p:cNvSpPr txBox="1"/>
          <p:nvPr/>
        </p:nvSpPr>
        <p:spPr>
          <a:xfrm>
            <a:off x="868680" y="5303520"/>
            <a:ext cx="10469880" cy="868680"/>
          </a:xfrm>
          <a:prstGeom prst="rect">
            <a:avLst/>
          </a:prstGeom>
          <a:noFill/>
        </p:spPr>
        <p:txBody>
          <a:bodyPr wrap="square" lIns="0" tIns="0" rIns="0" bIns="0" anchor="ctr">
            <a:spAutoFit/>
          </a:bodyPr>
          <a:lstStyle/>
          <a:p>
            <a:pPr algn="l">
              <a:lnSpc>
                <a:spcPct val="118000"/>
              </a:lnSpc>
            </a:pPr>
            <a:r>
              <a:rPr sz="1150" b="0" i="0">
                <a:solidFill>
                  <a:srgbClr val="22223A"/>
                </a:solidFill>
                <a:latin typeface="Calibri" panose="020F0502020204030204"/>
              </a:rPr>
              <a:t>GET /titles/count (cloud_RoleName: app-estiam-dev-2) and GET api/titles/count (cloud_RoleName: webapp-estiam-dev-2) share the same operation_Id — real cross-service correlation. cloud_RoleName is populated automatically from each Azure resource's own name; nothing to configure by hand.</a:t>
            </a:r>
            <a:endParaRPr sz="1150" b="0" i="0">
              <a:solidFill>
                <a:srgbClr val="22223A"/>
              </a:solidFill>
              <a:latin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365760"/>
          </a:xfrm>
          <a:prstGeom prst="rect">
            <a:avLst/>
          </a:prstGeom>
          <a:noFill/>
        </p:spPr>
        <p:txBody>
          <a:bodyPr wrap="square" lIns="0" tIns="0" rIns="0" bIns="0" rtlCol="0" anchor="ctr"/>
          <a:lstStyle/>
          <a:p>
            <a:pPr marL="0" indent="0">
              <a:buNone/>
            </a:pPr>
            <a:r>
              <a:rPr lang="en-US" sz="1200" b="1" kern="0" spc="100" dirty="0">
                <a:solidFill>
                  <a:srgbClr val="F2A93B"/>
                </a:solidFill>
                <a:latin typeface="Calibri" panose="020F0502020204030204" pitchFamily="34" charset="0"/>
                <a:ea typeface="Calibri" panose="020F0502020204030204" pitchFamily="34" charset="-122"/>
                <a:cs typeface="Calibri" panose="020F0502020204030204" pitchFamily="34" charset="-120"/>
              </a:rPr>
              <a:t>GOTCHA — HIT LIVE TESTING THIS MODULE</a:t>
            </a:r>
            <a:endParaRPr lang="en-US" sz="1200" dirty="0"/>
          </a:p>
        </p:txBody>
      </p:sp>
      <p:sp>
        <p:nvSpPr>
          <p:cNvPr id="3" name="Text 1"/>
          <p:cNvSpPr txBox="1"/>
          <p:nvPr/>
        </p:nvSpPr>
        <p:spPr>
          <a:xfrm>
            <a:off x="548640" y="685800"/>
            <a:ext cx="10972800" cy="640080"/>
          </a:xfrm>
          <a:prstGeom prst="rect">
            <a:avLst/>
          </a:prstGeom>
          <a:noFill/>
        </p:spPr>
        <p:txBody>
          <a:bodyPr wrap="square" lIns="0" tIns="0" rIns="0" bIns="0" rtlCol="0" anchor="ctr"/>
          <a:lstStyle/>
          <a:p>
            <a:pPr marL="0" indent="0">
              <a:buNone/>
            </a:pPr>
            <a:r>
              <a:rPr lang="en-US" sz="2800" b="1" dirty="0">
                <a:solidFill>
                  <a:srgbClr val="1E2761"/>
                </a:solidFill>
                <a:latin typeface="Cambria" panose="02040503050406030204" pitchFamily="34" charset="0"/>
                <a:ea typeface="Cambria" panose="02040503050406030204" pitchFamily="34" charset="-122"/>
                <a:cs typeface="Cambria" panose="02040503050406030204" pitchFamily="34" charset="-120"/>
              </a:rPr>
              <a:t>“Instrumented” isn't automatic for every SDK</a:t>
            </a:r>
            <a:endParaRPr lang="en-US" sz="2800" dirty="0"/>
          </a:p>
        </p:txBody>
      </p:sp>
      <p:sp>
        <p:nvSpPr>
          <p:cNvPr id="4" name="Text 2"/>
          <p:cNvSpPr txBox="1"/>
          <p:nvPr/>
        </p:nvSpPr>
        <p:spPr>
          <a:xfrm>
            <a:off x="548640" y="1554480"/>
            <a:ext cx="10698480" cy="731520"/>
          </a:xfrm>
          <a:prstGeom prst="rect">
            <a:avLst/>
          </a:prstGeom>
          <a:noFill/>
        </p:spPr>
        <p:txBody>
          <a:bodyPr wrap="square" lIns="0" tIns="0" rIns="0" bIns="0" rtlCol="0" anchor="ctr"/>
          <a:lstStyle/>
          <a:p>
            <a:pPr marL="0" indent="0">
              <a:lnSpc>
                <a:spcPct val="120000"/>
              </a:lnSpc>
              <a:buNone/>
            </a:pPr>
            <a:r>
              <a:rPr lang="en-US" sz="1500" dirty="0">
                <a:solidFill>
                  <a:srgbClr val="1C1F2A"/>
                </a:solidFill>
                <a:latin typeface="Calibri" panose="020F0502020204030204" pitchFamily="34" charset="0"/>
                <a:ea typeface="Calibri" panose="020F0502020204030204" pitchFamily="34" charset="-122"/>
                <a:cs typeface="Calibri" panose="020F0502020204030204" pitchFamily="34" charset="-120"/>
              </a:rPr>
              <a:t>Everything worked — Requests, Traces, Exceptions all showed up. The Cosmos DB dependency call was still missing from the transaction view.</a:t>
            </a:r>
            <a:endParaRPr lang="en-US" sz="1500" dirty="0"/>
          </a:p>
        </p:txBody>
      </p:sp>
      <p:sp>
        <p:nvSpPr>
          <p:cNvPr id="5" name="Shape 3"/>
          <p:cNvSpPr/>
          <p:nvPr/>
        </p:nvSpPr>
        <p:spPr>
          <a:xfrm>
            <a:off x="548640" y="2423160"/>
            <a:ext cx="10698480" cy="914400"/>
          </a:xfrm>
          <a:prstGeom prst="roundRect">
            <a:avLst>
              <a:gd name="adj" fmla="val 10000"/>
            </a:avLst>
          </a:prstGeom>
          <a:solidFill>
            <a:srgbClr val="1E2761"/>
          </a:solidFill>
        </p:spPr>
      </p:sp>
      <p:sp>
        <p:nvSpPr>
          <p:cNvPr id="6" name="Text 4"/>
          <p:cNvSpPr txBox="1"/>
          <p:nvPr/>
        </p:nvSpPr>
        <p:spPr>
          <a:xfrm>
            <a:off x="822960" y="2423160"/>
            <a:ext cx="10149840" cy="914400"/>
          </a:xfrm>
          <a:prstGeom prst="rect">
            <a:avLst/>
          </a:prstGeom>
          <a:noFill/>
        </p:spPr>
        <p:txBody>
          <a:bodyPr wrap="square" lIns="0" tIns="0" rIns="0" bIns="0" rtlCol="0" anchor="ctr"/>
          <a:lstStyle/>
          <a:p>
            <a:pPr marL="0" indent="0">
              <a:lnSpc>
                <a:spcPct val="120000"/>
              </a:lnSpc>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Root cause: the Cosmos .NET SDK ships with its own OpenTelemetry tracing OFF BY DEFAULT (SDK ≥ 3.36.0 -- catalog-api is on 3.46.1). Being instrumented at the ASP.NET Core/OpenTelemetry level doesn't automatically mean every SDK's calls get traced -- Cosmos needs its own separate opt-in.</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Shape 5"/>
          <p:cNvSpPr/>
          <p:nvPr/>
        </p:nvSpPr>
        <p:spPr>
          <a:xfrm>
            <a:off x="548640" y="3520440"/>
            <a:ext cx="5212080" cy="2286000"/>
          </a:xfrm>
          <a:prstGeom prst="roundRect">
            <a:avLst>
              <a:gd name="adj" fmla="val 4000"/>
            </a:avLst>
          </a:prstGeom>
          <a:solidFill>
            <a:srgbClr val="FFFFFF"/>
          </a:solidFill>
          <a:ln w="12700">
            <a:solidFill>
              <a:srgbClr val="DFE2EA"/>
            </a:solidFill>
            <a:prstDash val="solid"/>
          </a:ln>
        </p:spPr>
      </p:sp>
      <p:sp>
        <p:nvSpPr>
          <p:cNvPr id="8" name="Text 6"/>
          <p:cNvSpPr txBox="1"/>
          <p:nvPr/>
        </p:nvSpPr>
        <p:spPr>
          <a:xfrm>
            <a:off x="868680" y="3657600"/>
            <a:ext cx="4572000" cy="365760"/>
          </a:xfrm>
          <a:prstGeom prst="rect">
            <a:avLst/>
          </a:prstGeom>
          <a:noFill/>
        </p:spPr>
        <p:txBody>
          <a:bodyPr wrap="square" lIns="0" tIns="0" rIns="0" bIns="0" rtlCol="0" anchor="ctr"/>
          <a:lstStyle/>
          <a:p>
            <a:pPr marL="0" indent="0">
              <a:buNone/>
            </a:pPr>
            <a:r>
              <a:rPr lang="en-US" sz="1400" b="1" dirty="0">
                <a:solidFill>
                  <a:srgbClr val="1E2761"/>
                </a:solidFill>
                <a:latin typeface="Courier New" panose="02070309020205020404" pitchFamily="34" charset="0"/>
                <a:ea typeface="Courier New" panose="02070309020205020404" pitchFamily="34" charset="-122"/>
                <a:cs typeface="Courier New" panose="02070309020205020404" pitchFamily="34" charset="-120"/>
              </a:rPr>
              <a:t>Program.cs</a:t>
            </a:r>
            <a:endParaRPr lang="en-US" sz="1400" dirty="0"/>
          </a:p>
        </p:txBody>
      </p:sp>
      <p:sp>
        <p:nvSpPr>
          <p:cNvPr id="9" name="Text 7"/>
          <p:cNvSpPr txBox="1"/>
          <p:nvPr/>
        </p:nvSpPr>
        <p:spPr>
          <a:xfrm>
            <a:off x="868680" y="4069080"/>
            <a:ext cx="4572000" cy="1645920"/>
          </a:xfrm>
          <a:prstGeom prst="rect">
            <a:avLst/>
          </a:prstGeom>
          <a:noFill/>
        </p:spPr>
        <p:txBody>
          <a:bodyPr wrap="square" lIns="0" tIns="0" rIns="0" bIns="0" rtlCol="0" anchor="ctr"/>
          <a:lstStyle/>
          <a:p>
            <a:pPr marL="0" indent="0">
              <a:lnSpc>
                <a:spcPct val="130000"/>
              </a:lnSpc>
              <a:buNone/>
            </a:pPr>
            <a:r>
              <a:rPr lang="en-US" sz="1100" dirty="0">
                <a:solidFill>
                  <a:srgbClr val="1C1F2A"/>
                </a:solidFill>
                <a:latin typeface="Courier New" panose="02070309020205020404" pitchFamily="34" charset="0"/>
                <a:ea typeface="Courier New" panose="02070309020205020404" pitchFamily="34" charset="-122"/>
                <a:cs typeface="Courier New" panose="02070309020205020404" pitchFamily="34" charset="-120"/>
              </a:rPr>
              <a:t>AppContext.SetSwitch("Azure.Experimental.EnableActivitySource", true);</a:t>
            </a:r>
            <a:endParaRPr lang="en-US" sz="1100" dirty="0"/>
          </a:p>
          <a:p>
            <a:pPr marL="0" indent="0">
              <a:lnSpc>
                <a:spcPct val="130000"/>
              </a:lnSpc>
              <a:buNone/>
            </a:pPr>
            <a:endParaRPr lang="en-US" sz="1100" dirty="0"/>
          </a:p>
          <a:p>
            <a:pPr marL="0" indent="0">
              <a:lnSpc>
                <a:spcPct val="130000"/>
              </a:lnSpc>
              <a:buNone/>
            </a:pPr>
            <a:r>
              <a:rPr lang="en-US" sz="1100" dirty="0">
                <a:solidFill>
                  <a:srgbClr val="1C1F2A"/>
                </a:solidFill>
                <a:latin typeface="Courier New" panose="02070309020205020404" pitchFamily="34" charset="0"/>
                <a:ea typeface="Courier New" panose="02070309020205020404" pitchFamily="34" charset="-122"/>
                <a:cs typeface="Courier New" panose="02070309020205020404" pitchFamily="34" charset="-120"/>
              </a:rPr>
              <a:t>...WithTracing(t =&gt; t.AddSource("Azure.Cosmos.Operation"));</a:t>
            </a:r>
            <a:endParaRPr lang="en-US" sz="1100" dirty="0"/>
          </a:p>
        </p:txBody>
      </p:sp>
      <p:sp>
        <p:nvSpPr>
          <p:cNvPr id="10" name="Shape 8"/>
          <p:cNvSpPr/>
          <p:nvPr/>
        </p:nvSpPr>
        <p:spPr>
          <a:xfrm>
            <a:off x="6035040" y="3520440"/>
            <a:ext cx="5257800" cy="2286000"/>
          </a:xfrm>
          <a:prstGeom prst="roundRect">
            <a:avLst>
              <a:gd name="adj" fmla="val 4000"/>
            </a:avLst>
          </a:prstGeom>
          <a:solidFill>
            <a:srgbClr val="FFFFFF"/>
          </a:solidFill>
          <a:ln w="12700">
            <a:solidFill>
              <a:srgbClr val="DFE2EA"/>
            </a:solidFill>
            <a:prstDash val="solid"/>
          </a:ln>
        </p:spPr>
      </p:sp>
      <p:sp>
        <p:nvSpPr>
          <p:cNvPr id="11" name="Text 9"/>
          <p:cNvSpPr txBox="1"/>
          <p:nvPr/>
        </p:nvSpPr>
        <p:spPr>
          <a:xfrm>
            <a:off x="6355080" y="3657600"/>
            <a:ext cx="4663440" cy="365760"/>
          </a:xfrm>
          <a:prstGeom prst="rect">
            <a:avLst/>
          </a:prstGeom>
          <a:noFill/>
        </p:spPr>
        <p:txBody>
          <a:bodyPr wrap="square" lIns="0" tIns="0" rIns="0" bIns="0" rtlCol="0" anchor="ctr"/>
          <a:lstStyle/>
          <a:p>
            <a:pPr marL="0" indent="0">
              <a:buNone/>
            </a:pPr>
            <a:r>
              <a:rPr lang="en-US" sz="1400" b="1" dirty="0">
                <a:solidFill>
                  <a:srgbClr val="1E2761"/>
                </a:solidFill>
                <a:latin typeface="Courier New" panose="02070309020205020404" pitchFamily="34" charset="0"/>
                <a:ea typeface="Courier New" panose="02070309020205020404" pitchFamily="34" charset="-122"/>
                <a:cs typeface="Courier New" panose="02070309020205020404" pitchFamily="34" charset="-120"/>
              </a:rPr>
              <a:t>CosmosClientOptions</a:t>
            </a:r>
            <a:endParaRPr lang="en-US" sz="1400" dirty="0"/>
          </a:p>
        </p:txBody>
      </p:sp>
      <p:sp>
        <p:nvSpPr>
          <p:cNvPr id="12" name="Text 10"/>
          <p:cNvSpPr txBox="1"/>
          <p:nvPr/>
        </p:nvSpPr>
        <p:spPr>
          <a:xfrm>
            <a:off x="6355080" y="4069080"/>
            <a:ext cx="4663440" cy="1645920"/>
          </a:xfrm>
          <a:prstGeom prst="rect">
            <a:avLst/>
          </a:prstGeom>
          <a:noFill/>
        </p:spPr>
        <p:txBody>
          <a:bodyPr wrap="square" lIns="0" tIns="0" rIns="0" bIns="0" rtlCol="0" anchor="ctr"/>
          <a:lstStyle/>
          <a:p>
            <a:pPr marL="0" indent="0">
              <a:lnSpc>
                <a:spcPct val="130000"/>
              </a:lnSpc>
              <a:buNone/>
            </a:pPr>
            <a:r>
              <a:rPr lang="en-US" sz="1100" dirty="0">
                <a:solidFill>
                  <a:srgbClr val="1C1F2A"/>
                </a:solidFill>
                <a:latin typeface="Courier New" panose="02070309020205020404" pitchFamily="34" charset="0"/>
                <a:ea typeface="Courier New" panose="02070309020205020404" pitchFamily="34" charset="-122"/>
                <a:cs typeface="Courier New" panose="02070309020205020404" pitchFamily="34" charset="-120"/>
              </a:rPr>
              <a:t>CosmosClientTelemetryOptions = new CosmosClientTelemetryOptions {</a:t>
            </a:r>
            <a:endParaRPr lang="en-US" sz="1100" dirty="0"/>
          </a:p>
          <a:p>
            <a:pPr marL="0" indent="0">
              <a:lnSpc>
                <a:spcPct val="130000"/>
              </a:lnSpc>
              <a:buNone/>
            </a:pPr>
            <a:r>
              <a:rPr lang="en-US" sz="1100" dirty="0">
                <a:solidFill>
                  <a:srgbClr val="1C1F2A"/>
                </a:solidFill>
                <a:latin typeface="Courier New" panose="02070309020205020404" pitchFamily="34" charset="0"/>
                <a:ea typeface="Courier New" panose="02070309020205020404" pitchFamily="34" charset="-122"/>
                <a:cs typeface="Courier New" panose="02070309020205020404" pitchFamily="34" charset="-120"/>
              </a:rPr>
              <a:t>  DisableDistributedTracing = false</a:t>
            </a:r>
            <a:endParaRPr lang="en-US" sz="1100" dirty="0"/>
          </a:p>
          <a:p>
            <a:pPr marL="0" indent="0">
              <a:lnSpc>
                <a:spcPct val="130000"/>
              </a:lnSpc>
              <a:buNone/>
            </a:pPr>
            <a:r>
              <a:rPr lang="en-US" sz="1100" dirty="0">
                <a:solidFill>
                  <a:srgbClr val="1C1F2A"/>
                </a:solidFill>
                <a:latin typeface="Courier New" panose="02070309020205020404" pitchFamily="34" charset="0"/>
                <a:ea typeface="Courier New" panose="02070309020205020404" pitchFamily="34" charset="-122"/>
                <a:cs typeface="Courier New" panose="02070309020205020404" pitchFamily="34" charset="-120"/>
              </a:rPr>
              <a:t>}</a:t>
            </a:r>
            <a:endParaRPr lang="en-US" sz="1100" dirty="0"/>
          </a:p>
        </p:txBody>
      </p:sp>
      <p:sp>
        <p:nvSpPr>
          <p:cNvPr id="13" name="Text 11"/>
          <p:cNvSpPr txBox="1"/>
          <p:nvPr/>
        </p:nvSpPr>
        <p:spPr>
          <a:xfrm>
            <a:off x="548640" y="6537960"/>
            <a:ext cx="9144000" cy="274320"/>
          </a:xfrm>
          <a:prstGeom prst="rect">
            <a:avLst/>
          </a:prstGeom>
          <a:noFill/>
        </p:spPr>
        <p:txBody>
          <a:bodyPr wrap="square" lIns="0" tIns="0" rIns="0" bIns="0" rtlCol="0" anchor="ctr"/>
          <a:lstStyle/>
          <a:p>
            <a:pPr marL="0" indent="0">
              <a:buNone/>
            </a:pPr>
            <a:r>
              <a:rPr lang="en-US" sz="900" dirty="0">
                <a:solidFill>
                  <a:srgbClr val="9AA0AE"/>
                </a:solidFill>
                <a:latin typeface="Calibri" panose="020F0502020204030204" pitchFamily="34" charset="0"/>
                <a:ea typeface="Calibri" panose="020F0502020204030204" pitchFamily="34" charset="-122"/>
                <a:cs typeface="Calibri" panose="020F0502020204030204" pitchFamily="34" charset="-120"/>
              </a:rPr>
              <a:t>Modern Enterprise Software Engineering  |  ÉSTIAM  |  Day 2, Morning</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p:sp>
        <p:nvSpPr>
          <p:cNvPr id="2" name="TextBox 1"/>
          <p:cNvSpPr txBox="1"/>
          <p:nvPr/>
        </p:nvSpPr>
        <p:spPr>
          <a:xfrm>
            <a:off x="548640" y="384048"/>
            <a:ext cx="10972800" cy="365760"/>
          </a:xfrm>
          <a:prstGeom prst="rect">
            <a:avLst/>
          </a:prstGeom>
          <a:noFill/>
        </p:spPr>
        <p:txBody>
          <a:bodyPr wrap="square" lIns="0" tIns="0" rIns="0" bIns="0" anchor="ctr">
            <a:spAutoFit/>
          </a:bodyPr>
          <a:lstStyle/>
          <a:p>
            <a:pPr algn="l"/>
            <a:r>
              <a:rPr sz="1300" b="1" i="0" spc="200">
                <a:solidFill>
                  <a:srgbClr val="F2A93B"/>
                </a:solidFill>
                <a:latin typeface="Calibri" panose="020F0502020204030204"/>
              </a:rPr>
              <a:t>GOTCHA — ALSO HIT LIVE TESTING THIS MODULE</a:t>
            </a:r>
            <a:endParaRPr sz="1300" b="1" i="0" spc="200">
              <a:solidFill>
                <a:srgbClr val="F2A93B"/>
              </a:solidFill>
              <a:latin typeface="Calibri" panose="020F0502020204030204"/>
            </a:endParaRPr>
          </a:p>
        </p:txBody>
      </p:sp>
      <p:sp>
        <p:nvSpPr>
          <p:cNvPr id="3" name="TextBox 2"/>
          <p:cNvSpPr txBox="1"/>
          <p:nvPr/>
        </p:nvSpPr>
        <p:spPr>
          <a:xfrm>
            <a:off x="548640" y="685800"/>
            <a:ext cx="11064240" cy="640080"/>
          </a:xfrm>
          <a:prstGeom prst="rect">
            <a:avLst/>
          </a:prstGeom>
          <a:noFill/>
        </p:spPr>
        <p:txBody>
          <a:bodyPr wrap="square" lIns="0" tIns="0" rIns="0" bIns="0" anchor="ctr">
            <a:spAutoFit/>
          </a:bodyPr>
          <a:lstStyle/>
          <a:p>
            <a:pPr algn="l"/>
            <a:r>
              <a:rPr sz="2600" b="1" i="0">
                <a:solidFill>
                  <a:srgbClr val="1E2761"/>
                </a:solidFill>
                <a:latin typeface="Cambria" panose="02040503050406030204"/>
              </a:rPr>
              <a:t>A NuGet package can quietly break local sign-in</a:t>
            </a:r>
            <a:endParaRPr sz="2600" b="1" i="0">
              <a:solidFill>
                <a:srgbClr val="1E2761"/>
              </a:solidFill>
              <a:latin typeface="Cambria" panose="02040503050406030204"/>
            </a:endParaRPr>
          </a:p>
        </p:txBody>
      </p:sp>
      <p:sp>
        <p:nvSpPr>
          <p:cNvPr id="4" name="TextBox 3"/>
          <p:cNvSpPr txBox="1"/>
          <p:nvPr/>
        </p:nvSpPr>
        <p:spPr>
          <a:xfrm>
            <a:off x="548640" y="1417320"/>
            <a:ext cx="10698480" cy="777240"/>
          </a:xfrm>
          <a:prstGeom prst="rect">
            <a:avLst/>
          </a:prstGeom>
          <a:noFill/>
        </p:spPr>
        <p:txBody>
          <a:bodyPr wrap="square" lIns="0" tIns="0" rIns="0" bIns="0" anchor="ctr">
            <a:spAutoFit/>
          </a:bodyPr>
          <a:lstStyle/>
          <a:p>
            <a:pPr algn="l">
              <a:lnSpc>
                <a:spcPct val="118000"/>
              </a:lnSpc>
            </a:pPr>
            <a:r>
              <a:rPr sz="1300" b="0" i="0">
                <a:solidFill>
                  <a:srgbClr val="22223A"/>
                </a:solidFill>
                <a:latin typeface="Calibri" panose="020F0502020204030204"/>
              </a:rPr>
              <a:t>Everything else about catalog-api worked fine locally — until Azure.Monitor.OpenTelemetry.AspNetCore was added for Application Insights. dotnet run started failing DefaultAzureCredential 100% of the time afterward, with zero changes to any actual credential or Cosmos code.</a:t>
            </a:r>
            <a:endParaRPr sz="1300" b="0" i="0">
              <a:solidFill>
                <a:srgbClr val="22223A"/>
              </a:solidFill>
              <a:latin typeface="Calibri" panose="020F0502020204030204"/>
            </a:endParaRPr>
          </a:p>
        </p:txBody>
      </p:sp>
      <p:sp>
        <p:nvSpPr>
          <p:cNvPr id="5" name="Rounded Rectangle 4"/>
          <p:cNvSpPr/>
          <p:nvPr/>
        </p:nvSpPr>
        <p:spPr>
          <a:xfrm>
            <a:off x="548640" y="2395728"/>
            <a:ext cx="10927080" cy="1417320"/>
          </a:xfrm>
          <a:prstGeom prst="roundRect">
            <a:avLst>
              <a:gd name="adj" fmla="val 6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60" y="2395728"/>
            <a:ext cx="10378440" cy="1417320"/>
          </a:xfrm>
          <a:prstGeom prst="rect">
            <a:avLst/>
          </a:prstGeom>
          <a:noFill/>
        </p:spPr>
        <p:txBody>
          <a:bodyPr wrap="square" lIns="0" tIns="0" rIns="0" bIns="0" anchor="t">
            <a:spAutoFit/>
          </a:bodyPr>
          <a:lstStyle/>
          <a:p>
            <a:pPr algn="l">
              <a:lnSpc>
                <a:spcPct val="116000"/>
              </a:lnSpc>
            </a:pPr>
            <a:r>
              <a:rPr sz="1150" b="0" i="0">
                <a:solidFill>
                  <a:srgbClr val="FFFFFF"/>
                </a:solidFill>
                <a:latin typeface="Calibri" panose="020F0502020204030204"/>
              </a:rPr>
              <a:t>Root cause: that package pulls in Azure.Core ≥ 1.60.0, a jump from the 1.53.0 that Microsoft.Azure.Cosmos alone resolves to — and it can't be pinned back down. The newer Azure.Core reclassifies a failed Managed Identity probe: instead of the CredentialUnavailableException that lets DefaultAzureCredential quietly fall through to az login, it now throws a hard AuthenticationFailedException that stops the chain dead. Managed Identity genuinely IS available once deployed to Azure — this only bites local dev.</a:t>
            </a:r>
            <a:endParaRPr sz="1150" b="0" i="0">
              <a:solidFill>
                <a:srgbClr val="FFFFFF"/>
              </a:solidFill>
              <a:latin typeface="Calibri" panose="020F0502020204030204"/>
            </a:endParaRPr>
          </a:p>
        </p:txBody>
      </p:sp>
      <p:sp>
        <p:nvSpPr>
          <p:cNvPr id="7" name="Rounded Rectangle 6"/>
          <p:cNvSpPr/>
          <p:nvPr/>
        </p:nvSpPr>
        <p:spPr>
          <a:xfrm>
            <a:off x="548640" y="3931920"/>
            <a:ext cx="5212080" cy="2057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8680" y="4059936"/>
            <a:ext cx="4572000" cy="365760"/>
          </a:xfrm>
          <a:prstGeom prst="rect">
            <a:avLst/>
          </a:prstGeom>
          <a:noFill/>
        </p:spPr>
        <p:txBody>
          <a:bodyPr wrap="square" lIns="0" tIns="0" rIns="0" bIns="0" anchor="ctr">
            <a:spAutoFit/>
          </a:bodyPr>
          <a:lstStyle/>
          <a:p>
            <a:pPr algn="l"/>
            <a:r>
              <a:rPr sz="1250" b="1" i="0">
                <a:solidFill>
                  <a:srgbClr val="1E2761"/>
                </a:solidFill>
                <a:latin typeface="Courier New" panose="02070309020205020404"/>
              </a:rPr>
              <a:t>Program.cs</a:t>
            </a:r>
            <a:endParaRPr sz="1250" b="1" i="0">
              <a:solidFill>
                <a:srgbClr val="1E2761"/>
              </a:solidFill>
              <a:latin typeface="Courier New" panose="02070309020205020404"/>
            </a:endParaRPr>
          </a:p>
        </p:txBody>
      </p:sp>
      <p:sp>
        <p:nvSpPr>
          <p:cNvPr id="9" name="TextBox 8"/>
          <p:cNvSpPr txBox="1"/>
          <p:nvPr/>
        </p:nvSpPr>
        <p:spPr>
          <a:xfrm>
            <a:off x="868680" y="4443984"/>
            <a:ext cx="4617720" cy="1463040"/>
          </a:xfrm>
          <a:prstGeom prst="rect">
            <a:avLst/>
          </a:prstGeom>
          <a:noFill/>
        </p:spPr>
        <p:txBody>
          <a:bodyPr wrap="square" lIns="0" tIns="0" rIns="0" bIns="0" anchor="t">
            <a:spAutoFit/>
          </a:bodyPr>
          <a:lstStyle/>
          <a:p>
            <a:pPr algn="l">
              <a:lnSpc>
                <a:spcPct val="110000"/>
              </a:lnSpc>
            </a:pPr>
            <a:r>
              <a:rPr sz="1100" b="0" i="0">
                <a:solidFill>
                  <a:srgbClr val="22223A"/>
                </a:solidFill>
                <a:latin typeface="Courier New" panose="02070309020205020404"/>
              </a:rPr>
              <a:t>new DefaultAzureCredential(</a:t>
            </a:r>
            <a:endParaRPr sz="1100" b="0" i="0">
              <a:solidFill>
                <a:srgbClr val="22223A"/>
              </a:solidFill>
              <a:latin typeface="Courier New" panose="02070309020205020404"/>
            </a:endParaRPr>
          </a:p>
          <a:p>
            <a:pPr algn="l">
              <a:lnSpc>
                <a:spcPct val="110000"/>
              </a:lnSpc>
            </a:pPr>
            <a:r>
              <a:rPr sz="1100" b="0" i="0">
                <a:solidFill>
                  <a:srgbClr val="22223A"/>
                </a:solidFill>
                <a:latin typeface="Courier New" panose="02070309020205020404"/>
              </a:rPr>
              <a:t>  new DefaultAzureCredentialOptions {</a:t>
            </a:r>
            <a:endParaRPr sz="1100" b="0" i="0">
              <a:solidFill>
                <a:srgbClr val="22223A"/>
              </a:solidFill>
              <a:latin typeface="Courier New" panose="02070309020205020404"/>
            </a:endParaRPr>
          </a:p>
          <a:p>
            <a:pPr algn="l">
              <a:lnSpc>
                <a:spcPct val="110000"/>
              </a:lnSpc>
            </a:pPr>
            <a:r>
              <a:rPr sz="1100" b="0" i="0">
                <a:solidFill>
                  <a:srgbClr val="22223A"/>
                </a:solidFill>
                <a:latin typeface="Courier New" panose="02070309020205020404"/>
              </a:rPr>
              <a:t>    ExcludeManagedIdentityCredential =</a:t>
            </a:r>
            <a:endParaRPr sz="1100" b="0" i="0">
              <a:solidFill>
                <a:srgbClr val="22223A"/>
              </a:solidFill>
              <a:latin typeface="Courier New" panose="02070309020205020404"/>
            </a:endParaRPr>
          </a:p>
          <a:p>
            <a:pPr algn="l">
              <a:lnSpc>
                <a:spcPct val="110000"/>
              </a:lnSpc>
            </a:pPr>
            <a:r>
              <a:rPr sz="1100" b="0" i="0">
                <a:solidFill>
                  <a:srgbClr val="22223A"/>
                </a:solidFill>
                <a:latin typeface="Courier New" panose="02070309020205020404"/>
              </a:rPr>
              <a:t>      Environment.GetEnvironmentVariable(</a:t>
            </a:r>
            <a:endParaRPr sz="1100" b="0" i="0">
              <a:solidFill>
                <a:srgbClr val="22223A"/>
              </a:solidFill>
              <a:latin typeface="Courier New" panose="02070309020205020404"/>
            </a:endParaRPr>
          </a:p>
          <a:p>
            <a:pPr algn="l">
              <a:lnSpc>
                <a:spcPct val="110000"/>
              </a:lnSpc>
            </a:pPr>
            <a:r>
              <a:rPr sz="1100" b="0" i="0">
                <a:solidFill>
                  <a:srgbClr val="22223A"/>
                </a:solidFill>
                <a:latin typeface="Courier New" panose="02070309020205020404"/>
              </a:rPr>
              <a:t>        "IDENTITY_ENDPOINT") is null</a:t>
            </a:r>
            <a:endParaRPr sz="1100" b="0" i="0">
              <a:solidFill>
                <a:srgbClr val="22223A"/>
              </a:solidFill>
              <a:latin typeface="Courier New" panose="02070309020205020404"/>
            </a:endParaRPr>
          </a:p>
          <a:p>
            <a:pPr algn="l">
              <a:lnSpc>
                <a:spcPct val="110000"/>
              </a:lnSpc>
            </a:pPr>
            <a:r>
              <a:rPr sz="1100" b="0" i="0">
                <a:solidFill>
                  <a:srgbClr val="22223A"/>
                </a:solidFill>
                <a:latin typeface="Courier New" panose="02070309020205020404"/>
              </a:rPr>
              <a:t>  });</a:t>
            </a:r>
            <a:endParaRPr sz="1100" b="0" i="0">
              <a:solidFill>
                <a:srgbClr val="22223A"/>
              </a:solidFill>
              <a:latin typeface="Courier New" panose="02070309020205020404"/>
            </a:endParaRPr>
          </a:p>
        </p:txBody>
      </p:sp>
      <p:sp>
        <p:nvSpPr>
          <p:cNvPr id="10" name="Rounded Rectangle 9"/>
          <p:cNvSpPr/>
          <p:nvPr/>
        </p:nvSpPr>
        <p:spPr>
          <a:xfrm>
            <a:off x="6035040" y="3931920"/>
            <a:ext cx="5440680" cy="2057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355080" y="4059936"/>
            <a:ext cx="4846320" cy="365760"/>
          </a:xfrm>
          <a:prstGeom prst="rect">
            <a:avLst/>
          </a:prstGeom>
          <a:noFill/>
        </p:spPr>
        <p:txBody>
          <a:bodyPr wrap="square" lIns="0" tIns="0" rIns="0" bIns="0" anchor="ctr">
            <a:spAutoFit/>
          </a:bodyPr>
          <a:lstStyle/>
          <a:p>
            <a:pPr algn="l"/>
            <a:r>
              <a:rPr sz="1250" b="1" i="0">
                <a:solidFill>
                  <a:srgbClr val="1E2761"/>
                </a:solidFill>
                <a:latin typeface="Courier New" panose="02070309020205020404"/>
              </a:rPr>
              <a:t>Why this works</a:t>
            </a:r>
            <a:endParaRPr sz="1250" b="1" i="0">
              <a:solidFill>
                <a:srgbClr val="1E2761"/>
              </a:solidFill>
              <a:latin typeface="Courier New" panose="02070309020205020404"/>
            </a:endParaRPr>
          </a:p>
        </p:txBody>
      </p:sp>
      <p:sp>
        <p:nvSpPr>
          <p:cNvPr id="12" name="TextBox 11"/>
          <p:cNvSpPr txBox="1"/>
          <p:nvPr/>
        </p:nvSpPr>
        <p:spPr>
          <a:xfrm>
            <a:off x="6355080" y="4443984"/>
            <a:ext cx="4846320" cy="1463040"/>
          </a:xfrm>
          <a:prstGeom prst="rect">
            <a:avLst/>
          </a:prstGeom>
          <a:noFill/>
        </p:spPr>
        <p:txBody>
          <a:bodyPr wrap="square" lIns="0" tIns="0" rIns="0" bIns="0" anchor="t">
            <a:spAutoFit/>
          </a:bodyPr>
          <a:lstStyle/>
          <a:p>
            <a:pPr algn="l">
              <a:lnSpc>
                <a:spcPct val="110000"/>
              </a:lnSpc>
            </a:pPr>
            <a:r>
              <a:rPr sz="1100" b="0" i="0">
                <a:solidFill>
                  <a:srgbClr val="22223A"/>
                </a:solidFill>
                <a:latin typeface="Courier New" panose="02070309020205020404"/>
              </a:rPr>
              <a:t>IDENTITY_ENDPOINT is set by both Container Apps</a:t>
            </a:r>
            <a:endParaRPr sz="1100" b="0" i="0">
              <a:solidFill>
                <a:srgbClr val="22223A"/>
              </a:solidFill>
              <a:latin typeface="Courier New" panose="02070309020205020404"/>
            </a:endParaRPr>
          </a:p>
          <a:p>
            <a:pPr algn="l">
              <a:lnSpc>
                <a:spcPct val="110000"/>
              </a:lnSpc>
            </a:pPr>
            <a:r>
              <a:rPr sz="1100" b="0" i="0">
                <a:solidFill>
                  <a:srgbClr val="22223A"/>
                </a:solidFill>
                <a:latin typeface="Courier New" panose="02070309020205020404"/>
              </a:rPr>
              <a:t>and App Service whenever Managed Identity is</a:t>
            </a:r>
            <a:endParaRPr sz="1100" b="0" i="0">
              <a:solidFill>
                <a:srgbClr val="22223A"/>
              </a:solidFill>
              <a:latin typeface="Courier New" panose="02070309020205020404"/>
            </a:endParaRPr>
          </a:p>
          <a:p>
            <a:pPr algn="l">
              <a:lnSpc>
                <a:spcPct val="110000"/>
              </a:lnSpc>
            </a:pPr>
            <a:r>
              <a:rPr sz="1100" b="0" i="0">
                <a:solidFill>
                  <a:srgbClr val="22223A"/>
                </a:solidFill>
                <a:latin typeface="Courier New" panose="02070309020205020404"/>
              </a:rPr>
              <a:t>actually available — its absence is a reliable</a:t>
            </a:r>
            <a:endParaRPr sz="1100" b="0" i="0">
              <a:solidFill>
                <a:srgbClr val="22223A"/>
              </a:solidFill>
              <a:latin typeface="Courier New" panose="02070309020205020404"/>
            </a:endParaRPr>
          </a:p>
          <a:p>
            <a:pPr algn="l">
              <a:lnSpc>
                <a:spcPct val="110000"/>
              </a:lnSpc>
            </a:pPr>
            <a:r>
              <a:rPr sz="1100" b="0" i="0">
                <a:solidFill>
                  <a:srgbClr val="22223A"/>
                </a:solidFill>
                <a:latin typeface="Courier New" panose="02070309020205020404"/>
              </a:rPr>
              <a:t>"not really running in Azure" signal. Skip the</a:t>
            </a:r>
            <a:endParaRPr sz="1100" b="0" i="0">
              <a:solidFill>
                <a:srgbClr val="22223A"/>
              </a:solidFill>
              <a:latin typeface="Courier New" panose="02070309020205020404"/>
            </a:endParaRPr>
          </a:p>
          <a:p>
            <a:pPr algn="l">
              <a:lnSpc>
                <a:spcPct val="110000"/>
              </a:lnSpc>
            </a:pPr>
            <a:r>
              <a:rPr sz="1100" b="0" i="0">
                <a:solidFill>
                  <a:srgbClr val="22223A"/>
                </a:solidFill>
                <a:latin typeface="Courier New" panose="02070309020205020404"/>
              </a:rPr>
              <a:t>(now-broken) probe locally, go straight to az</a:t>
            </a:r>
            <a:endParaRPr sz="1100" b="0" i="0">
              <a:solidFill>
                <a:srgbClr val="22223A"/>
              </a:solidFill>
              <a:latin typeface="Courier New" panose="02070309020205020404"/>
            </a:endParaRPr>
          </a:p>
          <a:p>
            <a:pPr algn="l">
              <a:lnSpc>
                <a:spcPct val="110000"/>
              </a:lnSpc>
            </a:pPr>
            <a:r>
              <a:rPr sz="1100" b="0" i="0">
                <a:solidFill>
                  <a:srgbClr val="22223A"/>
                </a:solidFill>
                <a:latin typeface="Courier New" panose="02070309020205020404"/>
              </a:rPr>
              <a:t>login. Azure keeps using the real identity,</a:t>
            </a:r>
            <a:endParaRPr sz="1100" b="0" i="0">
              <a:solidFill>
                <a:srgbClr val="22223A"/>
              </a:solidFill>
              <a:latin typeface="Courier New" panose="02070309020205020404"/>
            </a:endParaRPr>
          </a:p>
          <a:p>
            <a:pPr algn="l">
              <a:lnSpc>
                <a:spcPct val="110000"/>
              </a:lnSpc>
            </a:pPr>
            <a:r>
              <a:rPr sz="1100" b="0" i="0">
                <a:solidFill>
                  <a:srgbClr val="22223A"/>
                </a:solidFill>
                <a:latin typeface="Courier New" panose="02070309020205020404"/>
              </a:rPr>
              <a:t>unaffected.</a:t>
            </a:r>
            <a:endParaRPr sz="1100" b="0" i="0">
              <a:solidFill>
                <a:srgbClr val="22223A"/>
              </a:solidFill>
              <a:latin typeface="Courier New" panose="02070309020205020404"/>
            </a:endParaRPr>
          </a:p>
        </p:txBody>
      </p:sp>
      <p:sp>
        <p:nvSpPr>
          <p:cNvPr id="13" name="TextBox 12"/>
          <p:cNvSpPr txBox="1"/>
          <p:nvPr/>
        </p:nvSpPr>
        <p:spPr>
          <a:xfrm>
            <a:off x="548640" y="6144768"/>
            <a:ext cx="10744200" cy="320040"/>
          </a:xfrm>
          <a:prstGeom prst="rect">
            <a:avLst/>
          </a:prstGeom>
          <a:noFill/>
        </p:spPr>
        <p:txBody>
          <a:bodyPr wrap="square" lIns="0" tIns="0" rIns="0" bIns="0" anchor="ctr">
            <a:spAutoFit/>
          </a:bodyPr>
          <a:lstStyle/>
          <a:p>
            <a:pPr algn="l"/>
            <a:r>
              <a:rPr sz="950" b="0" i="1">
                <a:solidFill>
                  <a:srgbClr val="5C6180"/>
                </a:solidFill>
                <a:latin typeface="Calibri" panose="020F0502020204030204"/>
              </a:rPr>
              <a:t>Worth checking whenever a new package is added to a project doing DefaultAzureCredential + local dev — dotnet list package --include-transitive, filtered to Azure.Core, spots a silent bump.</a:t>
            </a:r>
            <a:endParaRPr sz="950" b="0" i="1">
              <a:solidFill>
                <a:srgbClr val="5C6180"/>
              </a:solidFill>
              <a:latin typeface="Calibri" panose="020F0502020204030204"/>
            </a:endParaRPr>
          </a:p>
        </p:txBody>
      </p:sp>
      <p:sp>
        <p:nvSpPr>
          <p:cNvPr id="14" name="TextBox 13"/>
          <p:cNvSpPr txBox="1"/>
          <p:nvPr/>
        </p:nvSpPr>
        <p:spPr>
          <a:xfrm>
            <a:off x="548640" y="6537960"/>
            <a:ext cx="9144000" cy="274320"/>
          </a:xfrm>
          <a:prstGeom prst="rect">
            <a:avLst/>
          </a:prstGeom>
          <a:noFill/>
        </p:spPr>
        <p:txBody>
          <a:bodyPr wrap="square" lIns="0" tIns="0" rIns="0" bIns="0" anchor="ctr">
            <a:spAutoFit/>
          </a:bodyPr>
          <a:lstStyle/>
          <a:p>
            <a:pPr algn="l"/>
            <a:r>
              <a:rPr sz="1000" b="0" i="0">
                <a:solidFill>
                  <a:srgbClr val="5C6180"/>
                </a:solidFill>
                <a:latin typeface="Calibri" panose="020F0502020204030204"/>
              </a:rPr>
              <a:t>Modern Enterprise Software Engineering  |  ÉSTIAM  |  Day 2, Morning</a:t>
            </a:r>
            <a:endParaRPr sz="1000" b="0" i="0">
              <a:solidFill>
                <a:srgbClr val="5C6180"/>
              </a:solidFill>
              <a:latin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365760"/>
          </a:xfrm>
          <a:prstGeom prst="rect">
            <a:avLst/>
          </a:prstGeom>
          <a:noFill/>
        </p:spPr>
        <p:txBody>
          <a:bodyPr wrap="square" lIns="0" tIns="0" rIns="0" bIns="0" rtlCol="0" anchor="ctr"/>
          <a:lstStyle/>
          <a:p>
            <a:pPr marL="0" indent="0">
              <a:buNone/>
            </a:pPr>
            <a:r>
              <a:rPr lang="en-US" sz="1200" b="1" kern="0" spc="100" dirty="0">
                <a:solidFill>
                  <a:srgbClr val="F2A93B"/>
                </a:solidFill>
                <a:latin typeface="Calibri" panose="020F0502020204030204" pitchFamily="34" charset="0"/>
                <a:ea typeface="Calibri" panose="020F0502020204030204" pitchFamily="34" charset="-122"/>
                <a:cs typeface="Calibri" panose="020F0502020204030204" pitchFamily="34" charset="-120"/>
              </a:rPr>
              <a:t>WRAP-UP</a:t>
            </a:r>
            <a:endParaRPr lang="en-US" sz="1200" dirty="0"/>
          </a:p>
        </p:txBody>
      </p:sp>
      <p:sp>
        <p:nvSpPr>
          <p:cNvPr id="3" name="Text 1"/>
          <p:cNvSpPr txBox="1"/>
          <p:nvPr/>
        </p:nvSpPr>
        <p:spPr>
          <a:xfrm>
            <a:off x="548640" y="685800"/>
            <a:ext cx="10972800" cy="640080"/>
          </a:xfrm>
          <a:prstGeom prst="rect">
            <a:avLst/>
          </a:prstGeom>
          <a:noFill/>
        </p:spPr>
        <p:txBody>
          <a:bodyPr wrap="square" lIns="0" tIns="0" rIns="0" bIns="0" rtlCol="0" anchor="ctr"/>
          <a:lstStyle/>
          <a:p>
            <a:pPr marL="0" indent="0">
              <a:buNone/>
            </a:pPr>
            <a:r>
              <a:rPr lang="en-US" sz="2800" b="1" dirty="0">
                <a:solidFill>
                  <a:srgbClr val="1E2761"/>
                </a:solidFill>
                <a:latin typeface="Cambria" panose="02040503050406030204" pitchFamily="34" charset="0"/>
                <a:ea typeface="Cambria" panose="02040503050406030204" pitchFamily="34" charset="-122"/>
                <a:cs typeface="Cambria" panose="02040503050406030204" pitchFamily="34" charset="-120"/>
              </a:rPr>
              <a:t>Key takeaways</a:t>
            </a:r>
            <a:endParaRPr lang="en-US" sz="2800" dirty="0"/>
          </a:p>
        </p:txBody>
      </p:sp>
      <p:sp>
        <p:nvSpPr>
          <p:cNvPr id="4" name="Text 2"/>
          <p:cNvSpPr txBox="1"/>
          <p:nvPr/>
        </p:nvSpPr>
        <p:spPr>
          <a:xfrm>
            <a:off x="548640" y="1600200"/>
            <a:ext cx="10698480" cy="4480560"/>
          </a:xfrm>
          <a:prstGeom prst="rect">
            <a:avLst/>
          </a:prstGeom>
          <a:noFill/>
        </p:spPr>
        <p:txBody>
          <a:bodyPr wrap="square" lIns="0" tIns="0" rIns="0" bIns="0" rtlCol="0" anchor="ctr"/>
          <a:lstStyle/>
          <a:p>
            <a:pPr marL="342900" indent="-342900">
              <a:spcAft>
                <a:spcPts val="1300"/>
              </a:spcAft>
              <a:buSzPct val="100000"/>
              <a:buChar char="●"/>
            </a:pPr>
            <a:r>
              <a:rPr lang="en-US" sz="1500" dirty="0">
                <a:solidFill>
                  <a:srgbClr val="1C1F2A"/>
                </a:solidFill>
                <a:latin typeface="Calibri" panose="020F0502020204030204" pitchFamily="34" charset="0"/>
                <a:ea typeface="Calibri" panose="020F0502020204030204" pitchFamily="34" charset="-122"/>
                <a:cs typeface="Calibri" panose="020F0502020204030204" pitchFamily="34" charset="-120"/>
              </a:rPr>
              <a:t>Caching trades staleness for speed — you decide, on purpose, how stale is acceptable</a:t>
            </a:r>
            <a:endParaRPr lang="en-US" sz="1500" dirty="0">
              <a:solidFill>
                <a:srgbClr val="1C1F2A"/>
              </a:solidFill>
              <a:latin typeface="Calibri" panose="020F0502020204030204" pitchFamily="34" charset="0"/>
              <a:ea typeface="Calibri" panose="020F0502020204030204" pitchFamily="34" charset="-122"/>
              <a:cs typeface="Calibri" panose="020F0502020204030204" pitchFamily="34" charset="-120"/>
            </a:endParaRPr>
          </a:p>
          <a:p>
            <a:pPr marL="342900" indent="-342900">
              <a:spcAft>
                <a:spcPts val="1300"/>
              </a:spcAft>
              <a:buSzPct val="100000"/>
              <a:buChar char="●"/>
            </a:pPr>
            <a:r>
              <a:rPr lang="en-US" sz="1500" dirty="0">
                <a:solidFill>
                  <a:srgbClr val="1C1F2A"/>
                </a:solidFill>
                <a:latin typeface="Calibri" panose="020F0502020204030204" pitchFamily="34" charset="0"/>
                <a:ea typeface="Calibri" panose="020F0502020204030204" pitchFamily="34" charset="-122"/>
                <a:cs typeface="Calibri" panose="020F0502020204030204" pitchFamily="34" charset="-120"/>
              </a:rPr>
              <a:t>IMemoryCache is per-instance and wiped on every new revision — fine for this project, not for cross-instance consistency</a:t>
            </a:r>
            <a:endParaRPr lang="en-US" sz="1500" dirty="0">
              <a:solidFill>
                <a:srgbClr val="1C1F2A"/>
              </a:solidFill>
              <a:latin typeface="Calibri" panose="020F0502020204030204" pitchFamily="34" charset="0"/>
              <a:ea typeface="Calibri" panose="020F0502020204030204" pitchFamily="34" charset="-122"/>
              <a:cs typeface="Calibri" panose="020F0502020204030204" pitchFamily="34" charset="-120"/>
            </a:endParaRPr>
          </a:p>
          <a:p>
            <a:pPr marL="342900" indent="-342900">
              <a:spcAft>
                <a:spcPts val="1300"/>
              </a:spcAft>
              <a:buSzPct val="100000"/>
              <a:buChar char="●"/>
            </a:pPr>
            <a:r>
              <a:rPr lang="en-US" sz="1500" dirty="0">
                <a:solidFill>
                  <a:srgbClr val="1C1F2A"/>
                </a:solidFill>
                <a:latin typeface="Calibri" panose="020F0502020204030204" pitchFamily="34" charset="0"/>
                <a:ea typeface="Calibri" panose="020F0502020204030204" pitchFamily="34" charset="-122"/>
                <a:cs typeface="Calibri" panose="020F0502020204030204" pitchFamily="34" charset="-120"/>
              </a:rPr>
              <a:t>AZ-204's official caching answer is Azure Cache for Redis — concept only here, given the cost/complexity for 25-30 fresh subscriptions</a:t>
            </a:r>
            <a:endParaRPr lang="en-US" sz="1500" dirty="0">
              <a:solidFill>
                <a:srgbClr val="1C1F2A"/>
              </a:solidFill>
              <a:latin typeface="Calibri" panose="020F0502020204030204" pitchFamily="34" charset="0"/>
              <a:ea typeface="Calibri" panose="020F0502020204030204" pitchFamily="34" charset="-122"/>
              <a:cs typeface="Calibri" panose="020F0502020204030204" pitchFamily="34" charset="-120"/>
            </a:endParaRPr>
          </a:p>
          <a:p>
            <a:pPr marL="342900" indent="-342900">
              <a:spcAft>
                <a:spcPts val="1300"/>
              </a:spcAft>
              <a:buSzPct val="100000"/>
              <a:buChar char="●"/>
            </a:pPr>
            <a:r>
              <a:rPr lang="en-US" sz="1500" dirty="0">
                <a:solidFill>
                  <a:srgbClr val="1C1F2A"/>
                </a:solidFill>
                <a:latin typeface="Calibri" panose="020F0502020204030204" pitchFamily="34" charset="0"/>
                <a:ea typeface="Calibri" panose="020F0502020204030204" pitchFamily="34" charset="-122"/>
                <a:cs typeface="Calibri" panose="020F0502020204030204" pitchFamily="34" charset="-120"/>
              </a:rPr>
              <a:t>Requests, Dependencies, and Exceptions are captured automatically once instrumented — but some SDKs (Cosmos) need their own separate opt-in</a:t>
            </a:r>
            <a:endParaRPr lang="en-US" sz="1500" dirty="0">
              <a:solidFill>
                <a:srgbClr val="1C1F2A"/>
              </a:solidFill>
              <a:latin typeface="Calibri" panose="020F0502020204030204" pitchFamily="34" charset="0"/>
              <a:ea typeface="Calibri" panose="020F0502020204030204" pitchFamily="34" charset="-122"/>
              <a:cs typeface="Calibri" panose="020F0502020204030204" pitchFamily="34" charset="-120"/>
            </a:endParaRPr>
          </a:p>
          <a:p>
            <a:pPr marL="342900" indent="-342900">
              <a:spcAft>
                <a:spcPts val="1300"/>
              </a:spcAft>
              <a:buSzPct val="100000"/>
              <a:buChar char="●"/>
            </a:pPr>
            <a:r>
              <a:rPr lang="en-US" sz="1500" dirty="0">
                <a:solidFill>
                  <a:srgbClr val="1C1F2A"/>
                </a:solidFill>
                <a:latin typeface="Calibri" panose="020F0502020204030204" pitchFamily="34" charset="0"/>
                <a:ea typeface="Calibri" panose="020F0502020204030204" pitchFamily="34" charset="-122"/>
                <a:cs typeface="Calibri" panose="020F0502020204030204" pitchFamily="34" charset="-120"/>
              </a:rPr>
              <a:t>A single browser action can span two apps — catalog-ui and catalog-api share one Operation Id when both are instrumented</a:t>
            </a:r>
            <a:endParaRPr lang="en-US" sz="1500" dirty="0">
              <a:solidFill>
                <a:srgbClr val="1C1F2A"/>
              </a:solidFill>
              <a:latin typeface="Calibri" panose="020F0502020204030204" pitchFamily="34" charset="0"/>
              <a:ea typeface="Calibri" panose="020F0502020204030204" pitchFamily="34" charset="-122"/>
              <a:cs typeface="Calibri" panose="020F0502020204030204" pitchFamily="34" charset="-120"/>
            </a:endParaRPr>
          </a:p>
          <a:p>
            <a:pPr marL="342900" indent="-342900">
              <a:spcAft>
                <a:spcPts val="1300"/>
              </a:spcAft>
              <a:buSzPct val="100000"/>
              <a:buChar char="●"/>
            </a:pPr>
            <a:r>
              <a:rPr lang="en-US" sz="1500" dirty="0">
                <a:solidFill>
                  <a:srgbClr val="1C1F2A"/>
                </a:solidFill>
                <a:latin typeface="Calibri" panose="020F0502020204030204" pitchFamily="34" charset="0"/>
                <a:ea typeface="Calibri" panose="020F0502020204030204" pitchFamily="34" charset="-122"/>
                <a:cs typeface="Calibri" panose="020F0502020204030204" pitchFamily="34" charset="-120"/>
              </a:rPr>
              <a:t>Application Insights is REQUIRED for your project; caching is not</a:t>
            </a:r>
            <a:endParaRPr lang="en-US" sz="1500" dirty="0">
              <a:solidFill>
                <a:srgbClr val="1C1F2A"/>
              </a:solidFill>
              <a:latin typeface="Calibri" panose="020F0502020204030204" pitchFamily="34" charset="0"/>
              <a:ea typeface="Calibri" panose="020F0502020204030204" pitchFamily="34" charset="-122"/>
              <a:cs typeface="Calibri" panose="020F0502020204030204" pitchFamily="34" charset="-120"/>
            </a:endParaRPr>
          </a:p>
        </p:txBody>
      </p:sp>
      <p:sp>
        <p:nvSpPr>
          <p:cNvPr id="5" name="Text 3"/>
          <p:cNvSpPr txBox="1"/>
          <p:nvPr/>
        </p:nvSpPr>
        <p:spPr>
          <a:xfrm>
            <a:off x="548640" y="6537960"/>
            <a:ext cx="9144000" cy="274320"/>
          </a:xfrm>
          <a:prstGeom prst="rect">
            <a:avLst/>
          </a:prstGeom>
          <a:noFill/>
        </p:spPr>
        <p:txBody>
          <a:bodyPr wrap="square" lIns="0" tIns="0" rIns="0" bIns="0" rtlCol="0" anchor="ctr"/>
          <a:lstStyle/>
          <a:p>
            <a:pPr marL="0" indent="0">
              <a:buNone/>
            </a:pPr>
            <a:r>
              <a:rPr lang="en-US" sz="900" dirty="0">
                <a:solidFill>
                  <a:srgbClr val="9AA0AE"/>
                </a:solidFill>
                <a:latin typeface="Calibri" panose="020F0502020204030204" pitchFamily="34" charset="0"/>
                <a:ea typeface="Calibri" panose="020F0502020204030204" pitchFamily="34" charset="-122"/>
                <a:cs typeface="Calibri" panose="020F0502020204030204" pitchFamily="34" charset="-120"/>
              </a:rPr>
              <a:t>Modern Enterprise Software Engineering  |  ÉSTIAM  |  Day 2, Morning</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0698480" y="457200"/>
            <a:ext cx="914400" cy="914400"/>
          </a:xfrm>
          <a:prstGeom prst="ellipse">
            <a:avLst/>
          </a:prstGeom>
          <a:solidFill>
            <a:srgbClr val="F2A93B"/>
          </a:solidFill>
        </p:spPr>
      </p:sp>
      <p:sp>
        <p:nvSpPr>
          <p:cNvPr id="3" name="Text 1"/>
          <p:cNvSpPr txBox="1"/>
          <p:nvPr/>
        </p:nvSpPr>
        <p:spPr>
          <a:xfrm>
            <a:off x="731520" y="2926080"/>
            <a:ext cx="10241280" cy="91440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Next: Module 5 — Connect &amp; Consume Services</a:t>
            </a:r>
            <a:endParaRPr lang="en-US" sz="3000" dirty="0"/>
          </a:p>
        </p:txBody>
      </p:sp>
      <p:sp>
        <p:nvSpPr>
          <p:cNvPr id="4" name="Text 2"/>
          <p:cNvSpPr txBox="1"/>
          <p:nvPr/>
        </p:nvSpPr>
        <p:spPr>
          <a:xfrm>
            <a:off x="731520" y="3794760"/>
            <a:ext cx="9601200" cy="640080"/>
          </a:xfrm>
          <a:prstGeom prst="rect">
            <a:avLst/>
          </a:prstGeom>
          <a:noFill/>
        </p:spPr>
        <p:txBody>
          <a:bodyPr wrap="square" lIns="0" tIns="0" rIns="0" bIns="0" rtlCol="0" anchor="ctr"/>
          <a:lstStyle/>
          <a:p>
            <a:pPr marL="0" indent="0">
              <a:lnSpc>
                <a:spcPct val="125000"/>
              </a:lnSpc>
              <a:buNone/>
            </a:pPr>
            <a:r>
              <a:rPr lang="en-US" sz="1600" dirty="0">
                <a:solidFill>
                  <a:srgbClr val="CADCFC"/>
                </a:solidFill>
                <a:latin typeface="Calibri" panose="020F0502020204030204" pitchFamily="34" charset="0"/>
                <a:ea typeface="Calibri" panose="020F0502020204030204" pitchFamily="34" charset="-122"/>
                <a:cs typeface="Calibri" panose="020F0502020204030204" pitchFamily="34" charset="-120"/>
              </a:rPr>
              <a:t>Now that we can see inside our app and optimize its reads — how do we front it properly and connect it to other services?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11129</Words>
  <Application>WPS Presentation</Application>
  <PresentationFormat>On-screen Show (16:9)</PresentationFormat>
  <Paragraphs>377</Paragraphs>
  <Slides>17</Slides>
  <Notes>14</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17</vt:i4>
      </vt:variant>
    </vt:vector>
  </HeadingPairs>
  <TitlesOfParts>
    <vt:vector size="36" baseType="lpstr">
      <vt:lpstr>Arial</vt:lpstr>
      <vt:lpstr>SimSun</vt:lpstr>
      <vt:lpstr>Wingdings</vt:lpstr>
      <vt:lpstr>Cambria</vt:lpstr>
      <vt:lpstr>Cambria</vt:lpstr>
      <vt:lpstr>Cambria</vt:lpstr>
      <vt:lpstr>Calibri</vt:lpstr>
      <vt:lpstr>Calibri</vt:lpstr>
      <vt:lpstr>Calibri</vt:lpstr>
      <vt:lpstr>Courier New</vt:lpstr>
      <vt:lpstr>Courier New</vt:lpstr>
      <vt:lpstr>Courier New</vt:lpstr>
      <vt:lpstr>Calibri</vt:lpstr>
      <vt:lpstr>Cambria</vt:lpstr>
      <vt:lpstr>Consolas</vt:lpstr>
      <vt:lpstr>Courier New</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Guilherme</cp:lastModifiedBy>
  <cp:revision>3</cp:revision>
  <dcterms:created xsi:type="dcterms:W3CDTF">2026-08-26T18:02:00Z</dcterms:created>
  <dcterms:modified xsi:type="dcterms:W3CDTF">2026-09-02T04:30:30Z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DD1718A381DE4E2C83D6DC541E64F7FA_12</vt:lpwstr>
  </property>
  <property fmtid="{D5CDD505-2E9C-101B-9397-08002B2CF9AE}" pid="3" name="KSOProductBuildVer">
    <vt:lpwstr>1033-12.1.0.28485</vt:lpwstr>
  </property>
</Properties>
</file>