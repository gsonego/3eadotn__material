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</p:sldIdLst>
  <p:sldSz cx="12191365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" d="1"/>
          <a:sy n="1" d="1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914400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914400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hape 0"/>
          <p:cNvSpPr>
            <a:spLocks noGrp="1"/>
          </p:cNvSpPr>
          <p:nvPr/>
        </p:nvSpPr>
        <p:spPr>
          <a:xfrm>
            <a:off x="8778240" y="-2011680"/>
            <a:ext cx="5486400" cy="5486400"/>
          </a:xfrm>
          <a:prstGeom prst="ellipse">
            <a:avLst/>
          </a:prstGeom>
          <a:solidFill>
            <a:srgbClr val="141A47"/>
          </a:solidFill>
        </p:spPr>
      </p:sp>
      <p:sp>
        <p:nvSpPr>
          <p:cNvPr id="3" name="Shape 1"/>
          <p:cNvSpPr>
            <a:spLocks noGrp="1"/>
          </p:cNvSpPr>
          <p:nvPr/>
        </p:nvSpPr>
        <p:spPr>
          <a:xfrm>
            <a:off x="10424160" y="4206240"/>
            <a:ext cx="3291840" cy="3291840"/>
          </a:xfrm>
          <a:prstGeom prst="ellipse">
            <a:avLst/>
          </a:prstGeom>
          <a:solidFill>
            <a:srgbClr val="141A47"/>
          </a:solidFill>
        </p:spPr>
      </p:sp>
      <p:sp>
        <p:nvSpPr>
          <p:cNvPr id="4" name="Text 2"/>
          <p:cNvSpPr>
            <a:spLocks noGrp="1"/>
          </p:cNvSpPr>
          <p:nvPr/>
        </p:nvSpPr>
        <p:spPr>
          <a:xfrm>
            <a:off x="731520" y="2148840"/>
            <a:ext cx="73152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500" b="1" spc="300">
                <a:solidFill>
                  <a:srgbClr val="F2A93B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MODULE 2</a:t>
            </a:r>
            <a:endParaRPr sz="1500"/>
          </a:p>
        </p:txBody>
      </p:sp>
      <p:sp>
        <p:nvSpPr>
          <p:cNvPr id="5" name="Text 3"/>
          <p:cNvSpPr>
            <a:spLocks noGrp="1"/>
          </p:cNvSpPr>
          <p:nvPr/>
        </p:nvSpPr>
        <p:spPr>
          <a:xfrm>
            <a:off x="731520" y="2560320"/>
            <a:ext cx="9601200" cy="1463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4000" b="1">
                <a:solidFill>
                  <a:srgbClr val="FFFFFF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Develop Azure Storage Solutions</a:t>
            </a:r>
            <a:endParaRPr sz="4000"/>
          </a:p>
        </p:txBody>
      </p:sp>
      <p:sp>
        <p:nvSpPr>
          <p:cNvPr id="6" name="Text 4"/>
          <p:cNvSpPr>
            <a:spLocks noGrp="1"/>
          </p:cNvSpPr>
          <p:nvPr/>
        </p:nvSpPr>
        <p:spPr>
          <a:xfrm>
            <a:off x="731520" y="3886200"/>
            <a:ext cx="91440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800">
                <a:solidFill>
                  <a:srgbClr val="CADCFC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Cosmos DB  ·  Blob Storage</a:t>
            </a:r>
            <a:endParaRPr sz="1800"/>
          </a:p>
        </p:txBody>
      </p:sp>
      <p:sp>
        <p:nvSpPr>
          <p:cNvPr id="7" name="Text 5"/>
          <p:cNvSpPr>
            <a:spLocks noGrp="1"/>
          </p:cNvSpPr>
          <p:nvPr/>
        </p:nvSpPr>
        <p:spPr>
          <a:xfrm>
            <a:off x="731520" y="594360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00">
                <a:solidFill>
                  <a:srgbClr val="9AA3C7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Modern Enterprise Software Engineering  —  Day 1, Afternoon  (2h)</a:t>
            </a:r>
            <a:endParaRPr sz="13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731520" y="45720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00" b="1" spc="200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AGENDA</a:t>
            </a:r>
            <a:endParaRPr sz="13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731520" y="822960"/>
            <a:ext cx="731520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8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This afternoon</a:t>
            </a:r>
            <a:endParaRPr sz="2800"/>
          </a:p>
        </p:txBody>
      </p:sp>
      <p:sp>
        <p:nvSpPr>
          <p:cNvPr id="4" name="Shape 2"/>
          <p:cNvSpPr>
            <a:spLocks noGrp="1"/>
          </p:cNvSpPr>
          <p:nvPr/>
        </p:nvSpPr>
        <p:spPr>
          <a:xfrm>
            <a:off x="731520" y="1737360"/>
            <a:ext cx="10698480" cy="914400"/>
          </a:xfrm>
          <a:prstGeom prst="roundRect">
            <a:avLst>
              <a:gd name="adj" fmla="val 8000"/>
            </a:avLst>
          </a:prstGeom>
          <a:solidFill>
            <a:srgbClr val="EEF3FD"/>
          </a:solidFill>
        </p:spPr>
      </p:sp>
      <p:sp>
        <p:nvSpPr>
          <p:cNvPr id="5" name="Shape 3"/>
          <p:cNvSpPr>
            <a:spLocks noGrp="1"/>
          </p:cNvSpPr>
          <p:nvPr/>
        </p:nvSpPr>
        <p:spPr>
          <a:xfrm>
            <a:off x="1005840" y="1984248"/>
            <a:ext cx="420624" cy="420624"/>
          </a:xfrm>
          <a:prstGeom prst="ellipse">
            <a:avLst/>
          </a:prstGeom>
          <a:solidFill>
            <a:srgbClr val="F2A93B"/>
          </a:solidFill>
        </p:spPr>
      </p:sp>
      <p:sp>
        <p:nvSpPr>
          <p:cNvPr id="6" name="Text 4"/>
          <p:cNvSpPr>
            <a:spLocks noGrp="1"/>
          </p:cNvSpPr>
          <p:nvPr/>
        </p:nvSpPr>
        <p:spPr>
          <a:xfrm>
            <a:off x="1005840" y="1984248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01</a:t>
            </a:r>
            <a:endParaRPr sz="1400"/>
          </a:p>
        </p:txBody>
      </p:sp>
      <p:sp>
        <p:nvSpPr>
          <p:cNvPr id="7" name="Text 5"/>
          <p:cNvSpPr>
            <a:spLocks noGrp="1"/>
          </p:cNvSpPr>
          <p:nvPr/>
        </p:nvSpPr>
        <p:spPr>
          <a:xfrm>
            <a:off x="1691640" y="1847088"/>
            <a:ext cx="868680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60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Azure Cosmos DB</a:t>
            </a:r>
            <a:endParaRPr sz="1600"/>
          </a:p>
        </p:txBody>
      </p:sp>
      <p:sp>
        <p:nvSpPr>
          <p:cNvPr id="8" name="Text 6"/>
          <p:cNvSpPr>
            <a:spLocks noGrp="1"/>
          </p:cNvSpPr>
          <p:nvPr/>
        </p:nvSpPr>
        <p:spPr>
          <a:xfrm>
            <a:off x="1691640" y="2194560"/>
            <a:ext cx="905256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50">
                <a:solidFill>
                  <a:srgbClr val="5C61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Concepts, the CLI, then real persistence in catalog-api</a:t>
            </a:r>
            <a:endParaRPr sz="1250">
              <a:solidFill>
                <a:srgbClr val="5C6180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9" name="Shape 7"/>
          <p:cNvSpPr>
            <a:spLocks noGrp="1"/>
          </p:cNvSpPr>
          <p:nvPr/>
        </p:nvSpPr>
        <p:spPr>
          <a:xfrm>
            <a:off x="731520" y="2816352"/>
            <a:ext cx="10698480" cy="914400"/>
          </a:xfrm>
          <a:prstGeom prst="roundRect">
            <a:avLst>
              <a:gd name="adj" fmla="val 8000"/>
            </a:avLst>
          </a:prstGeom>
          <a:solidFill>
            <a:srgbClr val="EEF3FD"/>
          </a:solidFill>
        </p:spPr>
      </p:sp>
      <p:sp>
        <p:nvSpPr>
          <p:cNvPr id="10" name="Shape 8"/>
          <p:cNvSpPr>
            <a:spLocks noGrp="1"/>
          </p:cNvSpPr>
          <p:nvPr/>
        </p:nvSpPr>
        <p:spPr>
          <a:xfrm>
            <a:off x="1005840" y="3063240"/>
            <a:ext cx="420624" cy="420624"/>
          </a:xfrm>
          <a:prstGeom prst="ellipse">
            <a:avLst/>
          </a:prstGeom>
          <a:solidFill>
            <a:srgbClr val="F2A93B"/>
          </a:solidFill>
        </p:spPr>
      </p:sp>
      <p:sp>
        <p:nvSpPr>
          <p:cNvPr id="11" name="Text 9"/>
          <p:cNvSpPr>
            <a:spLocks noGrp="1"/>
          </p:cNvSpPr>
          <p:nvPr/>
        </p:nvSpPr>
        <p:spPr>
          <a:xfrm>
            <a:off x="1005840" y="3063240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02</a:t>
            </a:r>
            <a:endParaRPr sz="1400"/>
          </a:p>
        </p:txBody>
      </p:sp>
      <p:sp>
        <p:nvSpPr>
          <p:cNvPr id="12" name="Text 10"/>
          <p:cNvSpPr>
            <a:spLocks noGrp="1"/>
          </p:cNvSpPr>
          <p:nvPr/>
        </p:nvSpPr>
        <p:spPr>
          <a:xfrm>
            <a:off x="1691640" y="2926080"/>
            <a:ext cx="868680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60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Azure Blob Storage</a:t>
            </a:r>
            <a:endParaRPr sz="1600"/>
          </a:p>
        </p:txBody>
      </p:sp>
      <p:sp>
        <p:nvSpPr>
          <p:cNvPr id="13" name="Text 11"/>
          <p:cNvSpPr>
            <a:spLocks noGrp="1"/>
          </p:cNvSpPr>
          <p:nvPr/>
        </p:nvSpPr>
        <p:spPr>
          <a:xfrm>
            <a:off x="1691640" y="3273552"/>
            <a:ext cx="905256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50">
                <a:solidFill>
                  <a:srgbClr val="5C61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Containers, tiers, SAS tokens, then poster uploads in the app</a:t>
            </a:r>
            <a:endParaRPr sz="1250">
              <a:solidFill>
                <a:srgbClr val="5C6180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4" name="Shape 12"/>
          <p:cNvSpPr>
            <a:spLocks noGrp="1"/>
          </p:cNvSpPr>
          <p:nvPr/>
        </p:nvSpPr>
        <p:spPr>
          <a:xfrm>
            <a:off x="731520" y="3895344"/>
            <a:ext cx="10698480" cy="914400"/>
          </a:xfrm>
          <a:prstGeom prst="roundRect">
            <a:avLst>
              <a:gd name="adj" fmla="val 8000"/>
            </a:avLst>
          </a:prstGeom>
          <a:solidFill>
            <a:srgbClr val="EEF3FD"/>
          </a:solidFill>
        </p:spPr>
      </p:sp>
      <p:sp>
        <p:nvSpPr>
          <p:cNvPr id="15" name="Shape 13"/>
          <p:cNvSpPr>
            <a:spLocks noGrp="1"/>
          </p:cNvSpPr>
          <p:nvPr/>
        </p:nvSpPr>
        <p:spPr>
          <a:xfrm>
            <a:off x="1005840" y="4142232"/>
            <a:ext cx="420624" cy="420624"/>
          </a:xfrm>
          <a:prstGeom prst="ellipse">
            <a:avLst/>
          </a:prstGeom>
          <a:solidFill>
            <a:srgbClr val="F2A93B"/>
          </a:solidFill>
        </p:spPr>
      </p:sp>
      <p:sp>
        <p:nvSpPr>
          <p:cNvPr id="16" name="Text 14"/>
          <p:cNvSpPr>
            <a:spLocks noGrp="1"/>
          </p:cNvSpPr>
          <p:nvPr/>
        </p:nvSpPr>
        <p:spPr>
          <a:xfrm>
            <a:off x="1005840" y="4142232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03</a:t>
            </a:r>
            <a:endParaRPr sz="1400"/>
          </a:p>
        </p:txBody>
      </p:sp>
      <p:sp>
        <p:nvSpPr>
          <p:cNvPr id="17" name="Text 15"/>
          <p:cNvSpPr>
            <a:spLocks noGrp="1"/>
          </p:cNvSpPr>
          <p:nvPr/>
        </p:nvSpPr>
        <p:spPr>
          <a:xfrm>
            <a:off x="1691640" y="4005072"/>
            <a:ext cx="868680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60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One app, both stores</a:t>
            </a:r>
            <a:endParaRPr sz="1600" b="1">
              <a:solidFill>
                <a:srgbClr val="1E276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8" name="Text 16"/>
          <p:cNvSpPr>
            <a:spLocks noGrp="1"/>
          </p:cNvSpPr>
          <p:nvPr/>
        </p:nvSpPr>
        <p:spPr>
          <a:xfrm>
            <a:off x="1691640" y="4352544"/>
            <a:ext cx="905256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50">
                <a:solidFill>
                  <a:srgbClr val="5C61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End-to-end: create a title with a poster through the UI</a:t>
            </a:r>
            <a:endParaRPr sz="1250">
              <a:solidFill>
                <a:srgbClr val="5C6180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9" name="Shape 17"/>
          <p:cNvSpPr>
            <a:spLocks noGrp="1"/>
          </p:cNvSpPr>
          <p:nvPr/>
        </p:nvSpPr>
        <p:spPr>
          <a:xfrm>
            <a:off x="731520" y="4974336"/>
            <a:ext cx="10698480" cy="914400"/>
          </a:xfrm>
          <a:prstGeom prst="roundRect">
            <a:avLst>
              <a:gd name="adj" fmla="val 8000"/>
            </a:avLst>
          </a:prstGeom>
          <a:solidFill>
            <a:srgbClr val="EEF3FD"/>
          </a:solidFill>
        </p:spPr>
      </p:sp>
      <p:sp>
        <p:nvSpPr>
          <p:cNvPr id="20" name="Shape 18"/>
          <p:cNvSpPr>
            <a:spLocks noGrp="1"/>
          </p:cNvSpPr>
          <p:nvPr/>
        </p:nvSpPr>
        <p:spPr>
          <a:xfrm>
            <a:off x="1005840" y="5221224"/>
            <a:ext cx="420624" cy="420624"/>
          </a:xfrm>
          <a:prstGeom prst="ellipse">
            <a:avLst/>
          </a:prstGeom>
          <a:solidFill>
            <a:srgbClr val="F2A93B"/>
          </a:solidFill>
        </p:spPr>
      </p:sp>
      <p:sp>
        <p:nvSpPr>
          <p:cNvPr id="21" name="Text 19"/>
          <p:cNvSpPr>
            <a:spLocks noGrp="1"/>
          </p:cNvSpPr>
          <p:nvPr/>
        </p:nvSpPr>
        <p:spPr>
          <a:xfrm>
            <a:off x="1005840" y="5221224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04</a:t>
            </a:r>
            <a:endParaRPr sz="1400"/>
          </a:p>
        </p:txBody>
      </p:sp>
      <p:sp>
        <p:nvSpPr>
          <p:cNvPr id="22" name="Text 20"/>
          <p:cNvSpPr>
            <a:spLocks noGrp="1"/>
          </p:cNvSpPr>
          <p:nvPr/>
        </p:nvSpPr>
        <p:spPr>
          <a:xfrm>
            <a:off x="1691640" y="5084064"/>
            <a:ext cx="868680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60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Wrap-up</a:t>
            </a:r>
            <a:endParaRPr sz="1600" b="1">
              <a:solidFill>
                <a:srgbClr val="1E276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23" name="Text 21"/>
          <p:cNvSpPr>
            <a:spLocks noGrp="1"/>
          </p:cNvSpPr>
          <p:nvPr/>
        </p:nvSpPr>
        <p:spPr>
          <a:xfrm>
            <a:off x="1691640" y="5431536"/>
            <a:ext cx="905256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50">
                <a:solidFill>
                  <a:srgbClr val="5C61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Key takeaways before Module 3 (Security)</a:t>
            </a:r>
            <a:endParaRPr sz="1250">
              <a:solidFill>
                <a:srgbClr val="5C6180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24" name="Text 22"/>
          <p:cNvSpPr>
            <a:spLocks noGrp="1"/>
          </p:cNvSpPr>
          <p:nvPr/>
        </p:nvSpPr>
        <p:spPr>
          <a:xfrm>
            <a:off x="731520" y="64465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5C61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Everything today lands in the same resource group you built this morning</a:t>
            </a:r>
            <a:endParaRPr sz="1000">
              <a:solidFill>
                <a:srgbClr val="5C6180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25" name="Text 23"/>
          <p:cNvSpPr>
            <a:spLocks noGrp="1"/>
          </p:cNvSpPr>
          <p:nvPr/>
        </p:nvSpPr>
        <p:spPr>
          <a:xfrm>
            <a:off x="7772400" y="644652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000">
                <a:solidFill>
                  <a:srgbClr val="5C61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Module 2 — Azure Storage Solutions</a:t>
            </a:r>
            <a:endParaRPr sz="1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hape 0"/>
          <p:cNvSpPr>
            <a:spLocks noGrp="1"/>
          </p:cNvSpPr>
          <p:nvPr/>
        </p:nvSpPr>
        <p:spPr>
          <a:xfrm>
            <a:off x="-2286000" y="4389120"/>
            <a:ext cx="5029200" cy="5029200"/>
          </a:xfrm>
          <a:prstGeom prst="ellipse">
            <a:avLst/>
          </a:prstGeom>
          <a:solidFill>
            <a:srgbClr val="141A47"/>
          </a:solidFill>
        </p:spPr>
      </p:sp>
      <p:sp>
        <p:nvSpPr>
          <p:cNvPr id="3" name="Shape 1"/>
          <p:cNvSpPr>
            <a:spLocks noGrp="1"/>
          </p:cNvSpPr>
          <p:nvPr/>
        </p:nvSpPr>
        <p:spPr>
          <a:xfrm>
            <a:off x="10607040" y="-1645920"/>
            <a:ext cx="3108960" cy="3108960"/>
          </a:xfrm>
          <a:prstGeom prst="ellipse">
            <a:avLst/>
          </a:prstGeom>
          <a:solidFill>
            <a:srgbClr val="141A47"/>
          </a:solidFill>
        </p:spPr>
      </p:sp>
      <p:sp>
        <p:nvSpPr>
          <p:cNvPr id="4" name="Shape 2"/>
          <p:cNvSpPr>
            <a:spLocks noGrp="1"/>
          </p:cNvSpPr>
          <p:nvPr/>
        </p:nvSpPr>
        <p:spPr>
          <a:xfrm>
            <a:off x="731520" y="2651760"/>
            <a:ext cx="502920" cy="502920"/>
          </a:xfrm>
          <a:prstGeom prst="ellipse">
            <a:avLst/>
          </a:prstGeom>
          <a:solidFill>
            <a:srgbClr val="F2A93B"/>
          </a:solidFill>
        </p:spPr>
      </p:sp>
      <p:sp>
        <p:nvSpPr>
          <p:cNvPr id="5" name="Text 3"/>
          <p:cNvSpPr>
            <a:spLocks noGrp="1"/>
          </p:cNvSpPr>
          <p:nvPr/>
        </p:nvSpPr>
        <p:spPr>
          <a:xfrm>
            <a:off x="731520" y="265176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80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1</a:t>
            </a:r>
            <a:endParaRPr sz="1800"/>
          </a:p>
        </p:txBody>
      </p:sp>
      <p:sp>
        <p:nvSpPr>
          <p:cNvPr id="6" name="Text 4"/>
          <p:cNvSpPr>
            <a:spLocks noGrp="1"/>
          </p:cNvSpPr>
          <p:nvPr/>
        </p:nvSpPr>
        <p:spPr>
          <a:xfrm>
            <a:off x="731520" y="3337560"/>
            <a:ext cx="9144000" cy="8229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400" b="1">
                <a:solidFill>
                  <a:srgbClr val="FFFFFF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Azure Cosmos DB</a:t>
            </a:r>
            <a:endParaRPr sz="3400"/>
          </a:p>
        </p:txBody>
      </p:sp>
      <p:sp>
        <p:nvSpPr>
          <p:cNvPr id="7" name="Text 5"/>
          <p:cNvSpPr>
            <a:spLocks noGrp="1"/>
          </p:cNvSpPr>
          <p:nvPr/>
        </p:nvSpPr>
        <p:spPr>
          <a:xfrm>
            <a:off x="731520" y="4114800"/>
            <a:ext cx="91440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600">
                <a:solidFill>
                  <a:srgbClr val="CADCFC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 globally distributed, multi-model NoSQL database</a:t>
            </a:r>
            <a:endParaRPr sz="1600"/>
          </a:p>
        </p:txBody>
      </p:sp>
      <p:sp>
        <p:nvSpPr>
          <p:cNvPr id="8" name="Text 6"/>
          <p:cNvSpPr>
            <a:spLocks noGrp="1"/>
          </p:cNvSpPr>
          <p:nvPr/>
        </p:nvSpPr>
        <p:spPr>
          <a:xfrm>
            <a:off x="731520" y="64465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9AA3C7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Topic 1</a:t>
            </a:r>
            <a:endParaRPr sz="1000"/>
          </a:p>
        </p:txBody>
      </p:sp>
      <p:sp>
        <p:nvSpPr>
          <p:cNvPr id="9" name="Text 7"/>
          <p:cNvSpPr>
            <a:spLocks noGrp="1"/>
          </p:cNvSpPr>
          <p:nvPr/>
        </p:nvSpPr>
        <p:spPr>
          <a:xfrm>
            <a:off x="7772400" y="644652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000">
                <a:solidFill>
                  <a:srgbClr val="9AA3C7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Module 2 — Azure Storage Solutions</a:t>
            </a:r>
            <a:endParaRPr sz="1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731520" y="45720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00" b="1" spc="200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COSMOS DB</a:t>
            </a:r>
            <a:endParaRPr sz="13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731520" y="822960"/>
            <a:ext cx="731520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8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Why use it?</a:t>
            </a:r>
            <a:endParaRPr sz="2800"/>
          </a:p>
        </p:txBody>
      </p:sp>
      <p:sp>
        <p:nvSpPr>
          <p:cNvPr id="4" name="Shape 2"/>
          <p:cNvSpPr>
            <a:spLocks noGrp="1"/>
          </p:cNvSpPr>
          <p:nvPr/>
        </p:nvSpPr>
        <p:spPr>
          <a:xfrm>
            <a:off x="731520" y="1737360"/>
            <a:ext cx="10698480" cy="914400"/>
          </a:xfrm>
          <a:prstGeom prst="roundRect">
            <a:avLst>
              <a:gd name="adj" fmla="val 8000"/>
            </a:avLst>
          </a:prstGeom>
          <a:solidFill>
            <a:srgbClr val="EEF3FD"/>
          </a:solidFill>
        </p:spPr>
      </p:sp>
      <p:sp>
        <p:nvSpPr>
          <p:cNvPr id="5" name="Shape 3"/>
          <p:cNvSpPr>
            <a:spLocks noGrp="1"/>
          </p:cNvSpPr>
          <p:nvPr/>
        </p:nvSpPr>
        <p:spPr>
          <a:xfrm>
            <a:off x="1005840" y="1984248"/>
            <a:ext cx="420624" cy="420624"/>
          </a:xfrm>
          <a:prstGeom prst="ellipse">
            <a:avLst/>
          </a:prstGeom>
          <a:solidFill>
            <a:srgbClr val="F2A93B"/>
          </a:solidFill>
        </p:spPr>
      </p:sp>
      <p:sp>
        <p:nvSpPr>
          <p:cNvPr id="6" name="Text 4"/>
          <p:cNvSpPr>
            <a:spLocks noGrp="1"/>
          </p:cNvSpPr>
          <p:nvPr/>
        </p:nvSpPr>
        <p:spPr>
          <a:xfrm>
            <a:off x="1005840" y="1984248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01</a:t>
            </a:r>
            <a:endParaRPr sz="1400"/>
          </a:p>
        </p:txBody>
      </p:sp>
      <p:sp>
        <p:nvSpPr>
          <p:cNvPr id="7" name="Text 5"/>
          <p:cNvSpPr>
            <a:spLocks noGrp="1"/>
          </p:cNvSpPr>
          <p:nvPr/>
        </p:nvSpPr>
        <p:spPr>
          <a:xfrm>
            <a:off x="1691640" y="1847088"/>
            <a:ext cx="868680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60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Flexible schema</a:t>
            </a:r>
            <a:endParaRPr sz="1600"/>
          </a:p>
        </p:txBody>
      </p:sp>
      <p:sp>
        <p:nvSpPr>
          <p:cNvPr id="8" name="Text 6"/>
          <p:cNvSpPr>
            <a:spLocks noGrp="1"/>
          </p:cNvSpPr>
          <p:nvPr/>
        </p:nvSpPr>
        <p:spPr>
          <a:xfrm>
            <a:off x="1691640" y="2194560"/>
            <a:ext cx="905256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50">
                <a:solidFill>
                  <a:srgbClr val="5C61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Stores JSON documents — no fixed columns, fields can vary item to item</a:t>
            </a:r>
            <a:endParaRPr sz="1250"/>
          </a:p>
        </p:txBody>
      </p:sp>
      <p:sp>
        <p:nvSpPr>
          <p:cNvPr id="9" name="Shape 7"/>
          <p:cNvSpPr>
            <a:spLocks noGrp="1"/>
          </p:cNvSpPr>
          <p:nvPr/>
        </p:nvSpPr>
        <p:spPr>
          <a:xfrm>
            <a:off x="731520" y="2816352"/>
            <a:ext cx="10698480" cy="914400"/>
          </a:xfrm>
          <a:prstGeom prst="roundRect">
            <a:avLst>
              <a:gd name="adj" fmla="val 8000"/>
            </a:avLst>
          </a:prstGeom>
          <a:solidFill>
            <a:srgbClr val="EEF3FD"/>
          </a:solidFill>
        </p:spPr>
      </p:sp>
      <p:sp>
        <p:nvSpPr>
          <p:cNvPr id="10" name="Shape 8"/>
          <p:cNvSpPr>
            <a:spLocks noGrp="1"/>
          </p:cNvSpPr>
          <p:nvPr/>
        </p:nvSpPr>
        <p:spPr>
          <a:xfrm>
            <a:off x="1005840" y="3063240"/>
            <a:ext cx="420624" cy="420624"/>
          </a:xfrm>
          <a:prstGeom prst="ellipse">
            <a:avLst/>
          </a:prstGeom>
          <a:solidFill>
            <a:srgbClr val="F2A93B"/>
          </a:solidFill>
        </p:spPr>
      </p:sp>
      <p:sp>
        <p:nvSpPr>
          <p:cNvPr id="11" name="Text 9"/>
          <p:cNvSpPr>
            <a:spLocks noGrp="1"/>
          </p:cNvSpPr>
          <p:nvPr/>
        </p:nvSpPr>
        <p:spPr>
          <a:xfrm>
            <a:off x="1005840" y="3063240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02</a:t>
            </a:r>
            <a:endParaRPr sz="1400"/>
          </a:p>
        </p:txBody>
      </p:sp>
      <p:sp>
        <p:nvSpPr>
          <p:cNvPr id="12" name="Text 10"/>
          <p:cNvSpPr>
            <a:spLocks noGrp="1"/>
          </p:cNvSpPr>
          <p:nvPr/>
        </p:nvSpPr>
        <p:spPr>
          <a:xfrm>
            <a:off x="1691640" y="2926080"/>
            <a:ext cx="868680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60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Global distribution</a:t>
            </a:r>
            <a:endParaRPr sz="1600"/>
          </a:p>
        </p:txBody>
      </p:sp>
      <p:sp>
        <p:nvSpPr>
          <p:cNvPr id="13" name="Text 11"/>
          <p:cNvSpPr>
            <a:spLocks noGrp="1"/>
          </p:cNvSpPr>
          <p:nvPr/>
        </p:nvSpPr>
        <p:spPr>
          <a:xfrm>
            <a:off x="1691640" y="3273552"/>
            <a:ext cx="905256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50">
                <a:solidFill>
                  <a:srgbClr val="5C61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Replicate data to any Azure region with a few clicks; Azure handles sync</a:t>
            </a:r>
            <a:endParaRPr sz="1250"/>
          </a:p>
        </p:txBody>
      </p:sp>
      <p:sp>
        <p:nvSpPr>
          <p:cNvPr id="14" name="Shape 12"/>
          <p:cNvSpPr>
            <a:spLocks noGrp="1"/>
          </p:cNvSpPr>
          <p:nvPr/>
        </p:nvSpPr>
        <p:spPr>
          <a:xfrm>
            <a:off x="731520" y="3895344"/>
            <a:ext cx="10698480" cy="914400"/>
          </a:xfrm>
          <a:prstGeom prst="roundRect">
            <a:avLst>
              <a:gd name="adj" fmla="val 8000"/>
            </a:avLst>
          </a:prstGeom>
          <a:solidFill>
            <a:srgbClr val="EEF3FD"/>
          </a:solidFill>
        </p:spPr>
      </p:sp>
      <p:sp>
        <p:nvSpPr>
          <p:cNvPr id="15" name="Shape 13"/>
          <p:cNvSpPr>
            <a:spLocks noGrp="1"/>
          </p:cNvSpPr>
          <p:nvPr/>
        </p:nvSpPr>
        <p:spPr>
          <a:xfrm>
            <a:off x="1005840" y="4142232"/>
            <a:ext cx="420624" cy="420624"/>
          </a:xfrm>
          <a:prstGeom prst="ellipse">
            <a:avLst/>
          </a:prstGeom>
          <a:solidFill>
            <a:srgbClr val="F2A93B"/>
          </a:solidFill>
        </p:spPr>
      </p:sp>
      <p:sp>
        <p:nvSpPr>
          <p:cNvPr id="16" name="Text 14"/>
          <p:cNvSpPr>
            <a:spLocks noGrp="1"/>
          </p:cNvSpPr>
          <p:nvPr/>
        </p:nvSpPr>
        <p:spPr>
          <a:xfrm>
            <a:off x="1005840" y="4142232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03</a:t>
            </a:r>
            <a:endParaRPr sz="1400"/>
          </a:p>
        </p:txBody>
      </p:sp>
      <p:sp>
        <p:nvSpPr>
          <p:cNvPr id="17" name="Text 15"/>
          <p:cNvSpPr>
            <a:spLocks noGrp="1"/>
          </p:cNvSpPr>
          <p:nvPr/>
        </p:nvSpPr>
        <p:spPr>
          <a:xfrm>
            <a:off x="1691640" y="4005072"/>
            <a:ext cx="868680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60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Elastic scale</a:t>
            </a:r>
            <a:endParaRPr sz="1600"/>
          </a:p>
        </p:txBody>
      </p:sp>
      <p:sp>
        <p:nvSpPr>
          <p:cNvPr id="18" name="Text 16"/>
          <p:cNvSpPr>
            <a:spLocks noGrp="1"/>
          </p:cNvSpPr>
          <p:nvPr/>
        </p:nvSpPr>
        <p:spPr>
          <a:xfrm>
            <a:off x="1691640" y="4352544"/>
            <a:ext cx="905256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50">
                <a:solidFill>
                  <a:srgbClr val="5C61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Throughput measured in RU/s — provision, autoscale, or go fully serverless</a:t>
            </a:r>
            <a:endParaRPr sz="1250"/>
          </a:p>
        </p:txBody>
      </p:sp>
      <p:sp>
        <p:nvSpPr>
          <p:cNvPr id="19" name="Shape 17"/>
          <p:cNvSpPr>
            <a:spLocks noGrp="1"/>
          </p:cNvSpPr>
          <p:nvPr/>
        </p:nvSpPr>
        <p:spPr>
          <a:xfrm>
            <a:off x="731520" y="4974336"/>
            <a:ext cx="10698480" cy="914400"/>
          </a:xfrm>
          <a:prstGeom prst="roundRect">
            <a:avLst>
              <a:gd name="adj" fmla="val 8000"/>
            </a:avLst>
          </a:prstGeom>
          <a:solidFill>
            <a:srgbClr val="EEF3FD"/>
          </a:solidFill>
        </p:spPr>
      </p:sp>
      <p:sp>
        <p:nvSpPr>
          <p:cNvPr id="20" name="Shape 18"/>
          <p:cNvSpPr>
            <a:spLocks noGrp="1"/>
          </p:cNvSpPr>
          <p:nvPr/>
        </p:nvSpPr>
        <p:spPr>
          <a:xfrm>
            <a:off x="1005840" y="5221224"/>
            <a:ext cx="420624" cy="420624"/>
          </a:xfrm>
          <a:prstGeom prst="ellipse">
            <a:avLst/>
          </a:prstGeom>
          <a:solidFill>
            <a:srgbClr val="F2A93B"/>
          </a:solidFill>
        </p:spPr>
      </p:sp>
      <p:sp>
        <p:nvSpPr>
          <p:cNvPr id="21" name="Text 19"/>
          <p:cNvSpPr>
            <a:spLocks noGrp="1"/>
          </p:cNvSpPr>
          <p:nvPr/>
        </p:nvSpPr>
        <p:spPr>
          <a:xfrm>
            <a:off x="1005840" y="5221224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04</a:t>
            </a:r>
            <a:endParaRPr sz="1400"/>
          </a:p>
        </p:txBody>
      </p:sp>
      <p:sp>
        <p:nvSpPr>
          <p:cNvPr id="22" name="Text 20"/>
          <p:cNvSpPr>
            <a:spLocks noGrp="1"/>
          </p:cNvSpPr>
          <p:nvPr/>
        </p:nvSpPr>
        <p:spPr>
          <a:xfrm>
            <a:off x="1691640" y="5084064"/>
            <a:ext cx="868680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60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Multi-model / multi-API</a:t>
            </a:r>
            <a:endParaRPr sz="1600"/>
          </a:p>
        </p:txBody>
      </p:sp>
      <p:sp>
        <p:nvSpPr>
          <p:cNvPr id="23" name="Text 21"/>
          <p:cNvSpPr>
            <a:spLocks noGrp="1"/>
          </p:cNvSpPr>
          <p:nvPr/>
        </p:nvSpPr>
        <p:spPr>
          <a:xfrm>
            <a:off x="1691640" y="5431536"/>
            <a:ext cx="905256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50">
                <a:solidFill>
                  <a:srgbClr val="5C61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SQL (Core), MongoDB, Cassandra, Gremlin, Table — same engine underneath</a:t>
            </a:r>
            <a:endParaRPr sz="1250"/>
          </a:p>
        </p:txBody>
      </p:sp>
      <p:sp>
        <p:nvSpPr>
          <p:cNvPr id="24" name="Text 22"/>
          <p:cNvSpPr>
            <a:spLocks noGrp="1"/>
          </p:cNvSpPr>
          <p:nvPr/>
        </p:nvSpPr>
        <p:spPr>
          <a:xfrm>
            <a:off x="731520" y="64465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5C61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For this course we focus on the SQL (Core) API — the native, default API</a:t>
            </a:r>
            <a:endParaRPr sz="1000"/>
          </a:p>
        </p:txBody>
      </p:sp>
      <p:sp>
        <p:nvSpPr>
          <p:cNvPr id="25" name="Text 23"/>
          <p:cNvSpPr>
            <a:spLocks noGrp="1"/>
          </p:cNvSpPr>
          <p:nvPr/>
        </p:nvSpPr>
        <p:spPr>
          <a:xfrm>
            <a:off x="7772400" y="644652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000">
                <a:solidFill>
                  <a:srgbClr val="5C61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Module 2 — Azure Storage Solutions</a:t>
            </a:r>
            <a:endParaRPr sz="1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>
            <a:spLocks noGrp="1"/>
          </p:cNvSpPr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1300" b="1" i="0" spc="200">
                <a:solidFill>
                  <a:srgbClr val="F2A93B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TOPIC 1  ·  COSMOS DB</a:t>
            </a:r>
            <a:endParaRPr sz="1300" b="1" i="0" spc="200">
              <a:solidFill>
                <a:srgbClr val="F2A93B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3" name="TextBox 2"/>
          <p:cNvSpPr>
            <a:spLocks noGrp="1"/>
          </p:cNvSpPr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3000" b="1" i="0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Account → Database → Container → Item</a:t>
            </a:r>
            <a:endParaRPr sz="3000" b="1" i="0">
              <a:solidFill>
                <a:srgbClr val="1E2761"/>
              </a:solidFill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  <p:sp>
        <p:nvSpPr>
          <p:cNvPr id="4" name="TextBox 3"/>
          <p:cNvSpPr>
            <a:spLocks noGrp="1"/>
          </p:cNvSpPr>
          <p:nvPr/>
        </p:nvSpPr>
        <p:spPr>
          <a:xfrm>
            <a:off x="548640" y="1444752"/>
            <a:ext cx="109728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1350" b="0" i="0">
                <a:solidFill>
                  <a:srgbClr val="5C61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Each level lives inside the one before it. The partition key is defined on the container.</a:t>
            </a:r>
            <a:endParaRPr sz="1350" b="0" i="0">
              <a:solidFill>
                <a:srgbClr val="5C6180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5" name="TextBox 4"/>
          <p:cNvSpPr>
            <a:spLocks noGrp="1"/>
          </p:cNvSpPr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buNone/>
            </a:pPr>
            <a:r>
              <a:rPr sz="1000" b="0" i="0">
                <a:solidFill>
                  <a:srgbClr val="5C61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Module 2 — Azure Storage Solutions</a:t>
            </a:r>
            <a:endParaRPr sz="1000" b="0" i="0">
              <a:solidFill>
                <a:srgbClr val="5C6180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6" name="Rounded Rectangle 5"/>
          <p:cNvSpPr>
            <a:spLocks noGrp="1"/>
          </p:cNvSpPr>
          <p:nvPr/>
        </p:nvSpPr>
        <p:spPr>
          <a:xfrm>
            <a:off x="548640" y="1965960"/>
            <a:ext cx="11091672" cy="3154680"/>
          </a:xfrm>
          <a:prstGeom prst="roundRect">
            <a:avLst>
              <a:gd name="adj" fmla="val 3500"/>
            </a:avLst>
          </a:prstGeom>
          <a:solidFill>
            <a:srgbClr val="F6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7" name="TextBox 6"/>
          <p:cNvSpPr>
            <a:spLocks noGrp="1"/>
          </p:cNvSpPr>
          <p:nvPr/>
        </p:nvSpPr>
        <p:spPr>
          <a:xfrm>
            <a:off x="804672" y="2112264"/>
            <a:ext cx="105796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1200" b="1" i="0" spc="110">
                <a:solidFill>
                  <a:srgbClr val="5C61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ACCOUNT</a:t>
            </a:r>
            <a:endParaRPr sz="1200" b="1" i="0" spc="110">
              <a:solidFill>
                <a:srgbClr val="5C6180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8" name="TextBox 7"/>
          <p:cNvSpPr>
            <a:spLocks noGrp="1"/>
          </p:cNvSpPr>
          <p:nvPr/>
        </p:nvSpPr>
        <p:spPr>
          <a:xfrm>
            <a:off x="8577072" y="2112264"/>
            <a:ext cx="278892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buNone/>
            </a:pPr>
            <a:r>
              <a:rPr sz="1150" b="0" i="0">
                <a:solidFill>
                  <a:srgbClr val="1E2761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cosmos-estiam-dev-2</a:t>
            </a:r>
            <a:endParaRPr sz="1150" b="0" i="0">
              <a:solidFill>
                <a:srgbClr val="1E2761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9" name="Rounded Rectangle 8"/>
          <p:cNvSpPr>
            <a:spLocks noGrp="1"/>
          </p:cNvSpPr>
          <p:nvPr/>
        </p:nvSpPr>
        <p:spPr>
          <a:xfrm>
            <a:off x="960120" y="2450592"/>
            <a:ext cx="10268712" cy="2395728"/>
          </a:xfrm>
          <a:prstGeom prst="roundRect">
            <a:avLst>
              <a:gd name="adj" fmla="val 3500"/>
            </a:avLst>
          </a:prstGeom>
          <a:solidFill>
            <a:srgbClr val="EEF3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10" name="TextBox 9"/>
          <p:cNvSpPr>
            <a:spLocks noGrp="1"/>
          </p:cNvSpPr>
          <p:nvPr/>
        </p:nvSpPr>
        <p:spPr>
          <a:xfrm>
            <a:off x="1216152" y="2596896"/>
            <a:ext cx="975664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1200" b="1" i="0" spc="110">
                <a:solidFill>
                  <a:srgbClr val="5C61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DATABASE</a:t>
            </a:r>
            <a:endParaRPr sz="1200" b="1" i="0" spc="110">
              <a:solidFill>
                <a:srgbClr val="5C6180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1" name="TextBox 10"/>
          <p:cNvSpPr>
            <a:spLocks noGrp="1"/>
          </p:cNvSpPr>
          <p:nvPr/>
        </p:nvSpPr>
        <p:spPr>
          <a:xfrm>
            <a:off x="8165592" y="2596896"/>
            <a:ext cx="278892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buNone/>
            </a:pPr>
            <a:r>
              <a:rPr sz="1150" b="0" i="0">
                <a:solidFill>
                  <a:srgbClr val="1E2761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CatalogDb</a:t>
            </a:r>
            <a:endParaRPr sz="1150" b="0" i="0">
              <a:solidFill>
                <a:srgbClr val="1E2761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2" name="Rounded Rectangle 11"/>
          <p:cNvSpPr>
            <a:spLocks noGrp="1"/>
          </p:cNvSpPr>
          <p:nvPr/>
        </p:nvSpPr>
        <p:spPr>
          <a:xfrm>
            <a:off x="1371600" y="2935224"/>
            <a:ext cx="9445752" cy="1636776"/>
          </a:xfrm>
          <a:prstGeom prst="roundRect">
            <a:avLst>
              <a:gd name="adj" fmla="val 3500"/>
            </a:avLst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13" name="TextBox 12"/>
          <p:cNvSpPr>
            <a:spLocks noGrp="1"/>
          </p:cNvSpPr>
          <p:nvPr/>
        </p:nvSpPr>
        <p:spPr>
          <a:xfrm>
            <a:off x="1627632" y="3081528"/>
            <a:ext cx="893368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1200" b="1" i="0" spc="110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CONTAINER  ·  partition key /genre</a:t>
            </a:r>
            <a:endParaRPr sz="1200" b="1" i="0" spc="110">
              <a:solidFill>
                <a:srgbClr val="1E276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4" name="TextBox 13"/>
          <p:cNvSpPr>
            <a:spLocks noGrp="1"/>
          </p:cNvSpPr>
          <p:nvPr/>
        </p:nvSpPr>
        <p:spPr>
          <a:xfrm>
            <a:off x="7754112" y="3081528"/>
            <a:ext cx="278892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buNone/>
            </a:pPr>
            <a:r>
              <a:rPr sz="1150" b="0" i="0">
                <a:solidFill>
                  <a:srgbClr val="1E2761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Titles</a:t>
            </a:r>
            <a:endParaRPr sz="1150" b="0" i="0">
              <a:solidFill>
                <a:srgbClr val="1E2761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5" name="Rounded Rectangle 14"/>
          <p:cNvSpPr>
            <a:spLocks noGrp="1"/>
          </p:cNvSpPr>
          <p:nvPr/>
        </p:nvSpPr>
        <p:spPr>
          <a:xfrm>
            <a:off x="1691640" y="3401568"/>
            <a:ext cx="8805672" cy="310896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16" name="TextBox 15"/>
          <p:cNvSpPr>
            <a:spLocks noGrp="1"/>
          </p:cNvSpPr>
          <p:nvPr/>
        </p:nvSpPr>
        <p:spPr>
          <a:xfrm>
            <a:off x="1874520" y="3401568"/>
            <a:ext cx="843991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1050" b="0" i="0">
                <a:solidFill>
                  <a:srgbClr val="22223A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{ "id": "tt-1", "genre": "sci-fi", … }</a:t>
            </a:r>
            <a:endParaRPr sz="1050" b="0" i="0">
              <a:solidFill>
                <a:srgbClr val="22223A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7" name="Rounded Rectangle 16"/>
          <p:cNvSpPr>
            <a:spLocks noGrp="1"/>
          </p:cNvSpPr>
          <p:nvPr/>
        </p:nvSpPr>
        <p:spPr>
          <a:xfrm>
            <a:off x="1691640" y="3767328"/>
            <a:ext cx="8805672" cy="310896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18" name="TextBox 17"/>
          <p:cNvSpPr>
            <a:spLocks noGrp="1"/>
          </p:cNvSpPr>
          <p:nvPr/>
        </p:nvSpPr>
        <p:spPr>
          <a:xfrm>
            <a:off x="1874520" y="3767328"/>
            <a:ext cx="843991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1050" b="0" i="0">
                <a:solidFill>
                  <a:srgbClr val="22223A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{ "id": "tt-2", "genre": "drama",  … }</a:t>
            </a:r>
            <a:endParaRPr sz="1050" b="0" i="0">
              <a:solidFill>
                <a:srgbClr val="22223A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9" name="Rounded Rectangle 18"/>
          <p:cNvSpPr>
            <a:spLocks noGrp="1"/>
          </p:cNvSpPr>
          <p:nvPr/>
        </p:nvSpPr>
        <p:spPr>
          <a:xfrm>
            <a:off x="1691640" y="4133088"/>
            <a:ext cx="8805672" cy="310896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20" name="TextBox 19"/>
          <p:cNvSpPr>
            <a:spLocks noGrp="1"/>
          </p:cNvSpPr>
          <p:nvPr/>
        </p:nvSpPr>
        <p:spPr>
          <a:xfrm>
            <a:off x="1874520" y="4133088"/>
            <a:ext cx="843991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1050" b="0" i="0">
                <a:solidFill>
                  <a:srgbClr val="22223A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{ "id": "tt-3", "genre": "sci-fi", … }</a:t>
            </a:r>
            <a:endParaRPr sz="1050" b="0" i="0">
              <a:solidFill>
                <a:srgbClr val="22223A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21" name="TextBox 20"/>
          <p:cNvSpPr>
            <a:spLocks noGrp="1"/>
          </p:cNvSpPr>
          <p:nvPr/>
        </p:nvSpPr>
        <p:spPr>
          <a:xfrm>
            <a:off x="1691640" y="4617720"/>
            <a:ext cx="880567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1050" b="0" i="0" spc="80">
                <a:solidFill>
                  <a:srgbClr val="5C61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ITEM  —  one JSON document, schema-free</a:t>
            </a:r>
            <a:endParaRPr sz="1050" b="0" i="0" spc="80">
              <a:solidFill>
                <a:srgbClr val="5C6180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22" name="Rounded Rectangle 21"/>
          <p:cNvSpPr>
            <a:spLocks noGrp="1"/>
          </p:cNvSpPr>
          <p:nvPr/>
        </p:nvSpPr>
        <p:spPr>
          <a:xfrm>
            <a:off x="548640" y="5394960"/>
            <a:ext cx="11091672" cy="621792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23" name="TextBox 22"/>
          <p:cNvSpPr>
            <a:spLocks noGrp="1"/>
          </p:cNvSpPr>
          <p:nvPr/>
        </p:nvSpPr>
        <p:spPr>
          <a:xfrm>
            <a:off x="822960" y="5394960"/>
            <a:ext cx="10543032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1300" b="1" i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To fetch one item you need two things: its id AND its partition-key value</a:t>
            </a:r>
            <a:endParaRPr sz="1300" b="1" i="0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731520" y="45720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00" b="1" spc="200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COSMOS DB</a:t>
            </a:r>
            <a:endParaRPr sz="13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731520" y="82296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8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Partition key &amp; RU/s</a:t>
            </a:r>
            <a:endParaRPr sz="2800"/>
          </a:p>
        </p:txBody>
      </p:sp>
      <p:sp>
        <p:nvSpPr>
          <p:cNvPr id="4" name="Text 2"/>
          <p:cNvSpPr>
            <a:spLocks noGrp="1"/>
          </p:cNvSpPr>
          <p:nvPr/>
        </p:nvSpPr>
        <p:spPr>
          <a:xfrm>
            <a:off x="731520" y="137160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00">
                <a:solidFill>
                  <a:srgbClr val="5C61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The partition key spreads items across physical storage so many requests can run in parallel without collisions.</a:t>
            </a:r>
            <a:endParaRPr sz="1300"/>
          </a:p>
        </p:txBody>
      </p:sp>
      <p:sp>
        <p:nvSpPr>
          <p:cNvPr id="5" name="Shape 3"/>
          <p:cNvSpPr>
            <a:spLocks noGrp="1"/>
          </p:cNvSpPr>
          <p:nvPr/>
        </p:nvSpPr>
        <p:spPr>
          <a:xfrm>
            <a:off x="731520" y="2011680"/>
            <a:ext cx="5120640" cy="2286000"/>
          </a:xfrm>
          <a:prstGeom prst="roundRect">
            <a:avLst>
              <a:gd name="adj" fmla="val 3200"/>
            </a:avLst>
          </a:prstGeom>
          <a:solidFill>
            <a:srgbClr val="EEF3FD"/>
          </a:solidFill>
        </p:spPr>
      </p:sp>
      <p:sp>
        <p:nvSpPr>
          <p:cNvPr id="6" name="Text 4"/>
          <p:cNvSpPr>
            <a:spLocks noGrp="1"/>
          </p:cNvSpPr>
          <p:nvPr/>
        </p:nvSpPr>
        <p:spPr>
          <a:xfrm>
            <a:off x="960120" y="2194560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50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Good partition key</a:t>
            </a:r>
            <a:endParaRPr sz="1500"/>
          </a:p>
        </p:txBody>
      </p:sp>
      <p:sp>
        <p:nvSpPr>
          <p:cNvPr id="7" name="Text 5"/>
          <p:cNvSpPr>
            <a:spLocks noGrp="1"/>
          </p:cNvSpPr>
          <p:nvPr/>
        </p:nvSpPr>
        <p:spPr>
          <a:xfrm>
            <a:off x="960120" y="2651760"/>
            <a:ext cx="4663440" cy="1554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5C61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Many distinct values (e.g. category, customerId)</a:t>
            </a:r>
            <a:endParaRPr sz="125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5C61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Reads/writes spread evenly across partitions</a:t>
            </a:r>
            <a:endParaRPr sz="125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5C61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Scales near-infinitely as data grows</a:t>
            </a:r>
            <a:endParaRPr sz="1250"/>
          </a:p>
        </p:txBody>
      </p:sp>
      <p:sp>
        <p:nvSpPr>
          <p:cNvPr id="8" name="Shape 6"/>
          <p:cNvSpPr>
            <a:spLocks noGrp="1"/>
          </p:cNvSpPr>
          <p:nvPr/>
        </p:nvSpPr>
        <p:spPr>
          <a:xfrm>
            <a:off x="6309360" y="2011680"/>
            <a:ext cx="5120640" cy="2286000"/>
          </a:xfrm>
          <a:prstGeom prst="roundRect">
            <a:avLst>
              <a:gd name="adj" fmla="val 3200"/>
            </a:avLst>
          </a:prstGeom>
          <a:solidFill>
            <a:srgbClr val="EEF3FD"/>
          </a:solidFill>
        </p:spPr>
      </p:sp>
      <p:sp>
        <p:nvSpPr>
          <p:cNvPr id="9" name="Text 7"/>
          <p:cNvSpPr>
            <a:spLocks noGrp="1"/>
          </p:cNvSpPr>
          <p:nvPr/>
        </p:nvSpPr>
        <p:spPr>
          <a:xfrm>
            <a:off x="6537960" y="2194560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50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Bad partition key ('hot' partition)</a:t>
            </a:r>
            <a:endParaRPr sz="1500"/>
          </a:p>
        </p:txBody>
      </p:sp>
      <p:sp>
        <p:nvSpPr>
          <p:cNvPr id="10" name="Text 8"/>
          <p:cNvSpPr>
            <a:spLocks noGrp="1"/>
          </p:cNvSpPr>
          <p:nvPr/>
        </p:nvSpPr>
        <p:spPr>
          <a:xfrm>
            <a:off x="6537960" y="2651760"/>
            <a:ext cx="4663440" cy="1554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5C61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Very few distinct values, or one dominant value</a:t>
            </a:r>
            <a:endParaRPr sz="125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5C61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Most traffic lands on one physical partition</a:t>
            </a:r>
            <a:endParaRPr sz="125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5C61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That partition throttles even if others sit idle</a:t>
            </a:r>
            <a:endParaRPr sz="1250"/>
          </a:p>
        </p:txBody>
      </p:sp>
      <p:sp>
        <p:nvSpPr>
          <p:cNvPr id="11" name="Shape 9"/>
          <p:cNvSpPr>
            <a:spLocks noGrp="1"/>
          </p:cNvSpPr>
          <p:nvPr/>
        </p:nvSpPr>
        <p:spPr>
          <a:xfrm>
            <a:off x="731520" y="4526280"/>
            <a:ext cx="10698480" cy="1280160"/>
          </a:xfrm>
          <a:prstGeom prst="roundRect">
            <a:avLst>
              <a:gd name="adj" fmla="val 5714"/>
            </a:avLst>
          </a:prstGeom>
          <a:solidFill>
            <a:srgbClr val="1E2761"/>
          </a:solidFill>
        </p:spPr>
      </p:sp>
      <p:sp>
        <p:nvSpPr>
          <p:cNvPr id="12" name="Text 10"/>
          <p:cNvSpPr>
            <a:spLocks noGrp="1"/>
          </p:cNvSpPr>
          <p:nvPr/>
        </p:nvSpPr>
        <p:spPr>
          <a:xfrm>
            <a:off x="1005840" y="466344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500" b="1">
                <a:solidFill>
                  <a:srgbClr val="F2A93B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RU/s — Request Units per second</a:t>
            </a:r>
            <a:endParaRPr sz="1500"/>
          </a:p>
        </p:txBody>
      </p:sp>
      <p:sp>
        <p:nvSpPr>
          <p:cNvPr id="13" name="Text 11"/>
          <p:cNvSpPr>
            <a:spLocks noGrp="1"/>
          </p:cNvSpPr>
          <p:nvPr/>
        </p:nvSpPr>
        <p:spPr>
          <a:xfrm>
            <a:off x="1005840" y="5074920"/>
            <a:ext cx="1014984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>
                <a:solidFill>
                  <a:srgbClr val="CADCFC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Every operation costs RUs (a read might cost 1, a write more). RU/s is your budget per second — provisioned, autoscaled, or serverless (pay-per-request). Exceed it and requests are throttled, same as "you've had enough sweets for today."</a:t>
            </a:r>
            <a:endParaRPr sz="1200"/>
          </a:p>
        </p:txBody>
      </p:sp>
      <p:sp>
        <p:nvSpPr>
          <p:cNvPr id="14" name="Text 12"/>
          <p:cNvSpPr>
            <a:spLocks noGrp="1"/>
          </p:cNvSpPr>
          <p:nvPr/>
        </p:nvSpPr>
        <p:spPr>
          <a:xfrm>
            <a:off x="731520" y="64465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5C61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Our container: Titles, partition key /genre, 400 RU/s provisioned</a:t>
            </a:r>
            <a:endParaRPr sz="1000">
              <a:solidFill>
                <a:srgbClr val="5C6180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5" name="Text 13"/>
          <p:cNvSpPr>
            <a:spLocks noGrp="1"/>
          </p:cNvSpPr>
          <p:nvPr/>
        </p:nvSpPr>
        <p:spPr>
          <a:xfrm>
            <a:off x="7772400" y="644652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000">
                <a:solidFill>
                  <a:srgbClr val="5C61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Module 2 — Azure Storage Solutions</a:t>
            </a:r>
            <a:endParaRPr sz="1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>
            <a:spLocks noGrp="1"/>
          </p:cNvSpPr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1300" b="1" i="0" spc="200">
                <a:solidFill>
                  <a:srgbClr val="F2A93B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TOPIC 1  ·  COSMOS DB</a:t>
            </a:r>
            <a:endParaRPr sz="1300" b="1" i="0" spc="200">
              <a:solidFill>
                <a:srgbClr val="F2A93B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3" name="TextBox 2"/>
          <p:cNvSpPr>
            <a:spLocks noGrp="1"/>
          </p:cNvSpPr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3000" b="1" i="0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The same traffic, two partition keys</a:t>
            </a:r>
            <a:endParaRPr sz="3000" b="1" i="0">
              <a:solidFill>
                <a:srgbClr val="1E2761"/>
              </a:solidFill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  <p:sp>
        <p:nvSpPr>
          <p:cNvPr id="4" name="TextBox 3"/>
          <p:cNvSpPr>
            <a:spLocks noGrp="1"/>
          </p:cNvSpPr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buNone/>
            </a:pPr>
            <a:r>
              <a:rPr sz="1000" b="0" i="0">
                <a:solidFill>
                  <a:srgbClr val="5C61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Module 2 — Azure Storage Solutions</a:t>
            </a:r>
            <a:endParaRPr sz="1000" b="0" i="0">
              <a:solidFill>
                <a:srgbClr val="5C6180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5" name="Rounded Rectangle 4"/>
          <p:cNvSpPr>
            <a:spLocks noGrp="1"/>
          </p:cNvSpPr>
          <p:nvPr/>
        </p:nvSpPr>
        <p:spPr>
          <a:xfrm>
            <a:off x="548640" y="1783080"/>
            <a:ext cx="5349240" cy="3291840"/>
          </a:xfrm>
          <a:prstGeom prst="roundRect">
            <a:avLst>
              <a:gd name="adj" fmla="val 4000"/>
            </a:avLst>
          </a:prstGeom>
          <a:solidFill>
            <a:srgbClr val="F6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6" name="TextBox 5"/>
          <p:cNvSpPr>
            <a:spLocks noGrp="1"/>
          </p:cNvSpPr>
          <p:nvPr/>
        </p:nvSpPr>
        <p:spPr>
          <a:xfrm>
            <a:off x="822960" y="1920240"/>
            <a:ext cx="48006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1400" b="1" i="0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Good key  ·  /customerId</a:t>
            </a:r>
            <a:endParaRPr sz="1400" b="1" i="0">
              <a:solidFill>
                <a:srgbClr val="1E276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7" name="TextBox 6"/>
          <p:cNvSpPr>
            <a:spLocks noGrp="1"/>
          </p:cNvSpPr>
          <p:nvPr/>
        </p:nvSpPr>
        <p:spPr>
          <a:xfrm>
            <a:off x="822960" y="2249424"/>
            <a:ext cx="48006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1050" b="0" i="0">
                <a:solidFill>
                  <a:srgbClr val="5C61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~2,000 distinct values, matches the query filter</a:t>
            </a:r>
            <a:endParaRPr sz="1050" b="0" i="0">
              <a:solidFill>
                <a:srgbClr val="5C6180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8" name="Rectangle 7"/>
          <p:cNvSpPr>
            <a:spLocks noGrp="1"/>
          </p:cNvSpPr>
          <p:nvPr/>
        </p:nvSpPr>
        <p:spPr>
          <a:xfrm>
            <a:off x="804672" y="3328416"/>
            <a:ext cx="4837176" cy="27432"/>
          </a:xfrm>
          <a:prstGeom prst="rect">
            <a:avLst/>
          </a:prstGeom>
          <a:solidFill>
            <a:srgbClr val="5C61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9" name="TextBox 8"/>
          <p:cNvSpPr>
            <a:spLocks noGrp="1"/>
          </p:cNvSpPr>
          <p:nvPr/>
        </p:nvSpPr>
        <p:spPr>
          <a:xfrm>
            <a:off x="804672" y="3054096"/>
            <a:ext cx="4837176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buNone/>
            </a:pPr>
            <a:r>
              <a:rPr sz="900" b="0" i="1">
                <a:solidFill>
                  <a:srgbClr val="5C61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RU/s budget</a:t>
            </a:r>
            <a:endParaRPr sz="900" b="0" i="1">
              <a:solidFill>
                <a:srgbClr val="5C6180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0" name="Rounded Rectangle 9"/>
          <p:cNvSpPr>
            <a:spLocks noGrp="1"/>
          </p:cNvSpPr>
          <p:nvPr/>
        </p:nvSpPr>
        <p:spPr>
          <a:xfrm>
            <a:off x="1051560" y="3794760"/>
            <a:ext cx="841248" cy="96012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11" name="TextBox 10"/>
          <p:cNvSpPr>
            <a:spLocks noGrp="1"/>
          </p:cNvSpPr>
          <p:nvPr/>
        </p:nvSpPr>
        <p:spPr>
          <a:xfrm>
            <a:off x="960120" y="4800600"/>
            <a:ext cx="1024128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950" b="0" i="0">
                <a:solidFill>
                  <a:srgbClr val="5C61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P1</a:t>
            </a:r>
            <a:endParaRPr sz="950" b="0" i="0">
              <a:solidFill>
                <a:srgbClr val="5C6180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2" name="Rounded Rectangle 11"/>
          <p:cNvSpPr>
            <a:spLocks noGrp="1"/>
          </p:cNvSpPr>
          <p:nvPr/>
        </p:nvSpPr>
        <p:spPr>
          <a:xfrm>
            <a:off x="2221992" y="3657600"/>
            <a:ext cx="841248" cy="109728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13" name="TextBox 12"/>
          <p:cNvSpPr>
            <a:spLocks noGrp="1"/>
          </p:cNvSpPr>
          <p:nvPr/>
        </p:nvSpPr>
        <p:spPr>
          <a:xfrm>
            <a:off x="2130552" y="4800600"/>
            <a:ext cx="1024128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950" b="0" i="0">
                <a:solidFill>
                  <a:srgbClr val="5C61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P2</a:t>
            </a:r>
            <a:endParaRPr sz="950" b="0" i="0">
              <a:solidFill>
                <a:srgbClr val="5C6180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4" name="Rounded Rectangle 13"/>
          <p:cNvSpPr>
            <a:spLocks noGrp="1"/>
          </p:cNvSpPr>
          <p:nvPr/>
        </p:nvSpPr>
        <p:spPr>
          <a:xfrm>
            <a:off x="3392424" y="3886200"/>
            <a:ext cx="841248" cy="86868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15" name="TextBox 14"/>
          <p:cNvSpPr>
            <a:spLocks noGrp="1"/>
          </p:cNvSpPr>
          <p:nvPr/>
        </p:nvSpPr>
        <p:spPr>
          <a:xfrm>
            <a:off x="3300984" y="4800600"/>
            <a:ext cx="1024128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950" b="0" i="0">
                <a:solidFill>
                  <a:srgbClr val="5C61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P3</a:t>
            </a:r>
            <a:endParaRPr sz="950" b="0" i="0">
              <a:solidFill>
                <a:srgbClr val="5C6180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6" name="Rounded Rectangle 15"/>
          <p:cNvSpPr>
            <a:spLocks noGrp="1"/>
          </p:cNvSpPr>
          <p:nvPr/>
        </p:nvSpPr>
        <p:spPr>
          <a:xfrm>
            <a:off x="4562856" y="3703320"/>
            <a:ext cx="841248" cy="105156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17" name="TextBox 16"/>
          <p:cNvSpPr>
            <a:spLocks noGrp="1"/>
          </p:cNvSpPr>
          <p:nvPr/>
        </p:nvSpPr>
        <p:spPr>
          <a:xfrm>
            <a:off x="4471416" y="4800600"/>
            <a:ext cx="1024128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950" b="0" i="0">
                <a:solidFill>
                  <a:srgbClr val="5C61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P4</a:t>
            </a:r>
            <a:endParaRPr sz="950" b="0" i="0">
              <a:solidFill>
                <a:srgbClr val="5C6180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8" name="Rounded Rectangle 17"/>
          <p:cNvSpPr>
            <a:spLocks noGrp="1"/>
          </p:cNvSpPr>
          <p:nvPr/>
        </p:nvSpPr>
        <p:spPr>
          <a:xfrm>
            <a:off x="6291072" y="1783080"/>
            <a:ext cx="5349240" cy="3291840"/>
          </a:xfrm>
          <a:prstGeom prst="roundRect">
            <a:avLst>
              <a:gd name="adj" fmla="val 4000"/>
            </a:avLst>
          </a:prstGeom>
          <a:solidFill>
            <a:srgbClr val="FDF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19" name="TextBox 18"/>
          <p:cNvSpPr>
            <a:spLocks noGrp="1"/>
          </p:cNvSpPr>
          <p:nvPr/>
        </p:nvSpPr>
        <p:spPr>
          <a:xfrm>
            <a:off x="6565392" y="1920240"/>
            <a:ext cx="48006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1400" b="1" i="0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Hot partition  ·  /status</a:t>
            </a:r>
            <a:endParaRPr sz="1400" b="1" i="0">
              <a:solidFill>
                <a:srgbClr val="1E276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20" name="TextBox 19"/>
          <p:cNvSpPr>
            <a:spLocks noGrp="1"/>
          </p:cNvSpPr>
          <p:nvPr/>
        </p:nvSpPr>
        <p:spPr>
          <a:xfrm>
            <a:off x="6565392" y="2249424"/>
            <a:ext cx="48006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1050" b="0" i="0">
                <a:solidFill>
                  <a:srgbClr val="5C61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3 distinct values, one dominates</a:t>
            </a:r>
            <a:endParaRPr sz="1050" b="0" i="0">
              <a:solidFill>
                <a:srgbClr val="5C6180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21" name="Rectangle 20"/>
          <p:cNvSpPr>
            <a:spLocks noGrp="1"/>
          </p:cNvSpPr>
          <p:nvPr/>
        </p:nvSpPr>
        <p:spPr>
          <a:xfrm>
            <a:off x="6547104" y="3328416"/>
            <a:ext cx="4837176" cy="27432"/>
          </a:xfrm>
          <a:prstGeom prst="rect">
            <a:avLst/>
          </a:prstGeom>
          <a:solidFill>
            <a:srgbClr val="5C61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22" name="TextBox 21"/>
          <p:cNvSpPr>
            <a:spLocks noGrp="1"/>
          </p:cNvSpPr>
          <p:nvPr/>
        </p:nvSpPr>
        <p:spPr>
          <a:xfrm>
            <a:off x="6547104" y="3054096"/>
            <a:ext cx="4837176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buNone/>
            </a:pPr>
            <a:r>
              <a:rPr sz="900" b="0" i="1">
                <a:solidFill>
                  <a:srgbClr val="5C61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RU/s budget</a:t>
            </a:r>
            <a:endParaRPr sz="900" b="0" i="1">
              <a:solidFill>
                <a:srgbClr val="5C6180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23" name="Rounded Rectangle 22"/>
          <p:cNvSpPr>
            <a:spLocks noGrp="1"/>
          </p:cNvSpPr>
          <p:nvPr/>
        </p:nvSpPr>
        <p:spPr>
          <a:xfrm>
            <a:off x="6793992" y="2880360"/>
            <a:ext cx="841248" cy="1874520"/>
          </a:xfrm>
          <a:prstGeom prst="roundRect">
            <a:avLst>
              <a:gd name="adj" fmla="val 10000"/>
            </a:avLst>
          </a:prstGeom>
          <a:solidFill>
            <a:srgbClr val="F2A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24" name="TextBox 23"/>
          <p:cNvSpPr>
            <a:spLocks noGrp="1"/>
          </p:cNvSpPr>
          <p:nvPr/>
        </p:nvSpPr>
        <p:spPr>
          <a:xfrm>
            <a:off x="6702552" y="4800600"/>
            <a:ext cx="1024128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950" b="0" i="0">
                <a:solidFill>
                  <a:srgbClr val="5C61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P1</a:t>
            </a:r>
            <a:endParaRPr sz="950" b="0" i="0">
              <a:solidFill>
                <a:srgbClr val="5C6180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25" name="TextBox 24"/>
          <p:cNvSpPr>
            <a:spLocks noGrp="1"/>
          </p:cNvSpPr>
          <p:nvPr/>
        </p:nvSpPr>
        <p:spPr>
          <a:xfrm>
            <a:off x="6519672" y="2587752"/>
            <a:ext cx="1389888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1100" b="1" i="0">
                <a:solidFill>
                  <a:srgbClr val="F2A93B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429</a:t>
            </a:r>
            <a:endParaRPr sz="1100" b="1" i="0">
              <a:solidFill>
                <a:srgbClr val="F2A93B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26" name="Rounded Rectangle 25"/>
          <p:cNvSpPr>
            <a:spLocks noGrp="1"/>
          </p:cNvSpPr>
          <p:nvPr/>
        </p:nvSpPr>
        <p:spPr>
          <a:xfrm>
            <a:off x="7964424" y="4434840"/>
            <a:ext cx="841248" cy="320040"/>
          </a:xfrm>
          <a:prstGeom prst="roundRect">
            <a:avLst>
              <a:gd name="adj" fmla="val 10000"/>
            </a:avLst>
          </a:prstGeom>
          <a:solidFill>
            <a:srgbClr val="F2A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27" name="TextBox 26"/>
          <p:cNvSpPr>
            <a:spLocks noGrp="1"/>
          </p:cNvSpPr>
          <p:nvPr/>
        </p:nvSpPr>
        <p:spPr>
          <a:xfrm>
            <a:off x="7872984" y="4800600"/>
            <a:ext cx="1024128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950" b="0" i="0">
                <a:solidFill>
                  <a:srgbClr val="5C61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P2</a:t>
            </a:r>
            <a:endParaRPr sz="950" b="0" i="0">
              <a:solidFill>
                <a:srgbClr val="5C6180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28" name="Rounded Rectangle 27"/>
          <p:cNvSpPr>
            <a:spLocks noGrp="1"/>
          </p:cNvSpPr>
          <p:nvPr/>
        </p:nvSpPr>
        <p:spPr>
          <a:xfrm>
            <a:off x="9134856" y="4480560"/>
            <a:ext cx="841248" cy="274320"/>
          </a:xfrm>
          <a:prstGeom prst="roundRect">
            <a:avLst>
              <a:gd name="adj" fmla="val 10000"/>
            </a:avLst>
          </a:prstGeom>
          <a:solidFill>
            <a:srgbClr val="F2A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29" name="TextBox 28"/>
          <p:cNvSpPr>
            <a:spLocks noGrp="1"/>
          </p:cNvSpPr>
          <p:nvPr/>
        </p:nvSpPr>
        <p:spPr>
          <a:xfrm>
            <a:off x="9043416" y="4800600"/>
            <a:ext cx="1024128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950" b="0" i="0">
                <a:solidFill>
                  <a:srgbClr val="5C61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P3</a:t>
            </a:r>
            <a:endParaRPr sz="950" b="0" i="0">
              <a:solidFill>
                <a:srgbClr val="5C6180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30" name="Rounded Rectangle 29"/>
          <p:cNvSpPr>
            <a:spLocks noGrp="1"/>
          </p:cNvSpPr>
          <p:nvPr/>
        </p:nvSpPr>
        <p:spPr>
          <a:xfrm>
            <a:off x="10305288" y="4498848"/>
            <a:ext cx="841248" cy="256032"/>
          </a:xfrm>
          <a:prstGeom prst="roundRect">
            <a:avLst>
              <a:gd name="adj" fmla="val 10000"/>
            </a:avLst>
          </a:prstGeom>
          <a:solidFill>
            <a:srgbClr val="F2A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31" name="TextBox 30"/>
          <p:cNvSpPr>
            <a:spLocks noGrp="1"/>
          </p:cNvSpPr>
          <p:nvPr/>
        </p:nvSpPr>
        <p:spPr>
          <a:xfrm>
            <a:off x="10213848" y="4800600"/>
            <a:ext cx="1024128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950" b="0" i="0">
                <a:solidFill>
                  <a:srgbClr val="5C61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P4</a:t>
            </a:r>
            <a:endParaRPr sz="950" b="0" i="0">
              <a:solidFill>
                <a:srgbClr val="5C6180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32" name="Rounded Rectangle 31"/>
          <p:cNvSpPr>
            <a:spLocks noGrp="1"/>
          </p:cNvSpPr>
          <p:nvPr/>
        </p:nvSpPr>
        <p:spPr>
          <a:xfrm>
            <a:off x="548640" y="5394960"/>
            <a:ext cx="11091672" cy="621792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33" name="TextBox 32"/>
          <p:cNvSpPr>
            <a:spLocks noGrp="1"/>
          </p:cNvSpPr>
          <p:nvPr/>
        </p:nvSpPr>
        <p:spPr>
          <a:xfrm>
            <a:off x="822960" y="5394960"/>
            <a:ext cx="10543032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1300" b="1" i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Same 50,000 requests. One design choice — and it cannot be changed without migrating the data.</a:t>
            </a:r>
            <a:endParaRPr sz="1300" b="1" i="0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>
            <a:spLocks noGrp="1"/>
          </p:cNvSpPr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1300" b="1" i="0" spc="200">
                <a:solidFill>
                  <a:srgbClr val="F2A93B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TOPIC 1  ·  COSMOS DB</a:t>
            </a:r>
            <a:endParaRPr sz="1300" b="1" i="0" spc="200">
              <a:solidFill>
                <a:srgbClr val="F2A93B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3" name="TextBox 2"/>
          <p:cNvSpPr>
            <a:spLocks noGrp="1"/>
          </p:cNvSpPr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3000" b="1" i="0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Our key is a bad key. On purpose.</a:t>
            </a:r>
            <a:endParaRPr sz="3000" b="1" i="0">
              <a:solidFill>
                <a:srgbClr val="1E2761"/>
              </a:solidFill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  <p:sp>
        <p:nvSpPr>
          <p:cNvPr id="4" name="TextBox 3"/>
          <p:cNvSpPr>
            <a:spLocks noGrp="1"/>
          </p:cNvSpPr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buNone/>
            </a:pPr>
            <a:r>
              <a:rPr sz="1000" b="0" i="0">
                <a:solidFill>
                  <a:srgbClr val="5C61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Module 2 — Azure Storage Solutions</a:t>
            </a:r>
            <a:endParaRPr sz="1000" b="0" i="0">
              <a:solidFill>
                <a:srgbClr val="5C6180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5" name="Rounded Rectangle 4"/>
          <p:cNvSpPr>
            <a:spLocks noGrp="1"/>
          </p:cNvSpPr>
          <p:nvPr/>
        </p:nvSpPr>
        <p:spPr>
          <a:xfrm>
            <a:off x="548640" y="1737360"/>
            <a:ext cx="5349240" cy="3063240"/>
          </a:xfrm>
          <a:prstGeom prst="roundRect">
            <a:avLst>
              <a:gd name="adj" fmla="val 5000"/>
            </a:avLst>
          </a:prstGeom>
          <a:solidFill>
            <a:srgbClr val="EEF3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6" name="TextBox 5"/>
          <p:cNvSpPr>
            <a:spLocks noGrp="1"/>
          </p:cNvSpPr>
          <p:nvPr/>
        </p:nvSpPr>
        <p:spPr>
          <a:xfrm>
            <a:off x="822960" y="1938528"/>
            <a:ext cx="48006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350" b="1" i="0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What we chose  —  /genre</a:t>
            </a:r>
            <a:endParaRPr sz="1350" b="1" i="0">
              <a:solidFill>
                <a:srgbClr val="1E276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7" name="TextBox 6"/>
          <p:cNvSpPr>
            <a:spLocks noGrp="1"/>
          </p:cNvSpPr>
          <p:nvPr/>
        </p:nvSpPr>
        <p:spPr>
          <a:xfrm>
            <a:off x="822960" y="2450592"/>
            <a:ext cx="4800600" cy="2148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buNone/>
            </a:pPr>
            <a:r>
              <a:rPr sz="1150" b="0" i="0">
                <a:solidFill>
                  <a:srgbClr val="22223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Six distinct values. It mirrors the Catalog UI's genre filter chips, so the demo is intuitive and every query you watch has an obvious shape.</a:t>
            </a:r>
            <a:endParaRPr sz="1150" b="0" i="0">
              <a:solidFill>
                <a:srgbClr val="22223A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algn="l">
              <a:lnSpc>
                <a:spcPct val="118000"/>
              </a:lnSpc>
              <a:buNone/>
            </a:pPr>
          </a:p>
          <a:p>
            <a:pPr algn="l">
              <a:lnSpc>
                <a:spcPct val="118000"/>
              </a:lnSpc>
              <a:buNone/>
            </a:pPr>
            <a:r>
              <a:rPr sz="1150" b="0" i="0">
                <a:solidFill>
                  <a:srgbClr val="22223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By the rule on the last slide, this is a hot-partition key: sci-fi and drama will carry most of the traffic while the rest sit idle.</a:t>
            </a:r>
            <a:endParaRPr sz="1150" b="0" i="0">
              <a:solidFill>
                <a:srgbClr val="22223A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8" name="Rounded Rectangle 7"/>
          <p:cNvSpPr>
            <a:spLocks noGrp="1"/>
          </p:cNvSpPr>
          <p:nvPr/>
        </p:nvSpPr>
        <p:spPr>
          <a:xfrm>
            <a:off x="6291072" y="1737360"/>
            <a:ext cx="5349240" cy="3063240"/>
          </a:xfrm>
          <a:prstGeom prst="roundRect">
            <a:avLst>
              <a:gd name="adj" fmla="val 5000"/>
            </a:avLst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9" name="TextBox 8"/>
          <p:cNvSpPr>
            <a:spLocks noGrp="1"/>
          </p:cNvSpPr>
          <p:nvPr/>
        </p:nvSpPr>
        <p:spPr>
          <a:xfrm>
            <a:off x="6565392" y="1938528"/>
            <a:ext cx="48006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350" b="1" i="0">
                <a:solidFill>
                  <a:srgbClr val="F2A93B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What production would choose  —  /id</a:t>
            </a:r>
            <a:endParaRPr sz="1350" b="1" i="0">
              <a:solidFill>
                <a:srgbClr val="F2A93B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0" name="TextBox 9"/>
          <p:cNvSpPr>
            <a:spLocks noGrp="1"/>
          </p:cNvSpPr>
          <p:nvPr/>
        </p:nvSpPr>
        <p:spPr>
          <a:xfrm>
            <a:off x="6565392" y="2450592"/>
            <a:ext cx="4800600" cy="2148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buNone/>
            </a:pPr>
            <a:r>
              <a:rPr sz="1150" b="0" i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Millions of distinct values, perfectly even spread.</a:t>
            </a:r>
            <a:endParaRPr sz="1150" b="0" i="0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algn="l">
              <a:lnSpc>
                <a:spcPct val="118000"/>
              </a:lnSpc>
              <a:buNone/>
            </a:pPr>
          </a:p>
          <a:p>
            <a:pPr algn="l">
              <a:lnSpc>
                <a:spcPct val="118000"/>
              </a:lnSpc>
              <a:buNone/>
            </a:pPr>
            <a:r>
              <a:rPr sz="1150" b="0" i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Genre filtering then happens as a query across partitions, not as a storage boundary — you pay a few more RUs per filter and buy unlimited scale.</a:t>
            </a:r>
            <a:endParaRPr sz="1150" b="0" i="0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algn="l">
              <a:lnSpc>
                <a:spcPct val="118000"/>
              </a:lnSpc>
              <a:buNone/>
            </a:pPr>
          </a:p>
          <a:p>
            <a:pPr algn="l">
              <a:lnSpc>
                <a:spcPct val="118000"/>
              </a:lnSpc>
              <a:buNone/>
            </a:pPr>
            <a:r>
              <a:rPr sz="1150" b="0" i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Ask the class: what would a real streaming catalogue key on?</a:t>
            </a:r>
            <a:endParaRPr sz="1150" b="0" i="0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1" name="TextBox 10"/>
          <p:cNvSpPr>
            <a:spLocks noGrp="1"/>
          </p:cNvSpPr>
          <p:nvPr/>
        </p:nvSpPr>
        <p:spPr>
          <a:xfrm>
            <a:off x="548640" y="4983480"/>
            <a:ext cx="11091672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1250" b="1" i="0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The cost you can actually see: genre is the partition key, and Cosmos cannot change a partition key in place.</a:t>
            </a:r>
            <a:endParaRPr sz="1250" b="1" i="0">
              <a:solidFill>
                <a:srgbClr val="1E276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algn="ctr">
              <a:buNone/>
            </a:pPr>
            <a:r>
              <a:rPr sz="1250" b="1" i="0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So editing a title's genre in the UI is a DELETE on the old partition plus a CREATE on the new one — same id, two operations.</a:t>
            </a:r>
            <a:endParaRPr sz="1250" b="1" i="0">
              <a:solidFill>
                <a:srgbClr val="1E276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2" name="TextBox 11"/>
          <p:cNvSpPr>
            <a:spLocks noGrp="1"/>
          </p:cNvSpPr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buNone/>
            </a:pPr>
            <a:r>
              <a:rPr sz="1000" b="0" i="0">
                <a:solidFill>
                  <a:srgbClr val="5C61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Module 2 — Azure Storage Solutions</a:t>
            </a:r>
            <a:endParaRPr sz="1000" b="0" i="0">
              <a:solidFill>
                <a:srgbClr val="5C6180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731520" y="45720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00" b="1" spc="200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COSMOS DB</a:t>
            </a:r>
            <a:endParaRPr sz="13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731520" y="82296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8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Consistency levels</a:t>
            </a:r>
            <a:endParaRPr sz="2800"/>
          </a:p>
        </p:txBody>
      </p:sp>
      <p:sp>
        <p:nvSpPr>
          <p:cNvPr id="4" name="Text 2"/>
          <p:cNvSpPr>
            <a:spLocks noGrp="1"/>
          </p:cNvSpPr>
          <p:nvPr/>
        </p:nvSpPr>
        <p:spPr>
          <a:xfrm>
            <a:off x="731520" y="137160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00">
                <a:solidFill>
                  <a:srgbClr val="5C61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How fast does every region agree on the latest write? Five levels trade off freshness against speed and availability.</a:t>
            </a:r>
            <a:endParaRPr sz="1300"/>
          </a:p>
        </p:txBody>
      </p:sp>
      <p:graphicFrame>
        <p:nvGraphicFramePr>
          <p:cNvPr id="12" name="Table 0"/>
          <p:cNvGraphicFramePr/>
          <p:nvPr/>
        </p:nvGraphicFramePr>
        <p:xfrm>
          <a:off x="731520" y="1965960"/>
          <a:ext cx="10698480" cy="3657600"/>
        </p:xfrm>
        <a:graphic>
          <a:graphicData uri="http://schemas.openxmlformats.org/drawingml/2006/table">
            <a:tbl>
              <a:tblPr/>
              <a:tblGrid>
                <a:gridCol w="2377440"/>
                <a:gridCol w="4389120"/>
                <a:gridCol w="3931920"/>
              </a:tblGrid>
              <a:tr h="609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Level</a:t>
                      </a:r>
                      <a:endParaRPr sz="115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anchor="ctr">
                    <a:lnL w="12700" cmpd="sng">
                      <a:solidFill>
                        <a:srgbClr val="EEF3FD"/>
                      </a:solidFill>
                      <a:prstDash val="solid"/>
                    </a:lnL>
                    <a:lnR w="12700" cmpd="sng">
                      <a:solidFill>
                        <a:srgbClr val="EEF3FD"/>
                      </a:solidFill>
                      <a:prstDash val="solid"/>
                    </a:lnR>
                    <a:lnT w="12700" cmpd="sng">
                      <a:solidFill>
                        <a:srgbClr val="EEF3FD"/>
                      </a:solidFill>
                      <a:prstDash val="solid"/>
                    </a:lnT>
                    <a:lnB w="12700" cmpd="sng">
                      <a:solidFill>
                        <a:srgbClr val="EEF3FD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Guarantee</a:t>
                      </a:r>
                      <a:endParaRPr sz="115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anchor="ctr">
                    <a:lnL w="12700" cmpd="sng">
                      <a:solidFill>
                        <a:srgbClr val="EEF3FD"/>
                      </a:solidFill>
                      <a:prstDash val="solid"/>
                    </a:lnL>
                    <a:lnR w="12700" cmpd="sng">
                      <a:solidFill>
                        <a:srgbClr val="EEF3FD"/>
                      </a:solidFill>
                      <a:prstDash val="solid"/>
                    </a:lnR>
                    <a:lnT w="12700" cmpd="sng">
                      <a:solidFill>
                        <a:srgbClr val="EEF3FD"/>
                      </a:solidFill>
                      <a:prstDash val="solid"/>
                    </a:lnT>
                    <a:lnB w="12700" cmpd="sng">
                      <a:solidFill>
                        <a:srgbClr val="EEF3FD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Trade-off</a:t>
                      </a:r>
                      <a:endParaRPr sz="115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anchor="ctr">
                    <a:lnL w="12700" cmpd="sng">
                      <a:solidFill>
                        <a:srgbClr val="EEF3FD"/>
                      </a:solidFill>
                      <a:prstDash val="solid"/>
                    </a:lnL>
                    <a:lnR w="12700" cmpd="sng">
                      <a:solidFill>
                        <a:srgbClr val="EEF3FD"/>
                      </a:solidFill>
                      <a:prstDash val="solid"/>
                    </a:lnR>
                    <a:lnT w="12700" cmpd="sng">
                      <a:solidFill>
                        <a:srgbClr val="EEF3FD"/>
                      </a:solidFill>
                      <a:prstDash val="solid"/>
                    </a:lnT>
                    <a:lnB w="12700" cmpd="sng">
                      <a:solidFill>
                        <a:srgbClr val="EEF3FD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>
                          <a:solidFill>
                            <a:srgbClr val="5C618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Strong</a:t>
                      </a:r>
                      <a:endParaRPr sz="115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anchor="ctr">
                    <a:lnL w="12700" cmpd="sng">
                      <a:solidFill>
                        <a:srgbClr val="EEF3FD"/>
                      </a:solidFill>
                      <a:prstDash val="solid"/>
                    </a:lnL>
                    <a:lnR w="12700" cmpd="sng">
                      <a:solidFill>
                        <a:srgbClr val="EEF3FD"/>
                      </a:solidFill>
                      <a:prstDash val="solid"/>
                    </a:lnR>
                    <a:lnT w="12700" cmpd="sng">
                      <a:solidFill>
                        <a:srgbClr val="EEF3FD"/>
                      </a:solidFill>
                      <a:prstDash val="solid"/>
                    </a:lnT>
                    <a:lnB w="12700" cmpd="sng">
                      <a:solidFill>
                        <a:srgbClr val="EEF3F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>
                          <a:solidFill>
                            <a:srgbClr val="5C618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Reads always see the latest committed write</a:t>
                      </a:r>
                      <a:endParaRPr sz="115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anchor="ctr">
                    <a:lnL w="12700" cmpd="sng">
                      <a:solidFill>
                        <a:srgbClr val="EEF3FD"/>
                      </a:solidFill>
                      <a:prstDash val="solid"/>
                    </a:lnL>
                    <a:lnR w="12700" cmpd="sng">
                      <a:solidFill>
                        <a:srgbClr val="EEF3FD"/>
                      </a:solidFill>
                      <a:prstDash val="solid"/>
                    </a:lnR>
                    <a:lnT w="12700" cmpd="sng">
                      <a:solidFill>
                        <a:srgbClr val="EEF3FD"/>
                      </a:solidFill>
                      <a:prstDash val="solid"/>
                    </a:lnT>
                    <a:lnB w="12700" cmpd="sng">
                      <a:solidFill>
                        <a:srgbClr val="EEF3F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>
                          <a:solidFill>
                            <a:srgbClr val="5C618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Highest latency, lowest availability during failover</a:t>
                      </a:r>
                      <a:endParaRPr sz="115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anchor="ctr">
                    <a:lnL w="12700" cmpd="sng">
                      <a:solidFill>
                        <a:srgbClr val="EEF3FD"/>
                      </a:solidFill>
                      <a:prstDash val="solid"/>
                    </a:lnL>
                    <a:lnR w="12700" cmpd="sng">
                      <a:solidFill>
                        <a:srgbClr val="EEF3FD"/>
                      </a:solidFill>
                      <a:prstDash val="solid"/>
                    </a:lnR>
                    <a:lnT w="12700" cmpd="sng">
                      <a:solidFill>
                        <a:srgbClr val="EEF3FD"/>
                      </a:solidFill>
                      <a:prstDash val="solid"/>
                    </a:lnT>
                    <a:lnB w="12700" cmpd="sng">
                      <a:solidFill>
                        <a:srgbClr val="EEF3FD"/>
                      </a:solidFill>
                      <a:prstDash val="solid"/>
                    </a:lnB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>
                          <a:solidFill>
                            <a:srgbClr val="5C618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Bounded Staleness</a:t>
                      </a:r>
                      <a:endParaRPr sz="115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anchor="ctr">
                    <a:lnL w="12700" cmpd="sng">
                      <a:solidFill>
                        <a:srgbClr val="EEF3FD"/>
                      </a:solidFill>
                      <a:prstDash val="solid"/>
                    </a:lnL>
                    <a:lnR w="12700" cmpd="sng">
                      <a:solidFill>
                        <a:srgbClr val="EEF3FD"/>
                      </a:solidFill>
                      <a:prstDash val="solid"/>
                    </a:lnR>
                    <a:lnT w="12700" cmpd="sng">
                      <a:solidFill>
                        <a:srgbClr val="EEF3FD"/>
                      </a:solidFill>
                      <a:prstDash val="solid"/>
                    </a:lnT>
                    <a:lnB w="12700" cmpd="sng">
                      <a:solidFill>
                        <a:srgbClr val="EEF3F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>
                          <a:solidFill>
                            <a:srgbClr val="5C618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Reads lag writes by a fixed time/version window</a:t>
                      </a:r>
                      <a:endParaRPr sz="115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anchor="ctr">
                    <a:lnL w="12700" cmpd="sng">
                      <a:solidFill>
                        <a:srgbClr val="EEF3FD"/>
                      </a:solidFill>
                      <a:prstDash val="solid"/>
                    </a:lnL>
                    <a:lnR w="12700" cmpd="sng">
                      <a:solidFill>
                        <a:srgbClr val="EEF3FD"/>
                      </a:solidFill>
                      <a:prstDash val="solid"/>
                    </a:lnR>
                    <a:lnT w="12700" cmpd="sng">
                      <a:solidFill>
                        <a:srgbClr val="EEF3FD"/>
                      </a:solidFill>
                      <a:prstDash val="solid"/>
                    </a:lnT>
                    <a:lnB w="12700" cmpd="sng">
                      <a:solidFill>
                        <a:srgbClr val="EEF3F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>
                          <a:solidFill>
                            <a:srgbClr val="5C618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Predictable staleness, still fairly strict</a:t>
                      </a:r>
                      <a:endParaRPr sz="115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anchor="ctr">
                    <a:lnL w="12700" cmpd="sng">
                      <a:solidFill>
                        <a:srgbClr val="EEF3FD"/>
                      </a:solidFill>
                      <a:prstDash val="solid"/>
                    </a:lnL>
                    <a:lnR w="12700" cmpd="sng">
                      <a:solidFill>
                        <a:srgbClr val="EEF3FD"/>
                      </a:solidFill>
                      <a:prstDash val="solid"/>
                    </a:lnR>
                    <a:lnT w="12700" cmpd="sng">
                      <a:solidFill>
                        <a:srgbClr val="EEF3FD"/>
                      </a:solidFill>
                      <a:prstDash val="solid"/>
                    </a:lnT>
                    <a:lnB w="12700" cmpd="sng">
                      <a:solidFill>
                        <a:srgbClr val="EEF3FD"/>
                      </a:solidFill>
                      <a:prstDash val="solid"/>
                    </a:lnB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>
                          <a:solidFill>
                            <a:srgbClr val="5C618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Session (default)</a:t>
                      </a:r>
                      <a:endParaRPr sz="115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anchor="ctr">
                    <a:lnL w="12700" cmpd="sng">
                      <a:solidFill>
                        <a:srgbClr val="EEF3FD"/>
                      </a:solidFill>
                      <a:prstDash val="solid"/>
                    </a:lnL>
                    <a:lnR w="12700" cmpd="sng">
                      <a:solidFill>
                        <a:srgbClr val="EEF3FD"/>
                      </a:solidFill>
                      <a:prstDash val="solid"/>
                    </a:lnR>
                    <a:lnT w="12700" cmpd="sng">
                      <a:solidFill>
                        <a:srgbClr val="EEF3FD"/>
                      </a:solidFill>
                      <a:prstDash val="solid"/>
                    </a:lnT>
                    <a:lnB w="12700" cmpd="sng">
                      <a:solidFill>
                        <a:srgbClr val="EEF3F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>
                          <a:solidFill>
                            <a:srgbClr val="5C618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A single client always sees its own writes</a:t>
                      </a:r>
                      <a:endParaRPr sz="115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anchor="ctr">
                    <a:lnL w="12700" cmpd="sng">
                      <a:solidFill>
                        <a:srgbClr val="EEF3FD"/>
                      </a:solidFill>
                      <a:prstDash val="solid"/>
                    </a:lnL>
                    <a:lnR w="12700" cmpd="sng">
                      <a:solidFill>
                        <a:srgbClr val="EEF3FD"/>
                      </a:solidFill>
                      <a:prstDash val="solid"/>
                    </a:lnR>
                    <a:lnT w="12700" cmpd="sng">
                      <a:solidFill>
                        <a:srgbClr val="EEF3FD"/>
                      </a:solidFill>
                      <a:prstDash val="solid"/>
                    </a:lnT>
                    <a:lnB w="12700" cmpd="sng">
                      <a:solidFill>
                        <a:srgbClr val="EEF3F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>
                          <a:solidFill>
                            <a:srgbClr val="5C618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Great balance — used unless you need stricter/looser</a:t>
                      </a:r>
                      <a:endParaRPr sz="115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anchor="ctr">
                    <a:lnL w="12700" cmpd="sng">
                      <a:solidFill>
                        <a:srgbClr val="EEF3FD"/>
                      </a:solidFill>
                      <a:prstDash val="solid"/>
                    </a:lnL>
                    <a:lnR w="12700" cmpd="sng">
                      <a:solidFill>
                        <a:srgbClr val="EEF3FD"/>
                      </a:solidFill>
                      <a:prstDash val="solid"/>
                    </a:lnR>
                    <a:lnT w="12700" cmpd="sng">
                      <a:solidFill>
                        <a:srgbClr val="EEF3FD"/>
                      </a:solidFill>
                      <a:prstDash val="solid"/>
                    </a:lnT>
                    <a:lnB w="12700" cmpd="sng">
                      <a:solidFill>
                        <a:srgbClr val="EEF3FD"/>
                      </a:solidFill>
                      <a:prstDash val="solid"/>
                    </a:lnB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>
                          <a:solidFill>
                            <a:srgbClr val="5C618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Consistent Prefix</a:t>
                      </a:r>
                      <a:endParaRPr sz="115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anchor="ctr">
                    <a:lnL w="12700" cmpd="sng">
                      <a:solidFill>
                        <a:srgbClr val="EEF3FD"/>
                      </a:solidFill>
                      <a:prstDash val="solid"/>
                    </a:lnL>
                    <a:lnR w="12700" cmpd="sng">
                      <a:solidFill>
                        <a:srgbClr val="EEF3FD"/>
                      </a:solidFill>
                      <a:prstDash val="solid"/>
                    </a:lnR>
                    <a:lnT w="12700" cmpd="sng">
                      <a:solidFill>
                        <a:srgbClr val="EEF3FD"/>
                      </a:solidFill>
                      <a:prstDash val="solid"/>
                    </a:lnT>
                    <a:lnB w="12700" cmpd="sng">
                      <a:solidFill>
                        <a:srgbClr val="EEF3F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>
                          <a:solidFill>
                            <a:srgbClr val="5C618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Reads never see out-of-order writes</a:t>
                      </a:r>
                      <a:endParaRPr sz="115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anchor="ctr">
                    <a:lnL w="12700" cmpd="sng">
                      <a:solidFill>
                        <a:srgbClr val="EEF3FD"/>
                      </a:solidFill>
                      <a:prstDash val="solid"/>
                    </a:lnL>
                    <a:lnR w="12700" cmpd="sng">
                      <a:solidFill>
                        <a:srgbClr val="EEF3FD"/>
                      </a:solidFill>
                      <a:prstDash val="solid"/>
                    </a:lnR>
                    <a:lnT w="12700" cmpd="sng">
                      <a:solidFill>
                        <a:srgbClr val="EEF3FD"/>
                      </a:solidFill>
                      <a:prstDash val="solid"/>
                    </a:lnT>
                    <a:lnB w="12700" cmpd="sng">
                      <a:solidFill>
                        <a:srgbClr val="EEF3F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>
                          <a:solidFill>
                            <a:srgbClr val="5C618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Order guaranteed, some staleness allowed</a:t>
                      </a:r>
                      <a:endParaRPr sz="115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anchor="ctr">
                    <a:lnL w="12700" cmpd="sng">
                      <a:solidFill>
                        <a:srgbClr val="EEF3FD"/>
                      </a:solidFill>
                      <a:prstDash val="solid"/>
                    </a:lnL>
                    <a:lnR w="12700" cmpd="sng">
                      <a:solidFill>
                        <a:srgbClr val="EEF3FD"/>
                      </a:solidFill>
                      <a:prstDash val="solid"/>
                    </a:lnR>
                    <a:lnT w="12700" cmpd="sng">
                      <a:solidFill>
                        <a:srgbClr val="EEF3FD"/>
                      </a:solidFill>
                      <a:prstDash val="solid"/>
                    </a:lnT>
                    <a:lnB w="12700" cmpd="sng">
                      <a:solidFill>
                        <a:srgbClr val="EEF3FD"/>
                      </a:solidFill>
                      <a:prstDash val="solid"/>
                    </a:lnB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>
                          <a:solidFill>
                            <a:srgbClr val="5C618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Eventual</a:t>
                      </a:r>
                      <a:endParaRPr sz="115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anchor="ctr">
                    <a:lnL w="12700" cmpd="sng">
                      <a:solidFill>
                        <a:srgbClr val="EEF3FD"/>
                      </a:solidFill>
                      <a:prstDash val="solid"/>
                    </a:lnL>
                    <a:lnR w="12700" cmpd="sng">
                      <a:solidFill>
                        <a:srgbClr val="EEF3FD"/>
                      </a:solidFill>
                      <a:prstDash val="solid"/>
                    </a:lnR>
                    <a:lnT w="12700" cmpd="sng">
                      <a:solidFill>
                        <a:srgbClr val="EEF3FD"/>
                      </a:solidFill>
                      <a:prstDash val="solid"/>
                    </a:lnT>
                    <a:lnB w="12700" cmpd="sng">
                      <a:solidFill>
                        <a:srgbClr val="EEF3F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>
                          <a:solidFill>
                            <a:srgbClr val="5C618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All replicas converge — eventually</a:t>
                      </a:r>
                      <a:endParaRPr sz="115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anchor="ctr">
                    <a:lnL w="12700" cmpd="sng">
                      <a:solidFill>
                        <a:srgbClr val="EEF3FD"/>
                      </a:solidFill>
                      <a:prstDash val="solid"/>
                    </a:lnL>
                    <a:lnR w="12700" cmpd="sng">
                      <a:solidFill>
                        <a:srgbClr val="EEF3FD"/>
                      </a:solidFill>
                      <a:prstDash val="solid"/>
                    </a:lnR>
                    <a:lnT w="12700" cmpd="sng">
                      <a:solidFill>
                        <a:srgbClr val="EEF3FD"/>
                      </a:solidFill>
                      <a:prstDash val="solid"/>
                    </a:lnT>
                    <a:lnB w="12700" cmpd="sng">
                      <a:solidFill>
                        <a:srgbClr val="EEF3F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>
                          <a:solidFill>
                            <a:srgbClr val="5C618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Fastest, cheapest — fine for things like "like" counts</a:t>
                      </a:r>
                      <a:endParaRPr sz="115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anchor="ctr">
                    <a:lnL w="12700" cmpd="sng">
                      <a:solidFill>
                        <a:srgbClr val="EEF3FD"/>
                      </a:solidFill>
                      <a:prstDash val="solid"/>
                    </a:lnL>
                    <a:lnR w="12700" cmpd="sng">
                      <a:solidFill>
                        <a:srgbClr val="EEF3FD"/>
                      </a:solidFill>
                      <a:prstDash val="solid"/>
                    </a:lnR>
                    <a:lnT w="12700" cmpd="sng">
                      <a:solidFill>
                        <a:srgbClr val="EEF3FD"/>
                      </a:solidFill>
                      <a:prstDash val="solid"/>
                    </a:lnT>
                    <a:lnB w="12700" cmpd="sng">
                      <a:solidFill>
                        <a:srgbClr val="EEF3FD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>
            <a:spLocks noGrp="1"/>
          </p:cNvSpPr>
          <p:nvPr/>
        </p:nvSpPr>
        <p:spPr>
          <a:xfrm>
            <a:off x="731520" y="64465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5C61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Demo uses Session — the default and most common real-world choice</a:t>
            </a:r>
            <a:endParaRPr sz="1000"/>
          </a:p>
        </p:txBody>
      </p:sp>
      <p:sp>
        <p:nvSpPr>
          <p:cNvPr id="7" name="Text 4"/>
          <p:cNvSpPr>
            <a:spLocks noGrp="1"/>
          </p:cNvSpPr>
          <p:nvPr/>
        </p:nvSpPr>
        <p:spPr>
          <a:xfrm>
            <a:off x="7772400" y="644652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000">
                <a:solidFill>
                  <a:srgbClr val="5C61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Module 2 — Azure Storage Solutions</a:t>
            </a:r>
            <a:endParaRPr sz="10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731520" y="45720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00" b="1" spc="200">
                <a:solidFill>
                  <a:srgbClr val="F2A93B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COSMOS DB  ·  LIVE DEMO</a:t>
            </a:r>
            <a:endParaRPr sz="13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731520" y="822960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400" b="1">
                <a:solidFill>
                  <a:srgbClr val="FFFFFF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Create the account, database &amp; container</a:t>
            </a:r>
            <a:endParaRPr sz="2400" b="1">
              <a:solidFill>
                <a:srgbClr val="FFFFFF"/>
              </a:solidFill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  <p:sp>
        <p:nvSpPr>
          <p:cNvPr id="4" name="Shape 2"/>
          <p:cNvSpPr>
            <a:spLocks noGrp="1"/>
          </p:cNvSpPr>
          <p:nvPr/>
        </p:nvSpPr>
        <p:spPr>
          <a:xfrm>
            <a:off x="731520" y="1554480"/>
            <a:ext cx="10698480" cy="4480560"/>
          </a:xfrm>
          <a:prstGeom prst="roundRect">
            <a:avLst>
              <a:gd name="adj" fmla="val 1633"/>
            </a:avLst>
          </a:prstGeom>
          <a:solidFill>
            <a:srgbClr val="141A47"/>
          </a:solidFill>
        </p:spPr>
      </p:sp>
      <p:sp>
        <p:nvSpPr>
          <p:cNvPr id="5" name="Text 3"/>
          <p:cNvSpPr>
            <a:spLocks noGrp="1"/>
          </p:cNvSpPr>
          <p:nvPr/>
        </p:nvSpPr>
        <p:spPr>
          <a:xfrm>
            <a:off x="960120" y="1691640"/>
            <a:ext cx="10241280" cy="42062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ct val="115000"/>
              </a:lnSpc>
              <a:buNone/>
            </a:pPr>
            <a:r>
              <a:rPr sz="1000">
                <a:solidFill>
                  <a:srgbClr val="CADCF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# 1. Register the provider FIRST — takes ~70s to report Registered</a:t>
            </a:r>
            <a:endParaRPr sz="1000">
              <a:solidFill>
                <a:srgbClr val="CADCF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  <a:p>
            <a:pPr marL="0" indent="0">
              <a:lnSpc>
                <a:spcPct val="115000"/>
              </a:lnSpc>
              <a:buNone/>
            </a:pPr>
            <a:r>
              <a:rPr sz="1000">
                <a:solidFill>
                  <a:srgbClr val="CADCF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az provider register --namespace Microsoft.DocumentDB</a:t>
            </a:r>
            <a:endParaRPr sz="1000">
              <a:solidFill>
                <a:srgbClr val="CADCF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  <a:p>
            <a:pPr marL="0" indent="0">
              <a:lnSpc>
                <a:spcPct val="115000"/>
              </a:lnSpc>
              <a:buNone/>
            </a:pPr>
            <a:r>
              <a:rPr sz="1000">
                <a:solidFill>
                  <a:srgbClr val="CADCF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az provider show --namespace Microsoft.DocumentDB --query registrationState -o tsv</a:t>
            </a:r>
            <a:endParaRPr sz="1000">
              <a:solidFill>
                <a:srgbClr val="CADCF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  <a:p>
            <a:pPr marL="0" indent="0">
              <a:lnSpc>
                <a:spcPct val="115000"/>
              </a:lnSpc>
              <a:buNone/>
            </a:pPr>
          </a:p>
          <a:p>
            <a:pPr marL="0" indent="0">
              <a:lnSpc>
                <a:spcPct val="115000"/>
              </a:lnSpc>
              <a:buNone/>
            </a:pPr>
            <a:r>
              <a:rPr sz="1000">
                <a:solidFill>
                  <a:srgbClr val="CADCF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# 2. The account. Globally unique name; creation takes a few minutes.</a:t>
            </a:r>
            <a:endParaRPr sz="1000">
              <a:solidFill>
                <a:srgbClr val="CADCF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  <a:p>
            <a:pPr marL="0" indent="0">
              <a:lnSpc>
                <a:spcPct val="115000"/>
              </a:lnSpc>
              <a:buNone/>
            </a:pPr>
            <a:r>
              <a:rPr sz="1000">
                <a:solidFill>
                  <a:srgbClr val="CADCF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$COSMOS = "cosmos-estiam-dev-2"</a:t>
            </a:r>
            <a:endParaRPr sz="1000">
              <a:solidFill>
                <a:srgbClr val="CADCF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  <a:p>
            <a:pPr marL="0" indent="0">
              <a:lnSpc>
                <a:spcPct val="115000"/>
              </a:lnSpc>
              <a:buNone/>
            </a:pPr>
            <a:r>
              <a:rPr sz="1000">
                <a:solidFill>
                  <a:srgbClr val="CADCF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az cosmosdb create --name $COSMOS --resource-group $RG `</a:t>
            </a:r>
            <a:endParaRPr sz="1000">
              <a:solidFill>
                <a:srgbClr val="CADCF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  <a:p>
            <a:pPr marL="0" indent="0">
              <a:lnSpc>
                <a:spcPct val="115000"/>
              </a:lnSpc>
              <a:buNone/>
            </a:pPr>
            <a:r>
              <a:rPr sz="1000">
                <a:solidFill>
                  <a:srgbClr val="CADCF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  --locations regionName=$LOCATION --default-consistency-level Session `</a:t>
            </a:r>
            <a:endParaRPr sz="1000">
              <a:solidFill>
                <a:srgbClr val="CADCF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  <a:p>
            <a:pPr marL="0" indent="0">
              <a:lnSpc>
                <a:spcPct val="115000"/>
              </a:lnSpc>
              <a:buNone/>
            </a:pPr>
            <a:r>
              <a:rPr sz="1000">
                <a:solidFill>
                  <a:srgbClr val="CADCF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  --kind GlobalDocumentDB</a:t>
            </a:r>
            <a:endParaRPr sz="1000">
              <a:solidFill>
                <a:srgbClr val="CADCF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  <a:p>
            <a:pPr marL="0" indent="0">
              <a:lnSpc>
                <a:spcPct val="115000"/>
              </a:lnSpc>
              <a:buNone/>
            </a:pPr>
          </a:p>
          <a:p>
            <a:pPr marL="0" indent="0">
              <a:lnSpc>
                <a:spcPct val="115000"/>
              </a:lnSpc>
              <a:buNone/>
            </a:pPr>
            <a:r>
              <a:rPr sz="1000">
                <a:solidFill>
                  <a:srgbClr val="CADCF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# 3. Database and container — the partition key is set HERE, once.</a:t>
            </a:r>
            <a:endParaRPr sz="1000">
              <a:solidFill>
                <a:srgbClr val="CADCF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  <a:p>
            <a:pPr marL="0" indent="0">
              <a:lnSpc>
                <a:spcPct val="115000"/>
              </a:lnSpc>
              <a:buNone/>
            </a:pPr>
            <a:r>
              <a:rPr sz="1000">
                <a:solidFill>
                  <a:srgbClr val="CADCF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az cosmosdb sql database create --account-name $COSMOS -g $RG --name CatalogDb</a:t>
            </a:r>
            <a:endParaRPr sz="1000">
              <a:solidFill>
                <a:srgbClr val="CADCF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  <a:p>
            <a:pPr marL="0" indent="0">
              <a:lnSpc>
                <a:spcPct val="115000"/>
              </a:lnSpc>
              <a:buNone/>
            </a:pPr>
            <a:r>
              <a:rPr sz="1000">
                <a:solidFill>
                  <a:srgbClr val="CADCF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az cosmosdb sql container create --account-name $COSMOS -g $RG `</a:t>
            </a:r>
            <a:endParaRPr sz="1000">
              <a:solidFill>
                <a:srgbClr val="CADCF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  <a:p>
            <a:pPr marL="0" indent="0">
              <a:lnSpc>
                <a:spcPct val="115000"/>
              </a:lnSpc>
              <a:buNone/>
            </a:pPr>
            <a:r>
              <a:rPr sz="1000">
                <a:solidFill>
                  <a:srgbClr val="CADCF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  --database-name CatalogDb --name Titles --partition-key-path "/genre" `</a:t>
            </a:r>
            <a:endParaRPr sz="1000">
              <a:solidFill>
                <a:srgbClr val="CADCF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  <a:p>
            <a:pPr marL="0" indent="0">
              <a:lnSpc>
                <a:spcPct val="115000"/>
              </a:lnSpc>
              <a:buNone/>
            </a:pPr>
            <a:r>
              <a:rPr sz="1000">
                <a:solidFill>
                  <a:srgbClr val="CADCF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  --throughput 400</a:t>
            </a:r>
            <a:endParaRPr sz="1000">
              <a:solidFill>
                <a:srgbClr val="CADCF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  <a:p>
            <a:pPr marL="0" indent="0">
              <a:lnSpc>
                <a:spcPct val="115000"/>
              </a:lnSpc>
              <a:buNone/>
            </a:pPr>
          </a:p>
          <a:p>
            <a:pPr marL="0" indent="0">
              <a:lnSpc>
                <a:spcPct val="115000"/>
              </a:lnSpc>
              <a:buNone/>
            </a:pPr>
            <a:r>
              <a:rPr sz="1000">
                <a:solidFill>
                  <a:srgbClr val="CADCF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# 4. The connection string the app will need</a:t>
            </a:r>
            <a:endParaRPr sz="1000">
              <a:solidFill>
                <a:srgbClr val="CADCF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  <a:p>
            <a:pPr marL="0" indent="0">
              <a:lnSpc>
                <a:spcPct val="115000"/>
              </a:lnSpc>
              <a:buNone/>
            </a:pPr>
            <a:r>
              <a:rPr sz="1000">
                <a:solidFill>
                  <a:srgbClr val="CADCF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az cosmosdb keys list --type connection-strings --name $COSMOS -g $RG `</a:t>
            </a:r>
            <a:endParaRPr sz="1000">
              <a:solidFill>
                <a:srgbClr val="CADCF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  <a:p>
            <a:pPr marL="0" indent="0">
              <a:lnSpc>
                <a:spcPct val="115000"/>
              </a:lnSpc>
              <a:buNone/>
            </a:pPr>
            <a:r>
              <a:rPr sz="1000">
                <a:solidFill>
                  <a:srgbClr val="CADCF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  --query "connectionStrings[0].connectionString" --output tsv</a:t>
            </a:r>
            <a:endParaRPr sz="1000">
              <a:solidFill>
                <a:srgbClr val="CADCF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6" name="Text 4"/>
          <p:cNvSpPr>
            <a:spLocks noGrp="1"/>
          </p:cNvSpPr>
          <p:nvPr/>
        </p:nvSpPr>
        <p:spPr>
          <a:xfrm>
            <a:off x="731520" y="64465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9AA3C7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That connection string is a MASTER KEY — full read/write to the whole account. It goes in gitignored config, never in source control. Module 3 removes the need for it entirely.</a:t>
            </a:r>
            <a:endParaRPr sz="1000">
              <a:solidFill>
                <a:srgbClr val="9AA3C7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7" name="Text 5"/>
          <p:cNvSpPr>
            <a:spLocks noGrp="1"/>
          </p:cNvSpPr>
          <p:nvPr/>
        </p:nvSpPr>
        <p:spPr>
          <a:xfrm>
            <a:off x="7772400" y="644652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000">
                <a:solidFill>
                  <a:srgbClr val="9AA3C7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Module 2 — Azure Storage Solutions</a:t>
            </a:r>
            <a:endParaRPr sz="10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A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>
            <a:spLocks noGrp="1"/>
          </p:cNvSpPr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1300" b="1" i="0" spc="200">
                <a:solidFill>
                  <a:srgbClr val="F2A93B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TOPIC 1  ·  LIVE DEMO</a:t>
            </a:r>
            <a:endParaRPr sz="1300" b="1" i="0" spc="200">
              <a:solidFill>
                <a:srgbClr val="F2A93B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3" name="TextBox 2"/>
          <p:cNvSpPr>
            <a:spLocks noGrp="1"/>
          </p:cNvSpPr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3000" b="1" i="0">
                <a:solidFill>
                  <a:srgbClr val="FFFFFF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Real persistence in the Catalog API</a:t>
            </a:r>
            <a:endParaRPr sz="3000" b="1" i="0">
              <a:solidFill>
                <a:srgbClr val="FFFFFF"/>
              </a:solidFill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  <p:sp>
        <p:nvSpPr>
          <p:cNvPr id="4" name="TextBox 3"/>
          <p:cNvSpPr>
            <a:spLocks noGrp="1"/>
          </p:cNvSpPr>
          <p:nvPr/>
        </p:nvSpPr>
        <p:spPr>
          <a:xfrm>
            <a:off x="548640" y="1417320"/>
            <a:ext cx="109728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1400" b="0" i="0">
                <a:solidFill>
                  <a:srgbClr val="CADCFC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catalog-api-v3 replaces the static list with real Cosmos DB reads and writes.</a:t>
            </a:r>
            <a:endParaRPr sz="1400" b="0" i="0">
              <a:solidFill>
                <a:srgbClr val="CADCFC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5" name="TextBox 4"/>
          <p:cNvSpPr>
            <a:spLocks noGrp="1"/>
          </p:cNvSpPr>
          <p:nvPr/>
        </p:nvSpPr>
        <p:spPr>
          <a:xfrm>
            <a:off x="777240" y="1993392"/>
            <a:ext cx="10607040" cy="3675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buNone/>
            </a:pPr>
            <a:r>
              <a:rPr sz="1000" b="0" i="0">
                <a:solidFill>
                  <a:srgbClr val="D7E3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# From the catalog-api-v3 folder. v2 stays live and untouched until we shift traffic.</a:t>
            </a:r>
            <a:endParaRPr sz="1000" b="0" i="0">
              <a:solidFill>
                <a:srgbClr val="D7E3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6000"/>
              </a:lnSpc>
              <a:buNone/>
            </a:pPr>
            <a:r>
              <a:rPr sz="1000" b="0" i="0">
                <a:solidFill>
                  <a:srgbClr val="D7E3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docker build -t "${ACR}.azurecr.io/catalog-api:v3" .</a:t>
            </a:r>
            <a:endParaRPr sz="1000" b="0" i="0">
              <a:solidFill>
                <a:srgbClr val="D7E3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6000"/>
              </a:lnSpc>
              <a:buNone/>
            </a:pPr>
            <a:r>
              <a:rPr sz="1000" b="0" i="0">
                <a:solidFill>
                  <a:srgbClr val="D7E3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docker push  "${ACR}.azurecr.io/catalog-api:v3"</a:t>
            </a:r>
            <a:endParaRPr sz="1000" b="0" i="0">
              <a:solidFill>
                <a:srgbClr val="D7E3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6000"/>
              </a:lnSpc>
              <a:buNone/>
            </a:pPr>
          </a:p>
          <a:p>
            <a:pPr algn="l">
              <a:lnSpc>
                <a:spcPct val="106000"/>
              </a:lnSpc>
              <a:buNone/>
            </a:pPr>
            <a:r>
              <a:rPr sz="1000" b="0" i="0">
                <a:solidFill>
                  <a:srgbClr val="D7E3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az containerapp update --name $APP --resource-group $RG `</a:t>
            </a:r>
            <a:endParaRPr sz="1000" b="0" i="0">
              <a:solidFill>
                <a:srgbClr val="D7E3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6000"/>
              </a:lnSpc>
              <a:buNone/>
            </a:pPr>
            <a:r>
              <a:rPr sz="1000" b="0" i="0">
                <a:solidFill>
                  <a:srgbClr val="D7E3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--image "${ACR}.azurecr.io/catalog-api:v3" `</a:t>
            </a:r>
            <a:endParaRPr sz="1000" b="0" i="0">
              <a:solidFill>
                <a:srgbClr val="D7E3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6000"/>
              </a:lnSpc>
              <a:buNone/>
            </a:pPr>
            <a:r>
              <a:rPr sz="1000" b="0" i="0">
                <a:solidFill>
                  <a:srgbClr val="D7E3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--set-env-vars "CosmosDb__ConnectionString=&lt;from step 4&gt;" `</a:t>
            </a:r>
            <a:endParaRPr sz="1000" b="0" i="0">
              <a:solidFill>
                <a:srgbClr val="D7E3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6000"/>
              </a:lnSpc>
              <a:buNone/>
            </a:pPr>
            <a:r>
              <a:rPr sz="1000" b="0" i="0">
                <a:solidFill>
                  <a:srgbClr val="D7E3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             "CosmosDb__DatabaseName=CatalogDb" "CosmosDb__ContainerName=Titles"</a:t>
            </a:r>
            <a:endParaRPr sz="1000" b="0" i="0">
              <a:solidFill>
                <a:srgbClr val="D7E3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6000"/>
              </a:lnSpc>
              <a:buNone/>
            </a:pPr>
          </a:p>
          <a:p>
            <a:pPr algn="l">
              <a:lnSpc>
                <a:spcPct val="106000"/>
              </a:lnSpc>
              <a:buNone/>
            </a:pPr>
            <a:r>
              <a:rPr sz="1000" b="0" i="0">
                <a:solidFill>
                  <a:srgbClr val="D7E3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# The new revision comes up at 0% traffic — list it, then send traffic across.</a:t>
            </a:r>
            <a:endParaRPr sz="1000" b="0" i="0">
              <a:solidFill>
                <a:srgbClr val="D7E3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6000"/>
              </a:lnSpc>
              <a:buNone/>
            </a:pPr>
            <a:r>
              <a:rPr sz="1000" b="0" i="0">
                <a:solidFill>
                  <a:srgbClr val="D7E3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az containerapp revision list --name $APP -g $RG --output table `</a:t>
            </a:r>
            <a:endParaRPr sz="1000" b="0" i="0">
              <a:solidFill>
                <a:srgbClr val="D7E3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6000"/>
              </a:lnSpc>
              <a:buNone/>
            </a:pPr>
            <a:r>
              <a:rPr sz="1000" b="0" i="0">
                <a:solidFill>
                  <a:srgbClr val="D7E3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--query "[].{Revision:name, Active:properties.active, Traffic:properties.trafficWeight}"</a:t>
            </a:r>
            <a:endParaRPr sz="1000" b="0" i="0">
              <a:solidFill>
                <a:srgbClr val="D7E3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6000"/>
              </a:lnSpc>
              <a:buNone/>
            </a:pPr>
          </a:p>
          <a:p>
            <a:pPr algn="l">
              <a:lnSpc>
                <a:spcPct val="106000"/>
              </a:lnSpc>
              <a:buNone/>
            </a:pPr>
            <a:r>
              <a:rPr sz="1000" b="0" i="0">
                <a:solidFill>
                  <a:srgbClr val="D7E3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az containerapp ingress traffic set --name $APP -g $RG `</a:t>
            </a:r>
            <a:endParaRPr sz="1000" b="0" i="0">
              <a:solidFill>
                <a:srgbClr val="D7E3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6000"/>
              </a:lnSpc>
              <a:buNone/>
            </a:pPr>
            <a:r>
              <a:rPr sz="1000" b="0" i="0">
                <a:solidFill>
                  <a:srgbClr val="D7E3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--revision-weight &lt;new-revision&gt;=100</a:t>
            </a:r>
            <a:endParaRPr sz="1000" b="0" i="0">
              <a:solidFill>
                <a:srgbClr val="D7E3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6" name="TextBox 5"/>
          <p:cNvSpPr>
            <a:spLocks noGrp="1"/>
          </p:cNvSpPr>
          <p:nvPr/>
        </p:nvSpPr>
        <p:spPr>
          <a:xfrm>
            <a:off x="548640" y="5742432"/>
            <a:ext cx="1106424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1150" b="0" i="1">
                <a:solidFill>
                  <a:srgbClr val="F2A93B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Cosmos only. Blob Storage ships separately as v4 — one capability per release, each verified on its own before the next.</a:t>
            </a:r>
            <a:endParaRPr sz="1150" b="0" i="1">
              <a:solidFill>
                <a:srgbClr val="F2A93B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7" name="TextBox 6"/>
          <p:cNvSpPr>
            <a:spLocks noGrp="1"/>
          </p:cNvSpPr>
          <p:nvPr/>
        </p:nvSpPr>
        <p:spPr>
          <a:xfrm>
            <a:off x="457200" y="6473952"/>
            <a:ext cx="69494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1000" b="0" i="0">
                <a:solidFill>
                  <a:srgbClr val="9AA3C7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Resource names are examples — choose your own. $COSMOS and $STORAGE must be globally unique across Azure.</a:t>
            </a:r>
            <a:endParaRPr sz="1000" b="0" i="0">
              <a:solidFill>
                <a:srgbClr val="9AA3C7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8" name="TextBox 7"/>
          <p:cNvSpPr>
            <a:spLocks noGrp="1"/>
          </p:cNvSpPr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buNone/>
            </a:pPr>
            <a:r>
              <a:rPr sz="1000" b="0" i="0">
                <a:solidFill>
                  <a:srgbClr val="9AA3C7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Module 2 — Azure Storage Solutions</a:t>
            </a:r>
            <a:endParaRPr sz="1000" b="0" i="0">
              <a:solidFill>
                <a:srgbClr val="9AA3C7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731520" y="45720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00" b="1" spc="200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COSMOS DB</a:t>
            </a:r>
            <a:endParaRPr sz="13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731520" y="822960"/>
            <a:ext cx="731520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8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Scenario check</a:t>
            </a:r>
            <a:endParaRPr sz="2800"/>
          </a:p>
        </p:txBody>
      </p:sp>
      <p:sp>
        <p:nvSpPr>
          <p:cNvPr id="4" name="Shape 2"/>
          <p:cNvSpPr>
            <a:spLocks noGrp="1"/>
          </p:cNvSpPr>
          <p:nvPr/>
        </p:nvSpPr>
        <p:spPr>
          <a:xfrm>
            <a:off x="731520" y="1737360"/>
            <a:ext cx="5120640" cy="3017520"/>
          </a:xfrm>
          <a:prstGeom prst="roundRect">
            <a:avLst>
              <a:gd name="adj" fmla="val 2424"/>
            </a:avLst>
          </a:prstGeom>
          <a:solidFill>
            <a:srgbClr val="EEF3FD"/>
          </a:solidFill>
        </p:spPr>
      </p:sp>
      <p:sp>
        <p:nvSpPr>
          <p:cNvPr id="5" name="Text 3"/>
          <p:cNvSpPr>
            <a:spLocks noGrp="1"/>
          </p:cNvSpPr>
          <p:nvPr/>
        </p:nvSpPr>
        <p:spPr>
          <a:xfrm>
            <a:off x="960120" y="1965960"/>
            <a:ext cx="4663440" cy="2560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00">
                <a:solidFill>
                  <a:srgbClr val="5C61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 retail app logs 50,000 orders/day, evenly spread across ~2,000 customers. Reads mostly filter by customerId. What should the partition key be — and why?</a:t>
            </a:r>
            <a:endParaRPr sz="1300"/>
          </a:p>
        </p:txBody>
      </p:sp>
      <p:sp>
        <p:nvSpPr>
          <p:cNvPr id="6" name="Shape 4"/>
          <p:cNvSpPr>
            <a:spLocks noGrp="1"/>
          </p:cNvSpPr>
          <p:nvPr/>
        </p:nvSpPr>
        <p:spPr>
          <a:xfrm>
            <a:off x="6309360" y="1737360"/>
            <a:ext cx="5120640" cy="3017520"/>
          </a:xfrm>
          <a:prstGeom prst="roundRect">
            <a:avLst>
              <a:gd name="adj" fmla="val 2424"/>
            </a:avLst>
          </a:prstGeom>
          <a:solidFill>
            <a:srgbClr val="1E2761"/>
          </a:solidFill>
        </p:spPr>
      </p:sp>
      <p:sp>
        <p:nvSpPr>
          <p:cNvPr id="7" name="Text 5"/>
          <p:cNvSpPr>
            <a:spLocks noGrp="1"/>
          </p:cNvSpPr>
          <p:nvPr/>
        </p:nvSpPr>
        <p:spPr>
          <a:xfrm>
            <a:off x="6537960" y="1965960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00" b="1">
                <a:solidFill>
                  <a:srgbClr val="F2A93B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Answer: customerId.</a:t>
            </a:r>
            <a:endParaRPr sz="1400"/>
          </a:p>
        </p:txBody>
      </p:sp>
      <p:sp>
        <p:nvSpPr>
          <p:cNvPr id="8" name="Text 6"/>
          <p:cNvSpPr>
            <a:spLocks noGrp="1"/>
          </p:cNvSpPr>
          <p:nvPr/>
        </p:nvSpPr>
        <p:spPr>
          <a:xfrm>
            <a:off x="6537960" y="2377440"/>
            <a:ext cx="4663440" cy="21945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50">
                <a:solidFill>
                  <a:srgbClr val="CADCFC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~2,000 distinct values is plenty to spread load, and it matches the dominant query pattern (filter by customer) — that query then hits a single partition instead of scanning all of them. orderDate would be worse: traffic concentrates on "today", creating a hot partition.</a:t>
            </a:r>
            <a:endParaRPr sz="1250"/>
          </a:p>
        </p:txBody>
      </p:sp>
      <p:sp>
        <p:nvSpPr>
          <p:cNvPr id="9" name="Text 7"/>
          <p:cNvSpPr>
            <a:spLocks noGrp="1"/>
          </p:cNvSpPr>
          <p:nvPr/>
        </p:nvSpPr>
        <p:spPr>
          <a:xfrm>
            <a:off x="731520" y="64465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5C61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Ask before revealing — then ask why OUR key breaks this rule</a:t>
            </a:r>
            <a:endParaRPr sz="1000">
              <a:solidFill>
                <a:srgbClr val="5C6180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0" name="Text 8"/>
          <p:cNvSpPr>
            <a:spLocks noGrp="1"/>
          </p:cNvSpPr>
          <p:nvPr/>
        </p:nvSpPr>
        <p:spPr>
          <a:xfrm>
            <a:off x="7772400" y="644652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000">
                <a:solidFill>
                  <a:srgbClr val="5C61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Module 2 — Azure Storage Solutions</a:t>
            </a:r>
            <a:endParaRPr sz="10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hape 0"/>
          <p:cNvSpPr>
            <a:spLocks noGrp="1"/>
          </p:cNvSpPr>
          <p:nvPr/>
        </p:nvSpPr>
        <p:spPr>
          <a:xfrm>
            <a:off x="-2286000" y="4389120"/>
            <a:ext cx="5029200" cy="5029200"/>
          </a:xfrm>
          <a:prstGeom prst="ellipse">
            <a:avLst/>
          </a:prstGeom>
          <a:solidFill>
            <a:srgbClr val="141A47"/>
          </a:solidFill>
        </p:spPr>
      </p:sp>
      <p:sp>
        <p:nvSpPr>
          <p:cNvPr id="3" name="Shape 1"/>
          <p:cNvSpPr>
            <a:spLocks noGrp="1"/>
          </p:cNvSpPr>
          <p:nvPr/>
        </p:nvSpPr>
        <p:spPr>
          <a:xfrm>
            <a:off x="10607040" y="-1645920"/>
            <a:ext cx="3108960" cy="3108960"/>
          </a:xfrm>
          <a:prstGeom prst="ellipse">
            <a:avLst/>
          </a:prstGeom>
          <a:solidFill>
            <a:srgbClr val="141A47"/>
          </a:solidFill>
        </p:spPr>
      </p:sp>
      <p:sp>
        <p:nvSpPr>
          <p:cNvPr id="4" name="Shape 2"/>
          <p:cNvSpPr>
            <a:spLocks noGrp="1"/>
          </p:cNvSpPr>
          <p:nvPr/>
        </p:nvSpPr>
        <p:spPr>
          <a:xfrm>
            <a:off x="731520" y="2651760"/>
            <a:ext cx="502920" cy="502920"/>
          </a:xfrm>
          <a:prstGeom prst="ellipse">
            <a:avLst/>
          </a:prstGeom>
          <a:solidFill>
            <a:srgbClr val="F2A93B"/>
          </a:solidFill>
        </p:spPr>
      </p:sp>
      <p:sp>
        <p:nvSpPr>
          <p:cNvPr id="5" name="Text 3"/>
          <p:cNvSpPr>
            <a:spLocks noGrp="1"/>
          </p:cNvSpPr>
          <p:nvPr/>
        </p:nvSpPr>
        <p:spPr>
          <a:xfrm>
            <a:off x="731520" y="265176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80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2</a:t>
            </a:r>
            <a:endParaRPr sz="1800"/>
          </a:p>
        </p:txBody>
      </p:sp>
      <p:sp>
        <p:nvSpPr>
          <p:cNvPr id="6" name="Text 4"/>
          <p:cNvSpPr>
            <a:spLocks noGrp="1"/>
          </p:cNvSpPr>
          <p:nvPr/>
        </p:nvSpPr>
        <p:spPr>
          <a:xfrm>
            <a:off x="731520" y="3337560"/>
            <a:ext cx="9144000" cy="8229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400" b="1">
                <a:solidFill>
                  <a:srgbClr val="FFFFFF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Azure Blob Storage</a:t>
            </a:r>
            <a:endParaRPr sz="3400"/>
          </a:p>
        </p:txBody>
      </p:sp>
      <p:sp>
        <p:nvSpPr>
          <p:cNvPr id="7" name="Text 5"/>
          <p:cNvSpPr>
            <a:spLocks noGrp="1"/>
          </p:cNvSpPr>
          <p:nvPr/>
        </p:nvSpPr>
        <p:spPr>
          <a:xfrm>
            <a:off x="731520" y="4114800"/>
            <a:ext cx="91440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600">
                <a:solidFill>
                  <a:srgbClr val="CADCFC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Object storage for files — photos, PDFs, videos, backups</a:t>
            </a:r>
            <a:endParaRPr sz="1600"/>
          </a:p>
        </p:txBody>
      </p:sp>
      <p:sp>
        <p:nvSpPr>
          <p:cNvPr id="8" name="Text 6"/>
          <p:cNvSpPr>
            <a:spLocks noGrp="1"/>
          </p:cNvSpPr>
          <p:nvPr/>
        </p:nvSpPr>
        <p:spPr>
          <a:xfrm>
            <a:off x="731520" y="64465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9AA3C7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Topic 2</a:t>
            </a:r>
            <a:endParaRPr sz="1000"/>
          </a:p>
        </p:txBody>
      </p:sp>
      <p:sp>
        <p:nvSpPr>
          <p:cNvPr id="9" name="Text 7"/>
          <p:cNvSpPr>
            <a:spLocks noGrp="1"/>
          </p:cNvSpPr>
          <p:nvPr/>
        </p:nvSpPr>
        <p:spPr>
          <a:xfrm>
            <a:off x="7772400" y="644652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000">
                <a:solidFill>
                  <a:srgbClr val="9AA3C7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Module 2 — Azure Storage Solutions</a:t>
            </a:r>
            <a:endParaRPr sz="10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>
            <a:spLocks noGrp="1"/>
          </p:cNvSpPr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1300" b="1" i="0" spc="200">
                <a:solidFill>
                  <a:srgbClr val="F2A93B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TOPIC 2  ·  BLOB STORAGE</a:t>
            </a:r>
            <a:endParaRPr sz="1300" b="1" i="0" spc="200">
              <a:solidFill>
                <a:srgbClr val="F2A93B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3" name="TextBox 2"/>
          <p:cNvSpPr>
            <a:spLocks noGrp="1"/>
          </p:cNvSpPr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3000" b="1" i="0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Storage account → Container → Blob</a:t>
            </a:r>
            <a:endParaRPr sz="3000" b="1" i="0">
              <a:solidFill>
                <a:srgbClr val="1E2761"/>
              </a:solidFill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  <p:sp>
        <p:nvSpPr>
          <p:cNvPr id="4" name="TextBox 3"/>
          <p:cNvSpPr>
            <a:spLocks noGrp="1"/>
          </p:cNvSpPr>
          <p:nvPr/>
        </p:nvSpPr>
        <p:spPr>
          <a:xfrm>
            <a:off x="548640" y="1444752"/>
            <a:ext cx="109728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1350" b="0" i="0">
                <a:solidFill>
                  <a:srgbClr val="5C61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Simpler than Cosmos DB: no partition key, containers are just namespaces.</a:t>
            </a:r>
            <a:endParaRPr sz="1350" b="0" i="0">
              <a:solidFill>
                <a:srgbClr val="5C6180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5" name="TextBox 4"/>
          <p:cNvSpPr>
            <a:spLocks noGrp="1"/>
          </p:cNvSpPr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buNone/>
            </a:pPr>
            <a:r>
              <a:rPr sz="1000" b="0" i="0">
                <a:solidFill>
                  <a:srgbClr val="5C61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Module 2 — Azure Storage Solutions</a:t>
            </a:r>
            <a:endParaRPr sz="1000" b="0" i="0">
              <a:solidFill>
                <a:srgbClr val="5C6180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6" name="Rounded Rectangle 5"/>
          <p:cNvSpPr>
            <a:spLocks noGrp="1"/>
          </p:cNvSpPr>
          <p:nvPr/>
        </p:nvSpPr>
        <p:spPr>
          <a:xfrm>
            <a:off x="548640" y="2011680"/>
            <a:ext cx="11091672" cy="2926080"/>
          </a:xfrm>
          <a:prstGeom prst="roundRect">
            <a:avLst>
              <a:gd name="adj" fmla="val 3500"/>
            </a:avLst>
          </a:prstGeom>
          <a:solidFill>
            <a:srgbClr val="F6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7" name="TextBox 6"/>
          <p:cNvSpPr>
            <a:spLocks noGrp="1"/>
          </p:cNvSpPr>
          <p:nvPr/>
        </p:nvSpPr>
        <p:spPr>
          <a:xfrm>
            <a:off x="804672" y="2157984"/>
            <a:ext cx="105796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1200" b="1" i="0" spc="110">
                <a:solidFill>
                  <a:srgbClr val="5C61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STORAGE ACCOUNT</a:t>
            </a:r>
            <a:endParaRPr sz="1200" b="1" i="0" spc="110">
              <a:solidFill>
                <a:srgbClr val="5C6180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8" name="TextBox 7"/>
          <p:cNvSpPr>
            <a:spLocks noGrp="1"/>
          </p:cNvSpPr>
          <p:nvPr/>
        </p:nvSpPr>
        <p:spPr>
          <a:xfrm>
            <a:off x="8577072" y="2157984"/>
            <a:ext cx="278892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buNone/>
            </a:pPr>
            <a:r>
              <a:rPr sz="1150" b="0" i="0">
                <a:solidFill>
                  <a:srgbClr val="1E2761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stestiamdev2</a:t>
            </a:r>
            <a:endParaRPr sz="1150" b="0" i="0">
              <a:solidFill>
                <a:srgbClr val="1E2761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9" name="Rounded Rectangle 8"/>
          <p:cNvSpPr>
            <a:spLocks noGrp="1"/>
          </p:cNvSpPr>
          <p:nvPr/>
        </p:nvSpPr>
        <p:spPr>
          <a:xfrm>
            <a:off x="960120" y="2496312"/>
            <a:ext cx="10268712" cy="2148840"/>
          </a:xfrm>
          <a:prstGeom prst="roundRect">
            <a:avLst>
              <a:gd name="adj" fmla="val 3500"/>
            </a:avLst>
          </a:prstGeom>
          <a:solidFill>
            <a:srgbClr val="EEF3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10" name="TextBox 9"/>
          <p:cNvSpPr>
            <a:spLocks noGrp="1"/>
          </p:cNvSpPr>
          <p:nvPr/>
        </p:nvSpPr>
        <p:spPr>
          <a:xfrm>
            <a:off x="1216152" y="2642616"/>
            <a:ext cx="975664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1200" b="1" i="0" spc="110">
                <a:solidFill>
                  <a:srgbClr val="5C61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CONTAINER  ·  a namespace, nothing more</a:t>
            </a:r>
            <a:endParaRPr sz="1200" b="1" i="0" spc="110">
              <a:solidFill>
                <a:srgbClr val="5C6180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1" name="TextBox 10"/>
          <p:cNvSpPr>
            <a:spLocks noGrp="1"/>
          </p:cNvSpPr>
          <p:nvPr/>
        </p:nvSpPr>
        <p:spPr>
          <a:xfrm>
            <a:off x="8165592" y="2642616"/>
            <a:ext cx="278892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buNone/>
            </a:pPr>
            <a:r>
              <a:rPr sz="1150" b="0" i="0">
                <a:solidFill>
                  <a:srgbClr val="1E2761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posters</a:t>
            </a:r>
            <a:endParaRPr sz="1150" b="0" i="0">
              <a:solidFill>
                <a:srgbClr val="1E2761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2" name="Rounded Rectangle 11"/>
          <p:cNvSpPr>
            <a:spLocks noGrp="1"/>
          </p:cNvSpPr>
          <p:nvPr/>
        </p:nvSpPr>
        <p:spPr>
          <a:xfrm>
            <a:off x="1371600" y="2999232"/>
            <a:ext cx="2926080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13" name="TextBox 12"/>
          <p:cNvSpPr>
            <a:spLocks noGrp="1"/>
          </p:cNvSpPr>
          <p:nvPr/>
        </p:nvSpPr>
        <p:spPr>
          <a:xfrm>
            <a:off x="1554480" y="3163824"/>
            <a:ext cx="256032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1200" b="1" i="0">
                <a:solidFill>
                  <a:srgbClr val="1E2761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hello.txt</a:t>
            </a:r>
            <a:endParaRPr sz="1200" b="1" i="0">
              <a:solidFill>
                <a:srgbClr val="1E2761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4" name="TextBox 13"/>
          <p:cNvSpPr>
            <a:spLocks noGrp="1"/>
          </p:cNvSpPr>
          <p:nvPr/>
        </p:nvSpPr>
        <p:spPr>
          <a:xfrm>
            <a:off x="1554480" y="3529584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1000" b="0" i="0">
                <a:solidFill>
                  <a:srgbClr val="5C61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the mechanics demo</a:t>
            </a:r>
            <a:endParaRPr sz="1000" b="0" i="0">
              <a:solidFill>
                <a:srgbClr val="5C6180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5" name="TextBox 14"/>
          <p:cNvSpPr>
            <a:spLocks noGrp="1"/>
          </p:cNvSpPr>
          <p:nvPr/>
        </p:nvSpPr>
        <p:spPr>
          <a:xfrm>
            <a:off x="1554480" y="3858768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950" b="0" i="0" spc="90">
                <a:solidFill>
                  <a:srgbClr val="5C61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BLOB</a:t>
            </a:r>
            <a:endParaRPr sz="950" b="0" i="0" spc="90">
              <a:solidFill>
                <a:srgbClr val="5C6180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6" name="Rounded Rectangle 15"/>
          <p:cNvSpPr>
            <a:spLocks noGrp="1"/>
          </p:cNvSpPr>
          <p:nvPr/>
        </p:nvSpPr>
        <p:spPr>
          <a:xfrm>
            <a:off x="4526280" y="2999232"/>
            <a:ext cx="2926080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17" name="TextBox 16"/>
          <p:cNvSpPr>
            <a:spLocks noGrp="1"/>
          </p:cNvSpPr>
          <p:nvPr/>
        </p:nvSpPr>
        <p:spPr>
          <a:xfrm>
            <a:off x="4709160" y="3163824"/>
            <a:ext cx="256032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1200" b="1" i="0">
                <a:solidFill>
                  <a:srgbClr val="1E2761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tt-1-poster.jpg</a:t>
            </a:r>
            <a:endParaRPr sz="1200" b="1" i="0">
              <a:solidFill>
                <a:srgbClr val="1E2761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8" name="TextBox 17"/>
          <p:cNvSpPr>
            <a:spLocks noGrp="1"/>
          </p:cNvSpPr>
          <p:nvPr/>
        </p:nvSpPr>
        <p:spPr>
          <a:xfrm>
            <a:off x="4709160" y="3529584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1000" b="0" i="0">
                <a:solidFill>
                  <a:srgbClr val="5C61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 real title poster</a:t>
            </a:r>
            <a:endParaRPr sz="1000" b="0" i="0">
              <a:solidFill>
                <a:srgbClr val="5C6180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9" name="TextBox 18"/>
          <p:cNvSpPr>
            <a:spLocks noGrp="1"/>
          </p:cNvSpPr>
          <p:nvPr/>
        </p:nvSpPr>
        <p:spPr>
          <a:xfrm>
            <a:off x="4709160" y="3858768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950" b="0" i="0" spc="90">
                <a:solidFill>
                  <a:srgbClr val="5C61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BLOB</a:t>
            </a:r>
            <a:endParaRPr sz="950" b="0" i="0" spc="90">
              <a:solidFill>
                <a:srgbClr val="5C6180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20" name="Rounded Rectangle 19"/>
          <p:cNvSpPr>
            <a:spLocks noGrp="1"/>
          </p:cNvSpPr>
          <p:nvPr/>
        </p:nvSpPr>
        <p:spPr>
          <a:xfrm>
            <a:off x="7680960" y="2999232"/>
            <a:ext cx="2926080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21" name="TextBox 20"/>
          <p:cNvSpPr>
            <a:spLocks noGrp="1"/>
          </p:cNvSpPr>
          <p:nvPr/>
        </p:nvSpPr>
        <p:spPr>
          <a:xfrm>
            <a:off x="7863840" y="3163824"/>
            <a:ext cx="256032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1200" b="1" i="0">
                <a:solidFill>
                  <a:srgbClr val="1E2761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tt-2-poster.jpg</a:t>
            </a:r>
            <a:endParaRPr sz="1200" b="1" i="0">
              <a:solidFill>
                <a:srgbClr val="1E2761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22" name="TextBox 21"/>
          <p:cNvSpPr>
            <a:spLocks noGrp="1"/>
          </p:cNvSpPr>
          <p:nvPr/>
        </p:nvSpPr>
        <p:spPr>
          <a:xfrm>
            <a:off x="7863840" y="3529584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1000" b="0" i="0">
                <a:solidFill>
                  <a:srgbClr val="5C61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…</a:t>
            </a:r>
            <a:endParaRPr sz="1000" b="0" i="0">
              <a:solidFill>
                <a:srgbClr val="5C6180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23" name="TextBox 22"/>
          <p:cNvSpPr>
            <a:spLocks noGrp="1"/>
          </p:cNvSpPr>
          <p:nvPr/>
        </p:nvSpPr>
        <p:spPr>
          <a:xfrm>
            <a:off x="7863840" y="3858768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950" b="0" i="0" spc="90">
                <a:solidFill>
                  <a:srgbClr val="5C61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BLOB</a:t>
            </a:r>
            <a:endParaRPr sz="950" b="0" i="0" spc="90">
              <a:solidFill>
                <a:srgbClr val="5C6180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24" name="Rounded Rectangle 23"/>
          <p:cNvSpPr>
            <a:spLocks noGrp="1"/>
          </p:cNvSpPr>
          <p:nvPr/>
        </p:nvSpPr>
        <p:spPr>
          <a:xfrm>
            <a:off x="548640" y="5394960"/>
            <a:ext cx="11091672" cy="621792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25" name="TextBox 24"/>
          <p:cNvSpPr>
            <a:spLocks noGrp="1"/>
          </p:cNvSpPr>
          <p:nvPr/>
        </p:nvSpPr>
        <p:spPr>
          <a:xfrm>
            <a:off x="822960" y="5394960"/>
            <a:ext cx="10543032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1300" b="1" i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Private by default — the plain URL returns 409, even if you know it exactly</a:t>
            </a:r>
            <a:endParaRPr sz="1300" b="1" i="0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731520" y="45720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00" b="1" spc="200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BLOB STORAGE</a:t>
            </a:r>
            <a:endParaRPr sz="13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731520" y="82296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8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Access tiers</a:t>
            </a:r>
            <a:endParaRPr sz="2800"/>
          </a:p>
        </p:txBody>
      </p:sp>
      <p:sp>
        <p:nvSpPr>
          <p:cNvPr id="4" name="Text 2"/>
          <p:cNvSpPr>
            <a:spLocks noGrp="1"/>
          </p:cNvSpPr>
          <p:nvPr/>
        </p:nvSpPr>
        <p:spPr>
          <a:xfrm>
            <a:off x="731520" y="137160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00">
                <a:solidFill>
                  <a:srgbClr val="5C61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How often will you visit this box? Pick a tier per blob, change it anytime.</a:t>
            </a:r>
            <a:endParaRPr sz="1300"/>
          </a:p>
        </p:txBody>
      </p:sp>
      <p:graphicFrame>
        <p:nvGraphicFramePr>
          <p:cNvPr id="14" name="Table 0"/>
          <p:cNvGraphicFramePr/>
          <p:nvPr/>
        </p:nvGraphicFramePr>
        <p:xfrm>
          <a:off x="731520" y="2103120"/>
          <a:ext cx="10698480" cy="2377440"/>
        </p:xfrm>
        <a:graphic>
          <a:graphicData uri="http://schemas.openxmlformats.org/drawingml/2006/table">
            <a:tbl>
              <a:tblPr/>
              <a:tblGrid>
                <a:gridCol w="1645920"/>
                <a:gridCol w="4754880"/>
                <a:gridCol w="2103120"/>
                <a:gridCol w="2194560"/>
              </a:tblGrid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Tier</a:t>
                      </a:r>
                      <a:endParaRPr sz="12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anchor="ctr">
                    <a:lnL w="12700" cmpd="sng">
                      <a:solidFill>
                        <a:srgbClr val="EEF3FD"/>
                      </a:solidFill>
                      <a:prstDash val="solid"/>
                    </a:lnL>
                    <a:lnR w="12700" cmpd="sng">
                      <a:solidFill>
                        <a:srgbClr val="EEF3FD"/>
                      </a:solidFill>
                      <a:prstDash val="solid"/>
                    </a:lnR>
                    <a:lnT w="12700" cmpd="sng">
                      <a:solidFill>
                        <a:srgbClr val="EEF3FD"/>
                      </a:solidFill>
                      <a:prstDash val="solid"/>
                    </a:lnT>
                    <a:lnB w="12700" cmpd="sng">
                      <a:solidFill>
                        <a:srgbClr val="EEF3FD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Best for</a:t>
                      </a:r>
                      <a:endParaRPr sz="12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anchor="ctr">
                    <a:lnL w="12700" cmpd="sng">
                      <a:solidFill>
                        <a:srgbClr val="EEF3FD"/>
                      </a:solidFill>
                      <a:prstDash val="solid"/>
                    </a:lnL>
                    <a:lnR w="12700" cmpd="sng">
                      <a:solidFill>
                        <a:srgbClr val="EEF3FD"/>
                      </a:solidFill>
                      <a:prstDash val="solid"/>
                    </a:lnR>
                    <a:lnT w="12700" cmpd="sng">
                      <a:solidFill>
                        <a:srgbClr val="EEF3FD"/>
                      </a:solidFill>
                      <a:prstDash val="solid"/>
                    </a:lnT>
                    <a:lnB w="12700" cmpd="sng">
                      <a:solidFill>
                        <a:srgbClr val="EEF3FD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Storage cost</a:t>
                      </a:r>
                      <a:endParaRPr sz="12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anchor="ctr">
                    <a:lnL w="12700" cmpd="sng">
                      <a:solidFill>
                        <a:srgbClr val="EEF3FD"/>
                      </a:solidFill>
                      <a:prstDash val="solid"/>
                    </a:lnL>
                    <a:lnR w="12700" cmpd="sng">
                      <a:solidFill>
                        <a:srgbClr val="EEF3FD"/>
                      </a:solidFill>
                      <a:prstDash val="solid"/>
                    </a:lnR>
                    <a:lnT w="12700" cmpd="sng">
                      <a:solidFill>
                        <a:srgbClr val="EEF3FD"/>
                      </a:solidFill>
                      <a:prstDash val="solid"/>
                    </a:lnT>
                    <a:lnB w="12700" cmpd="sng">
                      <a:solidFill>
                        <a:srgbClr val="EEF3FD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Access cost / speed</a:t>
                      </a:r>
                      <a:endParaRPr sz="12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anchor="ctr">
                    <a:lnL w="12700" cmpd="sng">
                      <a:solidFill>
                        <a:srgbClr val="EEF3FD"/>
                      </a:solidFill>
                      <a:prstDash val="solid"/>
                    </a:lnL>
                    <a:lnR w="12700" cmpd="sng">
                      <a:solidFill>
                        <a:srgbClr val="EEF3FD"/>
                      </a:solidFill>
                      <a:prstDash val="solid"/>
                    </a:lnR>
                    <a:lnT w="12700" cmpd="sng">
                      <a:solidFill>
                        <a:srgbClr val="EEF3FD"/>
                      </a:solidFill>
                      <a:prstDash val="solid"/>
                    </a:lnT>
                    <a:lnB w="12700" cmpd="sng">
                      <a:solidFill>
                        <a:srgbClr val="EEF3FD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5C618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Hot</a:t>
                      </a:r>
                      <a:endParaRPr sz="12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anchor="ctr">
                    <a:lnL w="12700" cmpd="sng">
                      <a:solidFill>
                        <a:srgbClr val="EEF3FD"/>
                      </a:solidFill>
                      <a:prstDash val="solid"/>
                    </a:lnL>
                    <a:lnR w="12700" cmpd="sng">
                      <a:solidFill>
                        <a:srgbClr val="EEF3FD"/>
                      </a:solidFill>
                      <a:prstDash val="solid"/>
                    </a:lnR>
                    <a:lnT w="12700" cmpd="sng">
                      <a:solidFill>
                        <a:srgbClr val="EEF3FD"/>
                      </a:solidFill>
                      <a:prstDash val="solid"/>
                    </a:lnT>
                    <a:lnB w="12700" cmpd="sng">
                      <a:solidFill>
                        <a:srgbClr val="EEF3F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5C618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Files touched constantly (this week's uploads)</a:t>
                      </a:r>
                      <a:endParaRPr sz="12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anchor="ctr">
                    <a:lnL w="12700" cmpd="sng">
                      <a:solidFill>
                        <a:srgbClr val="EEF3FD"/>
                      </a:solidFill>
                      <a:prstDash val="solid"/>
                    </a:lnL>
                    <a:lnR w="12700" cmpd="sng">
                      <a:solidFill>
                        <a:srgbClr val="EEF3FD"/>
                      </a:solidFill>
                      <a:prstDash val="solid"/>
                    </a:lnR>
                    <a:lnT w="12700" cmpd="sng">
                      <a:solidFill>
                        <a:srgbClr val="EEF3FD"/>
                      </a:solidFill>
                      <a:prstDash val="solid"/>
                    </a:lnT>
                    <a:lnB w="12700" cmpd="sng">
                      <a:solidFill>
                        <a:srgbClr val="EEF3F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5C618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Highest</a:t>
                      </a:r>
                      <a:endParaRPr sz="12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anchor="ctr">
                    <a:lnL w="12700" cmpd="sng">
                      <a:solidFill>
                        <a:srgbClr val="EEF3FD"/>
                      </a:solidFill>
                      <a:prstDash val="solid"/>
                    </a:lnL>
                    <a:lnR w="12700" cmpd="sng">
                      <a:solidFill>
                        <a:srgbClr val="EEF3FD"/>
                      </a:solidFill>
                      <a:prstDash val="solid"/>
                    </a:lnR>
                    <a:lnT w="12700" cmpd="sng">
                      <a:solidFill>
                        <a:srgbClr val="EEF3FD"/>
                      </a:solidFill>
                      <a:prstDash val="solid"/>
                    </a:lnT>
                    <a:lnB w="12700" cmpd="sng">
                      <a:solidFill>
                        <a:srgbClr val="EEF3F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5C618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Cheapest, instant</a:t>
                      </a:r>
                      <a:endParaRPr sz="12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anchor="ctr">
                    <a:lnL w="12700" cmpd="sng">
                      <a:solidFill>
                        <a:srgbClr val="EEF3FD"/>
                      </a:solidFill>
                      <a:prstDash val="solid"/>
                    </a:lnL>
                    <a:lnR w="12700" cmpd="sng">
                      <a:solidFill>
                        <a:srgbClr val="EEF3FD"/>
                      </a:solidFill>
                      <a:prstDash val="solid"/>
                    </a:lnR>
                    <a:lnT w="12700" cmpd="sng">
                      <a:solidFill>
                        <a:srgbClr val="EEF3FD"/>
                      </a:solidFill>
                      <a:prstDash val="solid"/>
                    </a:lnT>
                    <a:lnB w="12700" cmpd="sng">
                      <a:solidFill>
                        <a:srgbClr val="EEF3FD"/>
                      </a:solidFill>
                      <a:prstDash val="soli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5C618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Cool</a:t>
                      </a:r>
                      <a:endParaRPr sz="12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anchor="ctr">
                    <a:lnL w="12700" cmpd="sng">
                      <a:solidFill>
                        <a:srgbClr val="EEF3FD"/>
                      </a:solidFill>
                      <a:prstDash val="solid"/>
                    </a:lnL>
                    <a:lnR w="12700" cmpd="sng">
                      <a:solidFill>
                        <a:srgbClr val="EEF3FD"/>
                      </a:solidFill>
                      <a:prstDash val="solid"/>
                    </a:lnR>
                    <a:lnT w="12700" cmpd="sng">
                      <a:solidFill>
                        <a:srgbClr val="EEF3FD"/>
                      </a:solidFill>
                      <a:prstDash val="solid"/>
                    </a:lnT>
                    <a:lnB w="12700" cmpd="sng">
                      <a:solidFill>
                        <a:srgbClr val="EEF3F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5C618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Rarely touched, might be needed soon (30+ days)</a:t>
                      </a:r>
                      <a:endParaRPr sz="12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anchor="ctr">
                    <a:lnL w="12700" cmpd="sng">
                      <a:solidFill>
                        <a:srgbClr val="EEF3FD"/>
                      </a:solidFill>
                      <a:prstDash val="solid"/>
                    </a:lnL>
                    <a:lnR w="12700" cmpd="sng">
                      <a:solidFill>
                        <a:srgbClr val="EEF3FD"/>
                      </a:solidFill>
                      <a:prstDash val="solid"/>
                    </a:lnR>
                    <a:lnT w="12700" cmpd="sng">
                      <a:solidFill>
                        <a:srgbClr val="EEF3FD"/>
                      </a:solidFill>
                      <a:prstDash val="solid"/>
                    </a:lnT>
                    <a:lnB w="12700" cmpd="sng">
                      <a:solidFill>
                        <a:srgbClr val="EEF3F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5C618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Lower</a:t>
                      </a:r>
                      <a:endParaRPr sz="12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anchor="ctr">
                    <a:lnL w="12700" cmpd="sng">
                      <a:solidFill>
                        <a:srgbClr val="EEF3FD"/>
                      </a:solidFill>
                      <a:prstDash val="solid"/>
                    </a:lnL>
                    <a:lnR w="12700" cmpd="sng">
                      <a:solidFill>
                        <a:srgbClr val="EEF3FD"/>
                      </a:solidFill>
                      <a:prstDash val="solid"/>
                    </a:lnR>
                    <a:lnT w="12700" cmpd="sng">
                      <a:solidFill>
                        <a:srgbClr val="EEF3FD"/>
                      </a:solidFill>
                      <a:prstDash val="solid"/>
                    </a:lnT>
                    <a:lnB w="12700" cmpd="sng">
                      <a:solidFill>
                        <a:srgbClr val="EEF3F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5C618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Costs more per access, still instant</a:t>
                      </a:r>
                      <a:endParaRPr sz="12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anchor="ctr">
                    <a:lnL w="12700" cmpd="sng">
                      <a:solidFill>
                        <a:srgbClr val="EEF3FD"/>
                      </a:solidFill>
                      <a:prstDash val="solid"/>
                    </a:lnL>
                    <a:lnR w="12700" cmpd="sng">
                      <a:solidFill>
                        <a:srgbClr val="EEF3FD"/>
                      </a:solidFill>
                      <a:prstDash val="solid"/>
                    </a:lnR>
                    <a:lnT w="12700" cmpd="sng">
                      <a:solidFill>
                        <a:srgbClr val="EEF3FD"/>
                      </a:solidFill>
                      <a:prstDash val="solid"/>
                    </a:lnT>
                    <a:lnB w="12700" cmpd="sng">
                      <a:solidFill>
                        <a:srgbClr val="EEF3FD"/>
                      </a:solidFill>
                      <a:prstDash val="soli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5C618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Archive</a:t>
                      </a:r>
                      <a:endParaRPr sz="12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anchor="ctr">
                    <a:lnL w="12700" cmpd="sng">
                      <a:solidFill>
                        <a:srgbClr val="EEF3FD"/>
                      </a:solidFill>
                      <a:prstDash val="solid"/>
                    </a:lnL>
                    <a:lnR w="12700" cmpd="sng">
                      <a:solidFill>
                        <a:srgbClr val="EEF3FD"/>
                      </a:solidFill>
                      <a:prstDash val="solid"/>
                    </a:lnR>
                    <a:lnT w="12700" cmpd="sng">
                      <a:solidFill>
                        <a:srgbClr val="EEF3FD"/>
                      </a:solidFill>
                      <a:prstDash val="solid"/>
                    </a:lnT>
                    <a:lnB w="12700" cmpd="sng">
                      <a:solidFill>
                        <a:srgbClr val="EEF3F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5C618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Long-term backups, compliance, rarely-if-ever read</a:t>
                      </a:r>
                      <a:endParaRPr sz="12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anchor="ctr">
                    <a:lnL w="12700" cmpd="sng">
                      <a:solidFill>
                        <a:srgbClr val="EEF3FD"/>
                      </a:solidFill>
                      <a:prstDash val="solid"/>
                    </a:lnL>
                    <a:lnR w="12700" cmpd="sng">
                      <a:solidFill>
                        <a:srgbClr val="EEF3FD"/>
                      </a:solidFill>
                      <a:prstDash val="solid"/>
                    </a:lnR>
                    <a:lnT w="12700" cmpd="sng">
                      <a:solidFill>
                        <a:srgbClr val="EEF3FD"/>
                      </a:solidFill>
                      <a:prstDash val="solid"/>
                    </a:lnT>
                    <a:lnB w="12700" cmpd="sng">
                      <a:solidFill>
                        <a:srgbClr val="EEF3F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5C618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Lowest, by far</a:t>
                      </a:r>
                      <a:endParaRPr sz="12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anchor="ctr">
                    <a:lnL w="12700" cmpd="sng">
                      <a:solidFill>
                        <a:srgbClr val="EEF3FD"/>
                      </a:solidFill>
                      <a:prstDash val="solid"/>
                    </a:lnL>
                    <a:lnR w="12700" cmpd="sng">
                      <a:solidFill>
                        <a:srgbClr val="EEF3FD"/>
                      </a:solidFill>
                      <a:prstDash val="solid"/>
                    </a:lnR>
                    <a:lnT w="12700" cmpd="sng">
                      <a:solidFill>
                        <a:srgbClr val="EEF3FD"/>
                      </a:solidFill>
                      <a:prstDash val="solid"/>
                    </a:lnT>
                    <a:lnB w="12700" cmpd="sng">
                      <a:solidFill>
                        <a:srgbClr val="EEF3F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5C618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Cheapest — but retrieval can take hours</a:t>
                      </a:r>
                      <a:endParaRPr sz="12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anchor="ctr">
                    <a:lnL w="12700" cmpd="sng">
                      <a:solidFill>
                        <a:srgbClr val="EEF3FD"/>
                      </a:solidFill>
                      <a:prstDash val="solid"/>
                    </a:lnL>
                    <a:lnR w="12700" cmpd="sng">
                      <a:solidFill>
                        <a:srgbClr val="EEF3FD"/>
                      </a:solidFill>
                      <a:prstDash val="solid"/>
                    </a:lnR>
                    <a:lnT w="12700" cmpd="sng">
                      <a:solidFill>
                        <a:srgbClr val="EEF3FD"/>
                      </a:solidFill>
                      <a:prstDash val="solid"/>
                    </a:lnT>
                    <a:lnB w="12700" cmpd="sng">
                      <a:solidFill>
                        <a:srgbClr val="EEF3FD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>
            <a:spLocks noGrp="1"/>
          </p:cNvSpPr>
          <p:nvPr/>
        </p:nvSpPr>
        <p:spPr>
          <a:xfrm>
            <a:off x="731520" y="4709160"/>
            <a:ext cx="10698480" cy="1051560"/>
          </a:xfrm>
          <a:prstGeom prst="roundRect">
            <a:avLst>
              <a:gd name="adj" fmla="val 6957"/>
            </a:avLst>
          </a:prstGeom>
          <a:solidFill>
            <a:srgbClr val="EEF3FD"/>
          </a:solidFill>
        </p:spPr>
      </p:sp>
      <p:sp>
        <p:nvSpPr>
          <p:cNvPr id="7" name="Text 4"/>
          <p:cNvSpPr>
            <a:spLocks noGrp="1"/>
          </p:cNvSpPr>
          <p:nvPr/>
        </p:nvSpPr>
        <p:spPr>
          <a:xfrm>
            <a:off x="960120" y="4709160"/>
            <a:ext cx="10241280" cy="10515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50" i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Think Netflix: new releases sit on fast (Hot) storage, the old back-catalog sits in cheaper, slower (Cool/Archive) storage. Same content, different access pattern.</a:t>
            </a:r>
            <a:endParaRPr sz="1250"/>
          </a:p>
        </p:txBody>
      </p:sp>
      <p:sp>
        <p:nvSpPr>
          <p:cNvPr id="8" name="Text 5"/>
          <p:cNvSpPr>
            <a:spLocks noGrp="1"/>
          </p:cNvSpPr>
          <p:nvPr/>
        </p:nvSpPr>
        <p:spPr>
          <a:xfrm>
            <a:off x="731520" y="64465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5C61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Conceptual only this module — no live demo of tier changes</a:t>
            </a:r>
            <a:endParaRPr sz="1000"/>
          </a:p>
        </p:txBody>
      </p:sp>
      <p:sp>
        <p:nvSpPr>
          <p:cNvPr id="9" name="Text 6"/>
          <p:cNvSpPr>
            <a:spLocks noGrp="1"/>
          </p:cNvSpPr>
          <p:nvPr/>
        </p:nvSpPr>
        <p:spPr>
          <a:xfrm>
            <a:off x="7772400" y="644652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000">
                <a:solidFill>
                  <a:srgbClr val="5C61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Module 2 — Azure Storage Solutions</a:t>
            </a:r>
            <a:endParaRPr sz="10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731520" y="45720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00" b="1" spc="200">
                <a:solidFill>
                  <a:srgbClr val="F2A93B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TOPIC 2  ·  BLOB STORAGE  ·  LIVE DEMO</a:t>
            </a:r>
            <a:endParaRPr sz="1300" b="1" spc="200">
              <a:solidFill>
                <a:srgbClr val="F2A93B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731520" y="822960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400" b="1">
                <a:solidFill>
                  <a:srgbClr val="FFFFFF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SAS tokens — temporary, scoped access to one blob</a:t>
            </a:r>
            <a:endParaRPr sz="2400" b="1">
              <a:solidFill>
                <a:srgbClr val="FFFFFF"/>
              </a:solidFill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  <p:sp>
        <p:nvSpPr>
          <p:cNvPr id="4" name="Text 2"/>
          <p:cNvSpPr>
            <a:spLocks noGrp="1"/>
          </p:cNvSpPr>
          <p:nvPr/>
        </p:nvSpPr>
        <p:spPr>
          <a:xfrm>
            <a:off x="731520" y="1417320"/>
            <a:ext cx="1024128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00">
                <a:solidFill>
                  <a:srgbClr val="CADCFC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 Shared Access Signature grants time-limited access to one blob, without handing out account keys. Watch the same URL fail, work, then fail again.</a:t>
            </a:r>
            <a:endParaRPr sz="1300">
              <a:solidFill>
                <a:srgbClr val="CADCFC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5" name="Shape 3"/>
          <p:cNvSpPr>
            <a:spLocks noGrp="1"/>
          </p:cNvSpPr>
          <p:nvPr/>
        </p:nvSpPr>
        <p:spPr>
          <a:xfrm>
            <a:off x="822960" y="2194560"/>
            <a:ext cx="457200" cy="457200"/>
          </a:xfrm>
          <a:prstGeom prst="ellipse">
            <a:avLst/>
          </a:prstGeom>
          <a:solidFill>
            <a:srgbClr val="F2A93B"/>
          </a:solidFill>
        </p:spPr>
      </p:sp>
      <p:sp>
        <p:nvSpPr>
          <p:cNvPr id="6" name="Text 4"/>
          <p:cNvSpPr>
            <a:spLocks noGrp="1"/>
          </p:cNvSpPr>
          <p:nvPr/>
        </p:nvSpPr>
        <p:spPr>
          <a:xfrm>
            <a:off x="822960" y="219456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50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1</a:t>
            </a:r>
            <a:endParaRPr sz="1500" b="1">
              <a:solidFill>
                <a:srgbClr val="1E276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7" name="Text 5"/>
          <p:cNvSpPr>
            <a:spLocks noGrp="1"/>
          </p:cNvSpPr>
          <p:nvPr/>
        </p:nvSpPr>
        <p:spPr>
          <a:xfrm>
            <a:off x="1463040" y="2148840"/>
            <a:ext cx="9692640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5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Create the posters container and upload hello.txt — the upload fails the first time.</a:t>
            </a:r>
            <a:endParaRPr sz="1350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8" name="Shape 6"/>
          <p:cNvSpPr>
            <a:spLocks noGrp="1"/>
          </p:cNvSpPr>
          <p:nvPr/>
        </p:nvSpPr>
        <p:spPr>
          <a:xfrm>
            <a:off x="822960" y="2816352"/>
            <a:ext cx="457200" cy="457200"/>
          </a:xfrm>
          <a:prstGeom prst="ellipse">
            <a:avLst/>
          </a:prstGeom>
          <a:solidFill>
            <a:srgbClr val="F2A93B"/>
          </a:solidFill>
        </p:spPr>
      </p:sp>
      <p:sp>
        <p:nvSpPr>
          <p:cNvPr id="9" name="Text 7"/>
          <p:cNvSpPr>
            <a:spLocks noGrp="1"/>
          </p:cNvSpPr>
          <p:nvPr/>
        </p:nvSpPr>
        <p:spPr>
          <a:xfrm>
            <a:off x="822960" y="281635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50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2</a:t>
            </a:r>
            <a:endParaRPr sz="1500" b="1">
              <a:solidFill>
                <a:srgbClr val="1E276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0" name="Text 8"/>
          <p:cNvSpPr>
            <a:spLocks noGrp="1"/>
          </p:cNvSpPr>
          <p:nvPr/>
        </p:nvSpPr>
        <p:spPr>
          <a:xfrm>
            <a:off x="1463040" y="2770632"/>
            <a:ext cx="9692640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5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Grant yourself Storage Blob Data Contributor, retry the upload — now it works.</a:t>
            </a:r>
            <a:endParaRPr sz="1350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1" name="Shape 9"/>
          <p:cNvSpPr>
            <a:spLocks noGrp="1"/>
          </p:cNvSpPr>
          <p:nvPr/>
        </p:nvSpPr>
        <p:spPr>
          <a:xfrm>
            <a:off x="822960" y="3438144"/>
            <a:ext cx="457200" cy="457200"/>
          </a:xfrm>
          <a:prstGeom prst="ellipse">
            <a:avLst/>
          </a:prstGeom>
          <a:solidFill>
            <a:srgbClr val="F2A93B"/>
          </a:solidFill>
        </p:spPr>
      </p:sp>
      <p:sp>
        <p:nvSpPr>
          <p:cNvPr id="12" name="Text 10"/>
          <p:cNvSpPr>
            <a:spLocks noGrp="1"/>
          </p:cNvSpPr>
          <p:nvPr/>
        </p:nvSpPr>
        <p:spPr>
          <a:xfrm>
            <a:off x="822960" y="3438144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50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3</a:t>
            </a:r>
            <a:endParaRPr sz="1500" b="1">
              <a:solidFill>
                <a:srgbClr val="1E276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3" name="Text 11"/>
          <p:cNvSpPr>
            <a:spLocks noGrp="1"/>
          </p:cNvSpPr>
          <p:nvPr/>
        </p:nvSpPr>
        <p:spPr>
          <a:xfrm>
            <a:off x="1463040" y="3392424"/>
            <a:ext cx="9692640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5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Open the plain blob URL in a browser: HTTP 409, PublicAccessNotPermitted.</a:t>
            </a:r>
            <a:endParaRPr sz="1350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4" name="Shape 12"/>
          <p:cNvSpPr>
            <a:spLocks noGrp="1"/>
          </p:cNvSpPr>
          <p:nvPr/>
        </p:nvSpPr>
        <p:spPr>
          <a:xfrm>
            <a:off x="822960" y="4059936"/>
            <a:ext cx="457200" cy="457200"/>
          </a:xfrm>
          <a:prstGeom prst="ellipse">
            <a:avLst/>
          </a:prstGeom>
          <a:solidFill>
            <a:srgbClr val="F2A93B"/>
          </a:solidFill>
        </p:spPr>
      </p:sp>
      <p:sp>
        <p:nvSpPr>
          <p:cNvPr id="15" name="Text 13"/>
          <p:cNvSpPr>
            <a:spLocks noGrp="1"/>
          </p:cNvSpPr>
          <p:nvPr/>
        </p:nvSpPr>
        <p:spPr>
          <a:xfrm>
            <a:off x="822960" y="4059936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50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4</a:t>
            </a:r>
            <a:endParaRPr sz="1500" b="1">
              <a:solidFill>
                <a:srgbClr val="1E276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6" name="Text 14"/>
          <p:cNvSpPr>
            <a:spLocks noGrp="1"/>
          </p:cNvSpPr>
          <p:nvPr/>
        </p:nvSpPr>
        <p:spPr>
          <a:xfrm>
            <a:off x="1463040" y="4014216"/>
            <a:ext cx="9692640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5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Append a read-only SAS token: the same URL now works. Strip it: it fails again.</a:t>
            </a:r>
            <a:endParaRPr sz="1350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7" name="Shape 15"/>
          <p:cNvSpPr>
            <a:spLocks noGrp="1"/>
          </p:cNvSpPr>
          <p:nvPr/>
        </p:nvSpPr>
        <p:spPr>
          <a:xfrm>
            <a:off x="731520" y="4709160"/>
            <a:ext cx="10698480" cy="1005840"/>
          </a:xfrm>
          <a:prstGeom prst="roundRect">
            <a:avLst>
              <a:gd name="adj" fmla="val 7273"/>
            </a:avLst>
          </a:prstGeom>
          <a:solidFill>
            <a:srgbClr val="141A47"/>
          </a:solidFill>
        </p:spPr>
      </p:sp>
      <p:sp>
        <p:nvSpPr>
          <p:cNvPr id="18" name="Text 16"/>
          <p:cNvSpPr>
            <a:spLocks noGrp="1"/>
          </p:cNvSpPr>
          <p:nvPr/>
        </p:nvSpPr>
        <p:spPr>
          <a:xfrm>
            <a:off x="960120" y="4709160"/>
            <a:ext cx="10241280" cy="10058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00">
                <a:solidFill>
                  <a:srgbClr val="CADCF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az storage blob generate-sas --account-name $STORAGE --container-name posters `</a:t>
            </a:r>
            <a:endParaRPr sz="1100">
              <a:solidFill>
                <a:srgbClr val="CADCF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  <a:p>
            <a:pPr marL="0" indent="0">
              <a:buNone/>
            </a:pPr>
            <a:r>
              <a:rPr sz="1100">
                <a:solidFill>
                  <a:srgbClr val="CADCF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  --name hello.txt --permissions r --expiry &lt;UTC datetime&gt; `</a:t>
            </a:r>
            <a:endParaRPr sz="1100">
              <a:solidFill>
                <a:srgbClr val="CADCF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  <a:p>
            <a:pPr marL="0" indent="0">
              <a:buNone/>
            </a:pPr>
            <a:r>
              <a:rPr sz="1100">
                <a:solidFill>
                  <a:srgbClr val="CADCF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  --https-only --auth-mode login --as-user --output tsv</a:t>
            </a:r>
            <a:endParaRPr sz="1100">
              <a:solidFill>
                <a:srgbClr val="CADCF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19" name="Text 17"/>
          <p:cNvSpPr>
            <a:spLocks noGrp="1"/>
          </p:cNvSpPr>
          <p:nvPr/>
        </p:nvSpPr>
        <p:spPr>
          <a:xfrm>
            <a:off x="731520" y="64465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9AA3C7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Finish live: regenerate with a 2-minute expiry and watch the URL die in front of the class</a:t>
            </a:r>
            <a:endParaRPr sz="1000">
              <a:solidFill>
                <a:srgbClr val="9AA3C7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20" name="Text 18"/>
          <p:cNvSpPr>
            <a:spLocks noGrp="1"/>
          </p:cNvSpPr>
          <p:nvPr/>
        </p:nvSpPr>
        <p:spPr>
          <a:xfrm>
            <a:off x="7772400" y="644652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000">
                <a:solidFill>
                  <a:srgbClr val="9AA3C7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Module 2 — Azure Storage Solutions</a:t>
            </a:r>
            <a:endParaRPr sz="10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>
            <a:spLocks noGrp="1"/>
          </p:cNvSpPr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1300" b="1" i="0" spc="200">
                <a:solidFill>
                  <a:srgbClr val="F2A93B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TOPIC 2  ·  BLOB STORAGE</a:t>
            </a:r>
            <a:endParaRPr sz="1300" b="1" i="0" spc="200">
              <a:solidFill>
                <a:srgbClr val="F2A93B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3" name="TextBox 2"/>
          <p:cNvSpPr>
            <a:spLocks noGrp="1"/>
          </p:cNvSpPr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3000" b="1" i="0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The poster round-trip — the app stores a name, not a URL</a:t>
            </a:r>
            <a:endParaRPr sz="3000" b="1" i="0">
              <a:solidFill>
                <a:srgbClr val="1E2761"/>
              </a:solidFill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  <p:sp>
        <p:nvSpPr>
          <p:cNvPr id="4" name="TextBox 3"/>
          <p:cNvSpPr>
            <a:spLocks noGrp="1"/>
          </p:cNvSpPr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buNone/>
            </a:pPr>
            <a:r>
              <a:rPr sz="1000" b="0" i="0">
                <a:solidFill>
                  <a:srgbClr val="5C61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Module 2 — Azure Storage Solutions</a:t>
            </a:r>
            <a:endParaRPr sz="1000" b="0" i="0">
              <a:solidFill>
                <a:srgbClr val="5C6180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5" name="Rounded Rectangle 4"/>
          <p:cNvSpPr>
            <a:spLocks noGrp="1"/>
          </p:cNvSpPr>
          <p:nvPr/>
        </p:nvSpPr>
        <p:spPr>
          <a:xfrm>
            <a:off x="685800" y="2103120"/>
            <a:ext cx="2606040" cy="1051560"/>
          </a:xfrm>
          <a:prstGeom prst="roundRect">
            <a:avLst>
              <a:gd name="adj" fmla="val 9000"/>
            </a:avLst>
          </a:prstGeom>
          <a:solidFill>
            <a:srgbClr val="EEF3FD"/>
          </a:solidFill>
          <a:ln w="1270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6" name="TextBox 5"/>
          <p:cNvSpPr>
            <a:spLocks noGrp="1"/>
          </p:cNvSpPr>
          <p:nvPr/>
        </p:nvSpPr>
        <p:spPr>
          <a:xfrm>
            <a:off x="822960" y="2267712"/>
            <a:ext cx="23317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1300" b="1" i="0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Browser</a:t>
            </a:r>
            <a:endParaRPr sz="1300" b="1" i="0">
              <a:solidFill>
                <a:srgbClr val="1E276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7" name="TextBox 6"/>
          <p:cNvSpPr>
            <a:spLocks noGrp="1"/>
          </p:cNvSpPr>
          <p:nvPr/>
        </p:nvSpPr>
        <p:spPr>
          <a:xfrm>
            <a:off x="822960" y="2670048"/>
            <a:ext cx="23317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1000" b="0" i="0">
                <a:solidFill>
                  <a:srgbClr val="5C61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uploads a poster</a:t>
            </a:r>
            <a:endParaRPr sz="1000" b="0" i="0">
              <a:solidFill>
                <a:srgbClr val="5C6180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8" name="Rounded Rectangle 7"/>
          <p:cNvSpPr>
            <a:spLocks noGrp="1"/>
          </p:cNvSpPr>
          <p:nvPr/>
        </p:nvSpPr>
        <p:spPr>
          <a:xfrm>
            <a:off x="4791456" y="2103120"/>
            <a:ext cx="2606040" cy="1051560"/>
          </a:xfrm>
          <a:prstGeom prst="roundRect">
            <a:avLst>
              <a:gd name="adj" fmla="val 9000"/>
            </a:avLst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9" name="TextBox 8"/>
          <p:cNvSpPr>
            <a:spLocks noGrp="1"/>
          </p:cNvSpPr>
          <p:nvPr/>
        </p:nvSpPr>
        <p:spPr>
          <a:xfrm>
            <a:off x="4928616" y="2267712"/>
            <a:ext cx="23317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1300" b="1" i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catalog-api</a:t>
            </a:r>
            <a:endParaRPr sz="1300" b="1" i="0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0" name="TextBox 9"/>
          <p:cNvSpPr>
            <a:spLocks noGrp="1"/>
          </p:cNvSpPr>
          <p:nvPr/>
        </p:nvSpPr>
        <p:spPr>
          <a:xfrm>
            <a:off x="4928616" y="2670048"/>
            <a:ext cx="23317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1000" b="0" i="0">
                <a:solidFill>
                  <a:srgbClr val="CADCFC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POST /titles/{id}/poster</a:t>
            </a:r>
            <a:endParaRPr sz="1000" b="0" i="0">
              <a:solidFill>
                <a:srgbClr val="CADCFC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1" name="Rounded Rectangle 10"/>
          <p:cNvSpPr>
            <a:spLocks noGrp="1"/>
          </p:cNvSpPr>
          <p:nvPr/>
        </p:nvSpPr>
        <p:spPr>
          <a:xfrm>
            <a:off x="8897112" y="2103120"/>
            <a:ext cx="2606040" cy="1051560"/>
          </a:xfrm>
          <a:prstGeom prst="roundRect">
            <a:avLst>
              <a:gd name="adj" fmla="val 9000"/>
            </a:avLst>
          </a:prstGeom>
          <a:solidFill>
            <a:srgbClr val="EEF3FD"/>
          </a:solidFill>
          <a:ln w="1270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12" name="TextBox 11"/>
          <p:cNvSpPr>
            <a:spLocks noGrp="1"/>
          </p:cNvSpPr>
          <p:nvPr/>
        </p:nvSpPr>
        <p:spPr>
          <a:xfrm>
            <a:off x="9034272" y="2267712"/>
            <a:ext cx="23317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1300" b="1" i="0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posters container</a:t>
            </a:r>
            <a:endParaRPr sz="1300" b="1" i="0">
              <a:solidFill>
                <a:srgbClr val="1E276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3" name="TextBox 12"/>
          <p:cNvSpPr>
            <a:spLocks noGrp="1"/>
          </p:cNvSpPr>
          <p:nvPr/>
        </p:nvSpPr>
        <p:spPr>
          <a:xfrm>
            <a:off x="9034272" y="2670048"/>
            <a:ext cx="23317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1000" b="0" i="0">
                <a:solidFill>
                  <a:srgbClr val="5C61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the file lands here</a:t>
            </a:r>
            <a:endParaRPr sz="1000" b="0" i="0">
              <a:solidFill>
                <a:srgbClr val="5C6180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4" name="Right Arrow 13"/>
          <p:cNvSpPr>
            <a:spLocks noGrp="1"/>
          </p:cNvSpPr>
          <p:nvPr/>
        </p:nvSpPr>
        <p:spPr>
          <a:xfrm>
            <a:off x="3429000" y="2546604"/>
            <a:ext cx="1234440" cy="164592"/>
          </a:xfrm>
          <a:prstGeom prst="rightArrow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5" name="Right Arrow 14"/>
          <p:cNvSpPr>
            <a:spLocks noGrp="1"/>
          </p:cNvSpPr>
          <p:nvPr/>
        </p:nvSpPr>
        <p:spPr>
          <a:xfrm>
            <a:off x="7534656" y="2546604"/>
            <a:ext cx="1234440" cy="164592"/>
          </a:xfrm>
          <a:prstGeom prst="rightArrow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6" name="TextBox 15"/>
          <p:cNvSpPr>
            <a:spLocks noGrp="1"/>
          </p:cNvSpPr>
          <p:nvPr/>
        </p:nvSpPr>
        <p:spPr>
          <a:xfrm>
            <a:off x="3337560" y="1810512"/>
            <a:ext cx="141732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1100" b="1" i="0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1</a:t>
            </a:r>
            <a:endParaRPr sz="1100" b="1" i="0">
              <a:solidFill>
                <a:srgbClr val="1E276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7" name="TextBox 16"/>
          <p:cNvSpPr>
            <a:spLocks noGrp="1"/>
          </p:cNvSpPr>
          <p:nvPr/>
        </p:nvSpPr>
        <p:spPr>
          <a:xfrm>
            <a:off x="7443216" y="1810512"/>
            <a:ext cx="141732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1100" b="1" i="0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2</a:t>
            </a:r>
            <a:endParaRPr sz="1100" b="1" i="0">
              <a:solidFill>
                <a:srgbClr val="1E276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8" name="Right Arrow 17"/>
          <p:cNvSpPr>
            <a:spLocks noGrp="1"/>
          </p:cNvSpPr>
          <p:nvPr/>
        </p:nvSpPr>
        <p:spPr>
          <a:xfrm>
            <a:off x="6007608" y="3218688"/>
            <a:ext cx="164592" cy="475488"/>
          </a:xfrm>
          <a:prstGeom prst="rightArrow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9" name="Rounded Rectangle 18"/>
          <p:cNvSpPr>
            <a:spLocks noGrp="1"/>
          </p:cNvSpPr>
          <p:nvPr/>
        </p:nvSpPr>
        <p:spPr>
          <a:xfrm>
            <a:off x="4206240" y="3785616"/>
            <a:ext cx="3776472" cy="731520"/>
          </a:xfrm>
          <a:prstGeom prst="roundRect">
            <a:avLst>
              <a:gd name="adj" fmla="val 13000"/>
            </a:avLst>
          </a:prstGeom>
          <a:solidFill>
            <a:srgbClr val="EEF3FD"/>
          </a:solidFill>
          <a:ln w="1270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20" name="TextBox 19"/>
          <p:cNvSpPr>
            <a:spLocks noGrp="1"/>
          </p:cNvSpPr>
          <p:nvPr/>
        </p:nvSpPr>
        <p:spPr>
          <a:xfrm>
            <a:off x="4343400" y="3785616"/>
            <a:ext cx="3502152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1150" b="1" i="0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the Cosmos item keeps  "tt-1-poster.jpg"</a:t>
            </a:r>
            <a:endParaRPr sz="1150" b="1" i="0">
              <a:solidFill>
                <a:srgbClr val="1E276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21" name="TextBox 20"/>
          <p:cNvSpPr>
            <a:spLocks noGrp="1"/>
          </p:cNvSpPr>
          <p:nvPr/>
        </p:nvSpPr>
        <p:spPr>
          <a:xfrm>
            <a:off x="1920240" y="3291840"/>
            <a:ext cx="39319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buNone/>
            </a:pPr>
            <a:r>
              <a:rPr sz="1000" b="0" i="0">
                <a:solidFill>
                  <a:srgbClr val="5C61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3   the name, not a URL</a:t>
            </a:r>
            <a:endParaRPr sz="1000" b="0" i="0">
              <a:solidFill>
                <a:srgbClr val="5C6180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22" name="Rounded Rectangle 21"/>
          <p:cNvSpPr>
            <a:spLocks noGrp="1"/>
          </p:cNvSpPr>
          <p:nvPr/>
        </p:nvSpPr>
        <p:spPr>
          <a:xfrm>
            <a:off x="685800" y="4736592"/>
            <a:ext cx="10817352" cy="566928"/>
          </a:xfrm>
          <a:prstGeom prst="roundRect">
            <a:avLst>
              <a:gd name="adj" fmla="val 14000"/>
            </a:avLst>
          </a:prstGeom>
          <a:solidFill>
            <a:srgbClr val="F6F7FB"/>
          </a:solidFill>
          <a:ln w="15875"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23" name="TextBox 22"/>
          <p:cNvSpPr>
            <a:spLocks noGrp="1"/>
          </p:cNvSpPr>
          <p:nvPr/>
        </p:nvSpPr>
        <p:spPr>
          <a:xfrm>
            <a:off x="868680" y="4736592"/>
            <a:ext cx="10451592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1200" b="1" i="0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READ:  every GET /titles mints a brand-new, short-lived SAS URL for posterUrl — refresh the page and the token is different</a:t>
            </a:r>
            <a:endParaRPr sz="1200" b="1" i="0">
              <a:solidFill>
                <a:srgbClr val="1E276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24" name="Rounded Rectangle 23"/>
          <p:cNvSpPr>
            <a:spLocks noGrp="1"/>
          </p:cNvSpPr>
          <p:nvPr/>
        </p:nvSpPr>
        <p:spPr>
          <a:xfrm>
            <a:off x="548640" y="5394960"/>
            <a:ext cx="11091672" cy="621792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25" name="TextBox 24"/>
          <p:cNvSpPr>
            <a:spLocks noGrp="1"/>
          </p:cNvSpPr>
          <p:nvPr/>
        </p:nvSpPr>
        <p:spPr>
          <a:xfrm>
            <a:off x="822960" y="5394960"/>
            <a:ext cx="10543032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1300" b="1" i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 stored URL would expire. A stored name never does.</a:t>
            </a:r>
            <a:endParaRPr sz="1300" b="1" i="0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A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>
            <a:spLocks noGrp="1"/>
          </p:cNvSpPr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1300" b="1" i="0" spc="200">
                <a:solidFill>
                  <a:srgbClr val="F2A93B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TOPIC 2  ·  LIVE DEMO</a:t>
            </a:r>
            <a:endParaRPr sz="1300" b="1" i="0" spc="200">
              <a:solidFill>
                <a:srgbClr val="F2A93B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3" name="TextBox 2"/>
          <p:cNvSpPr>
            <a:spLocks noGrp="1"/>
          </p:cNvSpPr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3000" b="1" i="0">
                <a:solidFill>
                  <a:srgbClr val="FFFFFF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Poster uploads in the Catalog API</a:t>
            </a:r>
            <a:endParaRPr sz="3000" b="1" i="0">
              <a:solidFill>
                <a:srgbClr val="FFFFFF"/>
              </a:solidFill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  <p:sp>
        <p:nvSpPr>
          <p:cNvPr id="4" name="TextBox 3"/>
          <p:cNvSpPr>
            <a:spLocks noGrp="1"/>
          </p:cNvSpPr>
          <p:nvPr/>
        </p:nvSpPr>
        <p:spPr>
          <a:xfrm>
            <a:off x="548640" y="1417320"/>
            <a:ext cx="109728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1400" b="0" i="0">
                <a:solidFill>
                  <a:srgbClr val="CADCFC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catalog-api-v4 adds POST /titles/{id}/poster — a second, separate release.</a:t>
            </a:r>
            <a:endParaRPr sz="1400" b="0" i="0">
              <a:solidFill>
                <a:srgbClr val="CADCFC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5" name="TextBox 4"/>
          <p:cNvSpPr>
            <a:spLocks noGrp="1"/>
          </p:cNvSpPr>
          <p:nvPr/>
        </p:nvSpPr>
        <p:spPr>
          <a:xfrm>
            <a:off x="777240" y="1993392"/>
            <a:ext cx="10607040" cy="3675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buNone/>
            </a:pPr>
            <a:r>
              <a:rPr sz="1000" b="0" i="0">
                <a:solidFill>
                  <a:srgbClr val="D7E3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# From the catalog-api-v4 folder.</a:t>
            </a:r>
            <a:endParaRPr sz="1000" b="0" i="0">
              <a:solidFill>
                <a:srgbClr val="D7E3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6000"/>
              </a:lnSpc>
              <a:buNone/>
            </a:pPr>
            <a:r>
              <a:rPr sz="1000" b="0" i="0">
                <a:solidFill>
                  <a:srgbClr val="D7E3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docker build -t "${ACR}.azurecr.io/catalog-api:v4" .</a:t>
            </a:r>
            <a:endParaRPr sz="1000" b="0" i="0">
              <a:solidFill>
                <a:srgbClr val="D7E3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6000"/>
              </a:lnSpc>
              <a:buNone/>
            </a:pPr>
            <a:r>
              <a:rPr sz="1000" b="0" i="0">
                <a:solidFill>
                  <a:srgbClr val="D7E3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docker push  "${ACR}.azurecr.io/catalog-api:v4"</a:t>
            </a:r>
            <a:endParaRPr sz="1000" b="0" i="0">
              <a:solidFill>
                <a:srgbClr val="D7E3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6000"/>
              </a:lnSpc>
              <a:buNone/>
            </a:pPr>
          </a:p>
          <a:p>
            <a:pPr algn="l">
              <a:lnSpc>
                <a:spcPct val="106000"/>
              </a:lnSpc>
              <a:buNone/>
            </a:pPr>
            <a:r>
              <a:rPr sz="1000" b="0" i="0">
                <a:solidFill>
                  <a:srgbClr val="D7E3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az containerapp update --name $APP --resource-group $RG `</a:t>
            </a:r>
            <a:endParaRPr sz="1000" b="0" i="0">
              <a:solidFill>
                <a:srgbClr val="D7E3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6000"/>
              </a:lnSpc>
              <a:buNone/>
            </a:pPr>
            <a:r>
              <a:rPr sz="1000" b="0" i="0">
                <a:solidFill>
                  <a:srgbClr val="D7E3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--image "${ACR}.azurecr.io/catalog-api:v4" `</a:t>
            </a:r>
            <a:endParaRPr sz="1000" b="0" i="0">
              <a:solidFill>
                <a:srgbClr val="D7E3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6000"/>
              </a:lnSpc>
              <a:buNone/>
            </a:pPr>
            <a:r>
              <a:rPr sz="1000" b="0" i="0">
                <a:solidFill>
                  <a:srgbClr val="D7E3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--set-env-vars "CosmosDb__ConnectionString=&lt;...&gt;" `</a:t>
            </a:r>
            <a:endParaRPr sz="1000" b="0" i="0">
              <a:solidFill>
                <a:srgbClr val="D7E3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6000"/>
              </a:lnSpc>
              <a:buNone/>
            </a:pPr>
            <a:r>
              <a:rPr sz="1000" b="0" i="0">
                <a:solidFill>
                  <a:srgbClr val="D7E3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             "CosmosDb__DatabaseName=CatalogDb" "CosmosDb__ContainerName=Titles" `</a:t>
            </a:r>
            <a:endParaRPr sz="1000" b="0" i="0">
              <a:solidFill>
                <a:srgbClr val="D7E3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6000"/>
              </a:lnSpc>
              <a:buNone/>
            </a:pPr>
            <a:r>
              <a:rPr sz="1000" b="0" i="0">
                <a:solidFill>
                  <a:srgbClr val="D7E3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             "BlobStorage__ConnectionString=&lt;storage connection string&gt;" `</a:t>
            </a:r>
            <a:endParaRPr sz="1000" b="0" i="0">
              <a:solidFill>
                <a:srgbClr val="D7E3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6000"/>
              </a:lnSpc>
              <a:buNone/>
            </a:pPr>
            <a:r>
              <a:rPr sz="1000" b="0" i="0">
                <a:solidFill>
                  <a:srgbClr val="D7E3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             "BlobStorage__ContainerName=posters"</a:t>
            </a:r>
            <a:endParaRPr sz="1000" b="0" i="0">
              <a:solidFill>
                <a:srgbClr val="D7E3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6000"/>
              </a:lnSpc>
              <a:buNone/>
            </a:pPr>
          </a:p>
          <a:p>
            <a:pPr algn="l">
              <a:lnSpc>
                <a:spcPct val="106000"/>
              </a:lnSpc>
              <a:buNone/>
            </a:pPr>
            <a:r>
              <a:rPr sz="1000" b="0" i="0">
                <a:solidFill>
                  <a:srgbClr val="D7E3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az containerapp ingress traffic set --name $APP -g $RG `</a:t>
            </a:r>
            <a:endParaRPr sz="1000" b="0" i="0">
              <a:solidFill>
                <a:srgbClr val="D7E3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6000"/>
              </a:lnSpc>
              <a:buNone/>
            </a:pPr>
            <a:r>
              <a:rPr sz="1000" b="0" i="0">
                <a:solidFill>
                  <a:srgbClr val="D7E3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--revision-weight &lt;new-revision&gt;=100</a:t>
            </a:r>
            <a:endParaRPr sz="1000" b="0" i="0">
              <a:solidFill>
                <a:srgbClr val="D7E3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6000"/>
              </a:lnSpc>
              <a:buNone/>
            </a:pPr>
          </a:p>
          <a:p>
            <a:pPr algn="l">
              <a:lnSpc>
                <a:spcPct val="106000"/>
              </a:lnSpc>
              <a:buNone/>
            </a:pPr>
            <a:r>
              <a:rPr sz="1000" b="0" i="0">
                <a:solidFill>
                  <a:srgbClr val="D7E3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# End-to-end: in the deployed UI, create a title WITH a poster, then refresh.</a:t>
            </a:r>
            <a:endParaRPr sz="1000" b="0" i="0">
              <a:solidFill>
                <a:srgbClr val="D7E3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6" name="TextBox 5"/>
          <p:cNvSpPr>
            <a:spLocks noGrp="1"/>
          </p:cNvSpPr>
          <p:nvPr/>
        </p:nvSpPr>
        <p:spPr>
          <a:xfrm>
            <a:off x="548640" y="5742432"/>
            <a:ext cx="1106424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1150" b="0" i="1">
                <a:solidFill>
                  <a:srgbClr val="F2A93B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This is the module's definition of done — Cosmos DB and Blob Storage exercised together through the browser, not each verified in isolation.</a:t>
            </a:r>
            <a:endParaRPr sz="1150" b="0" i="1">
              <a:solidFill>
                <a:srgbClr val="F2A93B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7" name="TextBox 6"/>
          <p:cNvSpPr>
            <a:spLocks noGrp="1"/>
          </p:cNvSpPr>
          <p:nvPr/>
        </p:nvSpPr>
        <p:spPr>
          <a:xfrm>
            <a:off x="457200" y="6473952"/>
            <a:ext cx="69494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1000" b="0" i="0">
                <a:solidFill>
                  <a:srgbClr val="9AA3C7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Resource names are examples — choose your own. $COSMOS and $STORAGE must be globally unique across Azure.</a:t>
            </a:r>
            <a:endParaRPr sz="1000" b="0" i="0">
              <a:solidFill>
                <a:srgbClr val="9AA3C7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8" name="TextBox 7"/>
          <p:cNvSpPr>
            <a:spLocks noGrp="1"/>
          </p:cNvSpPr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buNone/>
            </a:pPr>
            <a:r>
              <a:rPr sz="1000" b="0" i="0">
                <a:solidFill>
                  <a:srgbClr val="9AA3C7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Module 2 — Azure Storage Solutions</a:t>
            </a:r>
            <a:endParaRPr sz="1000" b="0" i="0">
              <a:solidFill>
                <a:srgbClr val="9AA3C7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731520" y="45720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00" b="1" spc="200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WRAP-UP</a:t>
            </a:r>
            <a:endParaRPr sz="13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731520" y="822960"/>
            <a:ext cx="914400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8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Module 2 — key takeaways</a:t>
            </a:r>
            <a:endParaRPr sz="2800"/>
          </a:p>
        </p:txBody>
      </p:sp>
      <p:sp>
        <p:nvSpPr>
          <p:cNvPr id="4" name="Shape 2"/>
          <p:cNvSpPr>
            <a:spLocks noGrp="1"/>
          </p:cNvSpPr>
          <p:nvPr/>
        </p:nvSpPr>
        <p:spPr>
          <a:xfrm>
            <a:off x="731520" y="1783080"/>
            <a:ext cx="10698480" cy="1234440"/>
          </a:xfrm>
          <a:prstGeom prst="roundRect">
            <a:avLst>
              <a:gd name="adj" fmla="val 5926"/>
            </a:avLst>
          </a:prstGeom>
          <a:solidFill>
            <a:srgbClr val="EEF3FD"/>
          </a:solidFill>
        </p:spPr>
      </p:sp>
      <p:sp>
        <p:nvSpPr>
          <p:cNvPr id="5" name="Shape 3"/>
          <p:cNvSpPr>
            <a:spLocks noGrp="1"/>
          </p:cNvSpPr>
          <p:nvPr/>
        </p:nvSpPr>
        <p:spPr>
          <a:xfrm>
            <a:off x="1005840" y="2185416"/>
            <a:ext cx="420624" cy="420624"/>
          </a:xfrm>
          <a:prstGeom prst="ellipse">
            <a:avLst/>
          </a:prstGeom>
          <a:solidFill>
            <a:srgbClr val="F2A93B"/>
          </a:solidFill>
        </p:spPr>
      </p:sp>
      <p:sp>
        <p:nvSpPr>
          <p:cNvPr id="6" name="Text 4"/>
          <p:cNvSpPr>
            <a:spLocks noGrp="1"/>
          </p:cNvSpPr>
          <p:nvPr/>
        </p:nvSpPr>
        <p:spPr>
          <a:xfrm>
            <a:off x="1005840" y="2185416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1</a:t>
            </a:r>
            <a:endParaRPr sz="1400"/>
          </a:p>
        </p:txBody>
      </p:sp>
      <p:sp>
        <p:nvSpPr>
          <p:cNvPr id="7" name="Text 5"/>
          <p:cNvSpPr>
            <a:spLocks noGrp="1"/>
          </p:cNvSpPr>
          <p:nvPr/>
        </p:nvSpPr>
        <p:spPr>
          <a:xfrm>
            <a:off x="1691640" y="1920240"/>
            <a:ext cx="886968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60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Cosmos DB</a:t>
            </a:r>
            <a:endParaRPr sz="1600"/>
          </a:p>
        </p:txBody>
      </p:sp>
      <p:sp>
        <p:nvSpPr>
          <p:cNvPr id="8" name="Text 6"/>
          <p:cNvSpPr>
            <a:spLocks noGrp="1"/>
          </p:cNvSpPr>
          <p:nvPr/>
        </p:nvSpPr>
        <p:spPr>
          <a:xfrm>
            <a:off x="1691640" y="2313432"/>
            <a:ext cx="9509760" cy="5943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50">
                <a:solidFill>
                  <a:srgbClr val="5C61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 globally distributed NoSQL database. Partition key and RU/s are design decisions made once — and ours is deliberately imperfect.</a:t>
            </a:r>
            <a:endParaRPr sz="1250">
              <a:solidFill>
                <a:srgbClr val="5C6180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9" name="Shape 7"/>
          <p:cNvSpPr>
            <a:spLocks noGrp="1"/>
          </p:cNvSpPr>
          <p:nvPr/>
        </p:nvSpPr>
        <p:spPr>
          <a:xfrm>
            <a:off x="731520" y="3200400"/>
            <a:ext cx="10698480" cy="1234440"/>
          </a:xfrm>
          <a:prstGeom prst="roundRect">
            <a:avLst>
              <a:gd name="adj" fmla="val 5926"/>
            </a:avLst>
          </a:prstGeom>
          <a:solidFill>
            <a:srgbClr val="EEF3FD"/>
          </a:solidFill>
        </p:spPr>
      </p:sp>
      <p:sp>
        <p:nvSpPr>
          <p:cNvPr id="10" name="Shape 8"/>
          <p:cNvSpPr>
            <a:spLocks noGrp="1"/>
          </p:cNvSpPr>
          <p:nvPr/>
        </p:nvSpPr>
        <p:spPr>
          <a:xfrm>
            <a:off x="1005840" y="3602736"/>
            <a:ext cx="420624" cy="420624"/>
          </a:xfrm>
          <a:prstGeom prst="ellipse">
            <a:avLst/>
          </a:prstGeom>
          <a:solidFill>
            <a:srgbClr val="F2A93B"/>
          </a:solidFill>
        </p:spPr>
      </p:sp>
      <p:sp>
        <p:nvSpPr>
          <p:cNvPr id="11" name="Text 9"/>
          <p:cNvSpPr>
            <a:spLocks noGrp="1"/>
          </p:cNvSpPr>
          <p:nvPr/>
        </p:nvSpPr>
        <p:spPr>
          <a:xfrm>
            <a:off x="1005840" y="3602736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2</a:t>
            </a:r>
            <a:endParaRPr sz="1400"/>
          </a:p>
        </p:txBody>
      </p:sp>
      <p:sp>
        <p:nvSpPr>
          <p:cNvPr id="12" name="Text 10"/>
          <p:cNvSpPr>
            <a:spLocks noGrp="1"/>
          </p:cNvSpPr>
          <p:nvPr/>
        </p:nvSpPr>
        <p:spPr>
          <a:xfrm>
            <a:off x="1691640" y="3337560"/>
            <a:ext cx="886968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60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Blob Storage</a:t>
            </a:r>
            <a:endParaRPr sz="1600"/>
          </a:p>
        </p:txBody>
      </p:sp>
      <p:sp>
        <p:nvSpPr>
          <p:cNvPr id="13" name="Text 11"/>
          <p:cNvSpPr>
            <a:spLocks noGrp="1"/>
          </p:cNvSpPr>
          <p:nvPr/>
        </p:nvSpPr>
        <p:spPr>
          <a:xfrm>
            <a:off x="1691640" y="3730752"/>
            <a:ext cx="9509760" cy="5943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50">
                <a:solidFill>
                  <a:srgbClr val="5C61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Object storage for files. Private by default. The app stores a blob name and mints a fresh SAS URL on every read.</a:t>
            </a:r>
            <a:endParaRPr sz="1250">
              <a:solidFill>
                <a:srgbClr val="5C6180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4" name="Shape 12"/>
          <p:cNvSpPr>
            <a:spLocks noGrp="1"/>
          </p:cNvSpPr>
          <p:nvPr/>
        </p:nvSpPr>
        <p:spPr>
          <a:xfrm>
            <a:off x="731520" y="4617720"/>
            <a:ext cx="10698480" cy="1234440"/>
          </a:xfrm>
          <a:prstGeom prst="roundRect">
            <a:avLst>
              <a:gd name="adj" fmla="val 5926"/>
            </a:avLst>
          </a:prstGeom>
          <a:solidFill>
            <a:srgbClr val="EEF3FD"/>
          </a:solidFill>
        </p:spPr>
      </p:sp>
      <p:sp>
        <p:nvSpPr>
          <p:cNvPr id="15" name="Shape 13"/>
          <p:cNvSpPr>
            <a:spLocks noGrp="1"/>
          </p:cNvSpPr>
          <p:nvPr/>
        </p:nvSpPr>
        <p:spPr>
          <a:xfrm>
            <a:off x="1005840" y="5020056"/>
            <a:ext cx="420624" cy="420624"/>
          </a:xfrm>
          <a:prstGeom prst="ellipse">
            <a:avLst/>
          </a:prstGeom>
          <a:solidFill>
            <a:srgbClr val="F2A93B"/>
          </a:solidFill>
        </p:spPr>
      </p:sp>
      <p:sp>
        <p:nvSpPr>
          <p:cNvPr id="16" name="Text 14"/>
          <p:cNvSpPr>
            <a:spLocks noGrp="1"/>
          </p:cNvSpPr>
          <p:nvPr/>
        </p:nvSpPr>
        <p:spPr>
          <a:xfrm>
            <a:off x="1005840" y="5020056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3</a:t>
            </a:r>
            <a:endParaRPr sz="1400"/>
          </a:p>
        </p:txBody>
      </p:sp>
      <p:sp>
        <p:nvSpPr>
          <p:cNvPr id="17" name="Text 15"/>
          <p:cNvSpPr>
            <a:spLocks noGrp="1"/>
          </p:cNvSpPr>
          <p:nvPr/>
        </p:nvSpPr>
        <p:spPr>
          <a:xfrm>
            <a:off x="1691640" y="4754880"/>
            <a:ext cx="886968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60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Security preview</a:t>
            </a:r>
            <a:endParaRPr sz="1600"/>
          </a:p>
        </p:txBody>
      </p:sp>
      <p:sp>
        <p:nvSpPr>
          <p:cNvPr id="18" name="Text 16"/>
          <p:cNvSpPr>
            <a:spLocks noGrp="1"/>
          </p:cNvSpPr>
          <p:nvPr/>
        </p:nvSpPr>
        <p:spPr>
          <a:xfrm>
            <a:off x="1691640" y="5148072"/>
            <a:ext cx="9509760" cy="5943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50">
                <a:solidFill>
                  <a:srgbClr val="5C61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The Cosmos master key in our config, and the data-plane role we had to grant ourselves, are both fixed in Module 3.</a:t>
            </a:r>
            <a:endParaRPr sz="1250">
              <a:solidFill>
                <a:srgbClr val="5C6180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9" name="Text 17"/>
          <p:cNvSpPr>
            <a:spLocks noGrp="1"/>
          </p:cNvSpPr>
          <p:nvPr/>
        </p:nvSpPr>
        <p:spPr>
          <a:xfrm>
            <a:off x="731520" y="64465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5C61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Keep the resource group — Modules 3 to 6 all build on it</a:t>
            </a:r>
            <a:endParaRPr sz="1000">
              <a:solidFill>
                <a:srgbClr val="5C6180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20" name="Text 18"/>
          <p:cNvSpPr>
            <a:spLocks noGrp="1"/>
          </p:cNvSpPr>
          <p:nvPr/>
        </p:nvSpPr>
        <p:spPr>
          <a:xfrm>
            <a:off x="7772400" y="644652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000">
                <a:solidFill>
                  <a:srgbClr val="5C61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Module 2 — Azure Storage Solutions</a:t>
            </a:r>
            <a:endParaRPr sz="10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>
            <a:spLocks noGrp="1"/>
          </p:cNvSpPr>
          <p:nvPr/>
        </p:nvSpPr>
        <p:spPr>
          <a:xfrm>
            <a:off x="-2286000" y="3931920"/>
            <a:ext cx="5486400" cy="5486400"/>
          </a:xfrm>
          <a:prstGeom prst="ellipse">
            <a:avLst/>
          </a:prstGeom>
          <a:solidFill>
            <a:srgbClr val="141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3" name="Oval 2"/>
          <p:cNvSpPr>
            <a:spLocks noGrp="1"/>
          </p:cNvSpPr>
          <p:nvPr/>
        </p:nvSpPr>
        <p:spPr>
          <a:xfrm>
            <a:off x="731520" y="2331720"/>
            <a:ext cx="822960" cy="822960"/>
          </a:xfrm>
          <a:prstGeom prst="ellipse">
            <a:avLst/>
          </a:prstGeom>
          <a:solidFill>
            <a:srgbClr val="F2A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4" name="TextBox 3"/>
          <p:cNvSpPr>
            <a:spLocks noGrp="1"/>
          </p:cNvSpPr>
          <p:nvPr/>
        </p:nvSpPr>
        <p:spPr>
          <a:xfrm>
            <a:off x="731520" y="2331720"/>
            <a:ext cx="82296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1800" b="1" i="0">
                <a:solidFill>
                  <a:srgbClr val="141A47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→</a:t>
            </a:r>
            <a:endParaRPr sz="1800" b="1" i="0">
              <a:solidFill>
                <a:srgbClr val="141A47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5" name="TextBox 4"/>
          <p:cNvSpPr>
            <a:spLocks noGrp="1"/>
          </p:cNvSpPr>
          <p:nvPr/>
        </p:nvSpPr>
        <p:spPr>
          <a:xfrm>
            <a:off x="731520" y="3291840"/>
            <a:ext cx="10058400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3600" b="1" i="0">
                <a:solidFill>
                  <a:srgbClr val="FFFFFF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Next: Module 3 — Azure Security</a:t>
            </a:r>
            <a:endParaRPr sz="3600" b="1" i="0">
              <a:solidFill>
                <a:srgbClr val="FFFFFF"/>
              </a:solidFill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  <p:sp>
        <p:nvSpPr>
          <p:cNvPr id="6" name="TextBox 5"/>
          <p:cNvSpPr>
            <a:spLocks noGrp="1"/>
          </p:cNvSpPr>
          <p:nvPr/>
        </p:nvSpPr>
        <p:spPr>
          <a:xfrm>
            <a:off x="731520" y="4160520"/>
            <a:ext cx="96012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1600" b="0" i="0">
                <a:solidFill>
                  <a:srgbClr val="CADCFC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Managed Identity, Key Vault and RBAC — removing the two connection strings we just pasted in.</a:t>
            </a:r>
            <a:endParaRPr sz="1600" b="0" i="0">
              <a:solidFill>
                <a:srgbClr val="CADCFC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11673</Words>
  <Application>WPS Presentation</Application>
  <PresentationFormat>Converted Presentation</PresentationFormat>
  <Paragraphs>527</Paragraphs>
  <Slides>20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31" baseType="lpstr">
      <vt:lpstr>Arial</vt:lpstr>
      <vt:lpstr>SimSun</vt:lpstr>
      <vt:lpstr>Wingdings</vt:lpstr>
      <vt:lpstr>Arial</vt:lpstr>
      <vt:lpstr>Calibri</vt:lpstr>
      <vt:lpstr>Cambria</vt:lpstr>
      <vt:lpstr>Consolas</vt:lpstr>
      <vt:lpstr>Courier New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Guilherme</cp:lastModifiedBy>
  <cp:revision>1</cp:revision>
  <dcterms:created xsi:type="dcterms:W3CDTF">2026-08-31T17:24:03Z</dcterms:created>
  <dcterms:modified xsi:type="dcterms:W3CDTF">2026-08-31T17:24:03Z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7D4B56BC98DF43DB81D414EE02E03753_12</vt:lpwstr>
  </property>
  <property fmtid="{D5CDD505-2E9C-101B-9397-08002B2CF9AE}" pid="3" name="KSOProductBuildVer">
    <vt:lpwstr>1033-12.1.0.28485</vt:lpwstr>
  </property>
</Properties>
</file>